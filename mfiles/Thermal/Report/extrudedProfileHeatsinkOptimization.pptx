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8"/>
  </p:notesMasterIdLst>
  <p:handoutMasterIdLst>
    <p:handoutMasterId r:id="rId19"/>
  </p:handoutMasterIdLst>
  <p:sldIdLst>
    <p:sldId id="419" r:id="rId2"/>
    <p:sldId id="423" r:id="rId3"/>
    <p:sldId id="431" r:id="rId4"/>
    <p:sldId id="435" r:id="rId5"/>
    <p:sldId id="434" r:id="rId6"/>
    <p:sldId id="436" r:id="rId7"/>
    <p:sldId id="438" r:id="rId8"/>
    <p:sldId id="433" r:id="rId9"/>
    <p:sldId id="439" r:id="rId10"/>
    <p:sldId id="440" r:id="rId11"/>
    <p:sldId id="441" r:id="rId12"/>
    <p:sldId id="442" r:id="rId13"/>
    <p:sldId id="445" r:id="rId14"/>
    <p:sldId id="446" r:id="rId15"/>
    <p:sldId id="443" r:id="rId16"/>
    <p:sldId id="444" r:id="rId17"/>
  </p:sldIdLst>
  <p:sldSz cx="10693400" cy="7561263"/>
  <p:notesSz cx="6797675" cy="9928225"/>
  <p:defaultTextStyle>
    <a:defPPr>
      <a:defRPr lang="de-CH"/>
    </a:defPPr>
    <a:lvl1pPr algn="l" rtl="0" fontAlgn="base">
      <a:spcBef>
        <a:spcPct val="0"/>
      </a:spcBef>
      <a:spcAft>
        <a:spcPct val="0"/>
      </a:spcAft>
      <a:defRPr sz="2100" kern="1200">
        <a:solidFill>
          <a:schemeClr val="tx1"/>
        </a:solidFill>
        <a:latin typeface="Arial" charset="0"/>
        <a:ea typeface="+mn-ea"/>
        <a:cs typeface="+mn-cs"/>
      </a:defRPr>
    </a:lvl1pPr>
    <a:lvl2pPr marL="457200" algn="l" rtl="0" fontAlgn="base">
      <a:spcBef>
        <a:spcPct val="0"/>
      </a:spcBef>
      <a:spcAft>
        <a:spcPct val="0"/>
      </a:spcAft>
      <a:defRPr sz="2100" kern="1200">
        <a:solidFill>
          <a:schemeClr val="tx1"/>
        </a:solidFill>
        <a:latin typeface="Arial" charset="0"/>
        <a:ea typeface="+mn-ea"/>
        <a:cs typeface="+mn-cs"/>
      </a:defRPr>
    </a:lvl2pPr>
    <a:lvl3pPr marL="914400" algn="l" rtl="0" fontAlgn="base">
      <a:spcBef>
        <a:spcPct val="0"/>
      </a:spcBef>
      <a:spcAft>
        <a:spcPct val="0"/>
      </a:spcAft>
      <a:defRPr sz="2100" kern="1200">
        <a:solidFill>
          <a:schemeClr val="tx1"/>
        </a:solidFill>
        <a:latin typeface="Arial" charset="0"/>
        <a:ea typeface="+mn-ea"/>
        <a:cs typeface="+mn-cs"/>
      </a:defRPr>
    </a:lvl3pPr>
    <a:lvl4pPr marL="1371600" algn="l" rtl="0" fontAlgn="base">
      <a:spcBef>
        <a:spcPct val="0"/>
      </a:spcBef>
      <a:spcAft>
        <a:spcPct val="0"/>
      </a:spcAft>
      <a:defRPr sz="2100" kern="1200">
        <a:solidFill>
          <a:schemeClr val="tx1"/>
        </a:solidFill>
        <a:latin typeface="Arial" charset="0"/>
        <a:ea typeface="+mn-ea"/>
        <a:cs typeface="+mn-cs"/>
      </a:defRPr>
    </a:lvl4pPr>
    <a:lvl5pPr marL="1828800" algn="l" rtl="0" fontAlgn="base">
      <a:spcBef>
        <a:spcPct val="0"/>
      </a:spcBef>
      <a:spcAft>
        <a:spcPct val="0"/>
      </a:spcAft>
      <a:defRPr sz="2100" kern="1200">
        <a:solidFill>
          <a:schemeClr val="tx1"/>
        </a:solidFill>
        <a:latin typeface="Arial" charset="0"/>
        <a:ea typeface="+mn-ea"/>
        <a:cs typeface="+mn-cs"/>
      </a:defRPr>
    </a:lvl5pPr>
    <a:lvl6pPr marL="2286000" algn="l" defTabSz="914400" rtl="0" eaLnBrk="1" latinLnBrk="0" hangingPunct="1">
      <a:defRPr sz="2100" kern="1200">
        <a:solidFill>
          <a:schemeClr val="tx1"/>
        </a:solidFill>
        <a:latin typeface="Arial" charset="0"/>
        <a:ea typeface="+mn-ea"/>
        <a:cs typeface="+mn-cs"/>
      </a:defRPr>
    </a:lvl6pPr>
    <a:lvl7pPr marL="2743200" algn="l" defTabSz="914400" rtl="0" eaLnBrk="1" latinLnBrk="0" hangingPunct="1">
      <a:defRPr sz="2100" kern="1200">
        <a:solidFill>
          <a:schemeClr val="tx1"/>
        </a:solidFill>
        <a:latin typeface="Arial" charset="0"/>
        <a:ea typeface="+mn-ea"/>
        <a:cs typeface="+mn-cs"/>
      </a:defRPr>
    </a:lvl7pPr>
    <a:lvl8pPr marL="3200400" algn="l" defTabSz="914400" rtl="0" eaLnBrk="1" latinLnBrk="0" hangingPunct="1">
      <a:defRPr sz="2100" kern="1200">
        <a:solidFill>
          <a:schemeClr val="tx1"/>
        </a:solidFill>
        <a:latin typeface="Arial" charset="0"/>
        <a:ea typeface="+mn-ea"/>
        <a:cs typeface="+mn-cs"/>
      </a:defRPr>
    </a:lvl8pPr>
    <a:lvl9pPr marL="3657600" algn="l" defTabSz="914400" rtl="0" eaLnBrk="1" latinLnBrk="0" hangingPunct="1">
      <a:defRPr sz="21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BE0000"/>
    <a:srgbClr val="009900"/>
    <a:srgbClr val="777777"/>
    <a:srgbClr val="BF3116"/>
    <a:srgbClr val="EBEBEB"/>
    <a:srgbClr val="FF9933"/>
    <a:srgbClr val="FF00FF"/>
    <a:srgbClr val="C41200"/>
    <a:srgbClr val="BE8074"/>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0" autoAdjust="0"/>
    <p:restoredTop sz="94679" autoAdjust="0"/>
  </p:normalViewPr>
  <p:slideViewPr>
    <p:cSldViewPr snapToObjects="1" showGuides="1">
      <p:cViewPr varScale="1">
        <p:scale>
          <a:sx n="115" d="100"/>
          <a:sy n="115" d="100"/>
        </p:scale>
        <p:origin x="-1308" y="-96"/>
      </p:cViewPr>
      <p:guideLst>
        <p:guide orient="horz" pos="2381"/>
        <p:guide orient="horz" pos="499"/>
        <p:guide orient="horz" pos="340"/>
        <p:guide orient="horz" pos="703"/>
        <p:guide orient="horz" pos="4331"/>
        <p:guide orient="horz" pos="4490"/>
        <p:guide orient="horz" pos="839"/>
        <p:guide orient="horz" pos="4059"/>
        <p:guide orient="horz" pos="4762"/>
        <p:guide pos="3368"/>
        <p:guide pos="306"/>
        <p:guide pos="6430"/>
      </p:guideLst>
    </p:cSldViewPr>
  </p:slideViewPr>
  <p:outlineViewPr>
    <p:cViewPr>
      <p:scale>
        <a:sx n="33" d="100"/>
        <a:sy n="33" d="100"/>
      </p:scale>
      <p:origin x="0" y="3942"/>
    </p:cViewPr>
  </p:outlin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79" d="100"/>
          <a:sy n="79" d="100"/>
        </p:scale>
        <p:origin x="-3936"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W:\Technology\Functions\Thermal\Optimizer\extrudedProfile\overview.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W:\Technology\Functions\Thermal\Optimizer\extrudedProfile\overview.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W:\Technology\Functions\Thermal\Optimizer\extrudedProfile\overview.xlsx" TargetMode="Externa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oleObject" Target="file:///W:\Technology\Functions\Thermal\Optimizer\extrudedProfile\overview.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W:\Technology\Functions\Thermal\Optimizer\extrudedProfile\overview.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de-CH" sz="1400" dirty="0" err="1"/>
              <a:t>Rth</a:t>
            </a:r>
            <a:r>
              <a:rPr lang="de-CH" sz="1400" dirty="0"/>
              <a:t> [K/W] </a:t>
            </a:r>
            <a:r>
              <a:rPr lang="de-CH" sz="1400" dirty="0" err="1"/>
              <a:t>for</a:t>
            </a:r>
            <a:r>
              <a:rPr lang="de-CH" sz="1400" baseline="0" dirty="0"/>
              <a:t> last TO-247 </a:t>
            </a:r>
            <a:r>
              <a:rPr lang="de-CH" sz="1400" baseline="0" dirty="0" err="1"/>
              <a:t>for</a:t>
            </a:r>
            <a:r>
              <a:rPr lang="de-CH" sz="1400" baseline="0" dirty="0"/>
              <a:t> different </a:t>
            </a:r>
            <a:r>
              <a:rPr lang="de-CH" sz="1400" baseline="0" dirty="0" err="1"/>
              <a:t>flow</a:t>
            </a:r>
            <a:r>
              <a:rPr lang="de-CH" sz="1400" baseline="0" dirty="0"/>
              <a:t> </a:t>
            </a:r>
            <a:r>
              <a:rPr lang="de-CH" sz="1400" baseline="0" dirty="0" err="1"/>
              <a:t>rates</a:t>
            </a:r>
            <a:endParaRPr lang="de-CH" sz="1400" dirty="0"/>
          </a:p>
        </c:rich>
      </c:tx>
      <c:layout>
        <c:manualLayout>
          <c:xMode val="edge"/>
          <c:yMode val="edge"/>
          <c:x val="5.6513752395715058E-2"/>
          <c:y val="2.7777777777777776E-2"/>
        </c:manualLayout>
      </c:layout>
      <c:overlay val="0"/>
    </c:title>
    <c:autoTitleDeleted val="0"/>
    <c:plotArea>
      <c:layout/>
      <c:barChart>
        <c:barDir val="col"/>
        <c:grouping val="stacked"/>
        <c:varyColors val="0"/>
        <c:ser>
          <c:idx val="0"/>
          <c:order val="0"/>
          <c:tx>
            <c:v>Rth_fluidLocal_to_fluidIn</c:v>
          </c:tx>
          <c:invertIfNegative val="0"/>
          <c:cat>
            <c:numRef>
              <c:f>Tabelle1!$B$43:$B$48</c:f>
              <c:numCache>
                <c:formatCode>General</c:formatCode>
                <c:ptCount val="6"/>
                <c:pt idx="0">
                  <c:v>0.75</c:v>
                </c:pt>
                <c:pt idx="1">
                  <c:v>1</c:v>
                </c:pt>
                <c:pt idx="2">
                  <c:v>1.5</c:v>
                </c:pt>
                <c:pt idx="3">
                  <c:v>2</c:v>
                </c:pt>
                <c:pt idx="4">
                  <c:v>2.5</c:v>
                </c:pt>
                <c:pt idx="5">
                  <c:v>3</c:v>
                </c:pt>
              </c:numCache>
            </c:numRef>
          </c:cat>
          <c:val>
            <c:numRef>
              <c:f>Tabelle1!$C$43:$C$48</c:f>
              <c:numCache>
                <c:formatCode>General</c:formatCode>
                <c:ptCount val="6"/>
                <c:pt idx="0">
                  <c:v>0.3765</c:v>
                </c:pt>
                <c:pt idx="1">
                  <c:v>0.28139999999999998</c:v>
                </c:pt>
                <c:pt idx="2">
                  <c:v>0.187</c:v>
                </c:pt>
                <c:pt idx="3">
                  <c:v>0.14000000000000001</c:v>
                </c:pt>
                <c:pt idx="4">
                  <c:v>0.1119</c:v>
                </c:pt>
                <c:pt idx="5">
                  <c:v>9.3200000000000005E-2</c:v>
                </c:pt>
              </c:numCache>
            </c:numRef>
          </c:val>
        </c:ser>
        <c:ser>
          <c:idx val="1"/>
          <c:order val="1"/>
          <c:tx>
            <c:v>Rth_fluid_to_contactArea</c:v>
          </c:tx>
          <c:invertIfNegative val="0"/>
          <c:cat>
            <c:numRef>
              <c:f>Tabelle1!$B$43:$B$48</c:f>
              <c:numCache>
                <c:formatCode>General</c:formatCode>
                <c:ptCount val="6"/>
                <c:pt idx="0">
                  <c:v>0.75</c:v>
                </c:pt>
                <c:pt idx="1">
                  <c:v>1</c:v>
                </c:pt>
                <c:pt idx="2">
                  <c:v>1.5</c:v>
                </c:pt>
                <c:pt idx="3">
                  <c:v>2</c:v>
                </c:pt>
                <c:pt idx="4">
                  <c:v>2.5</c:v>
                </c:pt>
                <c:pt idx="5">
                  <c:v>3</c:v>
                </c:pt>
              </c:numCache>
            </c:numRef>
          </c:cat>
          <c:val>
            <c:numRef>
              <c:f>Tabelle1!$D$43:$D$48</c:f>
              <c:numCache>
                <c:formatCode>General</c:formatCode>
                <c:ptCount val="6"/>
                <c:pt idx="0">
                  <c:v>0.47770000000000001</c:v>
                </c:pt>
                <c:pt idx="1">
                  <c:v>0.4728</c:v>
                </c:pt>
                <c:pt idx="2">
                  <c:v>0.46210000000000001</c:v>
                </c:pt>
                <c:pt idx="3">
                  <c:v>0.4516</c:v>
                </c:pt>
                <c:pt idx="4">
                  <c:v>0.44180000000000003</c:v>
                </c:pt>
                <c:pt idx="5">
                  <c:v>0.43290000000000001</c:v>
                </c:pt>
              </c:numCache>
            </c:numRef>
          </c:val>
        </c:ser>
        <c:dLbls>
          <c:showLegendKey val="0"/>
          <c:showVal val="0"/>
          <c:showCatName val="0"/>
          <c:showSerName val="0"/>
          <c:showPercent val="0"/>
          <c:showBubbleSize val="0"/>
        </c:dLbls>
        <c:gapWidth val="55"/>
        <c:overlap val="100"/>
        <c:axId val="97561600"/>
        <c:axId val="97989376"/>
      </c:barChart>
      <c:catAx>
        <c:axId val="97561600"/>
        <c:scaling>
          <c:orientation val="minMax"/>
        </c:scaling>
        <c:delete val="0"/>
        <c:axPos val="b"/>
        <c:numFmt formatCode="General" sourceLinked="1"/>
        <c:majorTickMark val="none"/>
        <c:minorTickMark val="none"/>
        <c:tickLblPos val="nextTo"/>
        <c:crossAx val="97989376"/>
        <c:crosses val="autoZero"/>
        <c:auto val="1"/>
        <c:lblAlgn val="ctr"/>
        <c:lblOffset val="100"/>
        <c:noMultiLvlLbl val="0"/>
      </c:catAx>
      <c:valAx>
        <c:axId val="97989376"/>
        <c:scaling>
          <c:orientation val="minMax"/>
        </c:scaling>
        <c:delete val="0"/>
        <c:axPos val="l"/>
        <c:majorGridlines/>
        <c:numFmt formatCode="General" sourceLinked="1"/>
        <c:majorTickMark val="none"/>
        <c:minorTickMark val="none"/>
        <c:tickLblPos val="nextTo"/>
        <c:crossAx val="97561600"/>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800" b="1" i="0" u="none" strike="noStrike" kern="1200" baseline="0">
                <a:solidFill>
                  <a:sysClr val="windowText" lastClr="000000"/>
                </a:solidFill>
                <a:latin typeface="+mn-lt"/>
                <a:ea typeface="+mn-ea"/>
                <a:cs typeface="+mn-cs"/>
              </a:defRPr>
            </a:pPr>
            <a:r>
              <a:rPr lang="de-CH" sz="1400" b="1" i="0" baseline="0" dirty="0" err="1">
                <a:effectLst/>
              </a:rPr>
              <a:t>Rth</a:t>
            </a:r>
            <a:r>
              <a:rPr lang="de-CH" sz="1400" b="1" i="0" baseline="0" dirty="0">
                <a:effectLst/>
              </a:rPr>
              <a:t> [K/W] </a:t>
            </a:r>
            <a:r>
              <a:rPr lang="de-CH" sz="1400" b="1" i="0" baseline="0" dirty="0" err="1">
                <a:effectLst/>
              </a:rPr>
              <a:t>for</a:t>
            </a:r>
            <a:r>
              <a:rPr lang="de-CH" sz="1400" b="1" i="0" baseline="0" dirty="0">
                <a:effectLst/>
              </a:rPr>
              <a:t> TO-247 in </a:t>
            </a:r>
            <a:r>
              <a:rPr lang="de-CH" sz="1400" b="1" i="0" baseline="0" dirty="0" err="1">
                <a:effectLst/>
              </a:rPr>
              <a:t>series</a:t>
            </a:r>
            <a:r>
              <a:rPr lang="de-CH" sz="1400" b="1" i="0" baseline="0" dirty="0">
                <a:effectLst/>
              </a:rPr>
              <a:t> @ 1.5 L/min</a:t>
            </a:r>
            <a:endParaRPr lang="de-CH" sz="1400" dirty="0">
              <a:effectLst/>
            </a:endParaRPr>
          </a:p>
        </c:rich>
      </c:tx>
      <c:layout>
        <c:manualLayout>
          <c:xMode val="edge"/>
          <c:yMode val="edge"/>
          <c:x val="6.9584203389297619E-2"/>
          <c:y val="5.0925925925925923E-2"/>
        </c:manualLayout>
      </c:layout>
      <c:overlay val="0"/>
    </c:title>
    <c:autoTitleDeleted val="0"/>
    <c:plotArea>
      <c:layout/>
      <c:barChart>
        <c:barDir val="col"/>
        <c:grouping val="stacked"/>
        <c:varyColors val="0"/>
        <c:ser>
          <c:idx val="1"/>
          <c:order val="0"/>
          <c:tx>
            <c:v>Rth_fluidLocal_to_fluidIn</c:v>
          </c:tx>
          <c:spPr>
            <a:solidFill>
              <a:srgbClr val="C00000"/>
            </a:solidFill>
          </c:spPr>
          <c:invertIfNegative val="0"/>
          <c:cat>
            <c:numRef>
              <c:f>Tabelle1!$M$17:$M$25</c:f>
              <c:numCache>
                <c:formatCode>General</c:formatCode>
                <c:ptCount val="9"/>
                <c:pt idx="0">
                  <c:v>1</c:v>
                </c:pt>
                <c:pt idx="1">
                  <c:v>2</c:v>
                </c:pt>
                <c:pt idx="2">
                  <c:v>3</c:v>
                </c:pt>
                <c:pt idx="3">
                  <c:v>4</c:v>
                </c:pt>
                <c:pt idx="4">
                  <c:v>5</c:v>
                </c:pt>
                <c:pt idx="5">
                  <c:v>6</c:v>
                </c:pt>
                <c:pt idx="6">
                  <c:v>7</c:v>
                </c:pt>
                <c:pt idx="7">
                  <c:v>8</c:v>
                </c:pt>
                <c:pt idx="8">
                  <c:v>9</c:v>
                </c:pt>
              </c:numCache>
            </c:numRef>
          </c:cat>
          <c:val>
            <c:numRef>
              <c:f>Tabelle1!$N$17:$N$25</c:f>
              <c:numCache>
                <c:formatCode>General</c:formatCode>
                <c:ptCount val="9"/>
                <c:pt idx="0">
                  <c:v>1.09E-2</c:v>
                </c:pt>
                <c:pt idx="1">
                  <c:v>3.2800000000000003E-2</c:v>
                </c:pt>
                <c:pt idx="2">
                  <c:v>5.4699999999999999E-2</c:v>
                </c:pt>
                <c:pt idx="3">
                  <c:v>7.6700000000000004E-2</c:v>
                </c:pt>
                <c:pt idx="4">
                  <c:v>9.8599999999999993E-2</c:v>
                </c:pt>
                <c:pt idx="5">
                  <c:v>0.1207</c:v>
                </c:pt>
                <c:pt idx="6">
                  <c:v>0.14269999999999999</c:v>
                </c:pt>
                <c:pt idx="7">
                  <c:v>0.1648</c:v>
                </c:pt>
                <c:pt idx="8">
                  <c:v>0.187</c:v>
                </c:pt>
              </c:numCache>
            </c:numRef>
          </c:val>
        </c:ser>
        <c:ser>
          <c:idx val="2"/>
          <c:order val="1"/>
          <c:tx>
            <c:v>Rth_fluid_to_contactArea</c:v>
          </c:tx>
          <c:spPr>
            <a:solidFill>
              <a:schemeClr val="accent2"/>
            </a:solidFill>
          </c:spPr>
          <c:invertIfNegative val="0"/>
          <c:cat>
            <c:numRef>
              <c:f>Tabelle1!$M$17:$M$25</c:f>
              <c:numCache>
                <c:formatCode>General</c:formatCode>
                <c:ptCount val="9"/>
                <c:pt idx="0">
                  <c:v>1</c:v>
                </c:pt>
                <c:pt idx="1">
                  <c:v>2</c:v>
                </c:pt>
                <c:pt idx="2">
                  <c:v>3</c:v>
                </c:pt>
                <c:pt idx="3">
                  <c:v>4</c:v>
                </c:pt>
                <c:pt idx="4">
                  <c:v>5</c:v>
                </c:pt>
                <c:pt idx="5">
                  <c:v>6</c:v>
                </c:pt>
                <c:pt idx="6">
                  <c:v>7</c:v>
                </c:pt>
                <c:pt idx="7">
                  <c:v>8</c:v>
                </c:pt>
                <c:pt idx="8">
                  <c:v>9</c:v>
                </c:pt>
              </c:numCache>
            </c:numRef>
          </c:cat>
          <c:val>
            <c:numRef>
              <c:f>Tabelle1!$O$17:$O$25</c:f>
              <c:numCache>
                <c:formatCode>General</c:formatCode>
                <c:ptCount val="9"/>
                <c:pt idx="0">
                  <c:v>0.28289999999999998</c:v>
                </c:pt>
                <c:pt idx="1">
                  <c:v>0.3705</c:v>
                </c:pt>
                <c:pt idx="2">
                  <c:v>0.4032</c:v>
                </c:pt>
                <c:pt idx="3">
                  <c:v>0.42280000000000001</c:v>
                </c:pt>
                <c:pt idx="4">
                  <c:v>0.43590000000000001</c:v>
                </c:pt>
                <c:pt idx="5">
                  <c:v>0.44540000000000002</c:v>
                </c:pt>
                <c:pt idx="6">
                  <c:v>0.45240000000000002</c:v>
                </c:pt>
                <c:pt idx="7">
                  <c:v>0.45779999999999998</c:v>
                </c:pt>
                <c:pt idx="8">
                  <c:v>0.46210000000000001</c:v>
                </c:pt>
              </c:numCache>
            </c:numRef>
          </c:val>
        </c:ser>
        <c:dLbls>
          <c:showLegendKey val="0"/>
          <c:showVal val="0"/>
          <c:showCatName val="0"/>
          <c:showSerName val="0"/>
          <c:showPercent val="0"/>
          <c:showBubbleSize val="0"/>
        </c:dLbls>
        <c:gapWidth val="55"/>
        <c:overlap val="100"/>
        <c:axId val="97572352"/>
        <c:axId val="97573888"/>
      </c:barChart>
      <c:catAx>
        <c:axId val="97572352"/>
        <c:scaling>
          <c:orientation val="minMax"/>
        </c:scaling>
        <c:delete val="0"/>
        <c:axPos val="b"/>
        <c:numFmt formatCode="General" sourceLinked="1"/>
        <c:majorTickMark val="none"/>
        <c:minorTickMark val="none"/>
        <c:tickLblPos val="nextTo"/>
        <c:crossAx val="97573888"/>
        <c:crosses val="autoZero"/>
        <c:auto val="1"/>
        <c:lblAlgn val="ctr"/>
        <c:lblOffset val="100"/>
        <c:noMultiLvlLbl val="0"/>
      </c:catAx>
      <c:valAx>
        <c:axId val="97573888"/>
        <c:scaling>
          <c:orientation val="minMax"/>
        </c:scaling>
        <c:delete val="0"/>
        <c:axPos val="l"/>
        <c:majorGridlines/>
        <c:numFmt formatCode="General" sourceLinked="1"/>
        <c:majorTickMark val="none"/>
        <c:minorTickMark val="none"/>
        <c:tickLblPos val="nextTo"/>
        <c:crossAx val="97572352"/>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800" b="1" i="0" u="none" strike="noStrike" kern="1200" baseline="0">
                <a:solidFill>
                  <a:sysClr val="windowText" lastClr="000000"/>
                </a:solidFill>
                <a:latin typeface="+mn-lt"/>
                <a:ea typeface="+mn-ea"/>
                <a:cs typeface="+mn-cs"/>
              </a:defRPr>
            </a:pPr>
            <a:r>
              <a:rPr lang="de-CH" sz="1400" b="1" i="0" baseline="0" dirty="0" err="1">
                <a:effectLst/>
              </a:rPr>
              <a:t>Rth</a:t>
            </a:r>
            <a:r>
              <a:rPr lang="de-CH" sz="1400" b="1" i="0" baseline="0" dirty="0">
                <a:effectLst/>
              </a:rPr>
              <a:t> [K/W] </a:t>
            </a:r>
            <a:r>
              <a:rPr lang="de-CH" sz="1400" b="1" i="0" baseline="0" dirty="0" err="1">
                <a:effectLst/>
              </a:rPr>
              <a:t>for</a:t>
            </a:r>
            <a:r>
              <a:rPr lang="de-CH" sz="1400" b="1" i="0" baseline="0" dirty="0">
                <a:effectLst/>
              </a:rPr>
              <a:t> TO-247 in </a:t>
            </a:r>
            <a:r>
              <a:rPr lang="de-CH" sz="1400" b="1" i="0" baseline="0" dirty="0" err="1">
                <a:effectLst/>
              </a:rPr>
              <a:t>series</a:t>
            </a:r>
            <a:r>
              <a:rPr lang="de-CH" sz="1400" b="1" i="0" baseline="0" dirty="0">
                <a:effectLst/>
              </a:rPr>
              <a:t> @ 1.5 L/min</a:t>
            </a:r>
            <a:endParaRPr lang="de-CH" sz="1400" dirty="0">
              <a:effectLst/>
            </a:endParaRPr>
          </a:p>
        </c:rich>
      </c:tx>
      <c:layout>
        <c:manualLayout>
          <c:xMode val="edge"/>
          <c:yMode val="edge"/>
          <c:x val="7.625237141693593E-2"/>
          <c:y val="5.5088054133772884E-3"/>
        </c:manualLayout>
      </c:layout>
      <c:overlay val="0"/>
    </c:title>
    <c:autoTitleDeleted val="0"/>
    <c:plotArea>
      <c:layout/>
      <c:barChart>
        <c:barDir val="col"/>
        <c:grouping val="stacked"/>
        <c:varyColors val="0"/>
        <c:ser>
          <c:idx val="1"/>
          <c:order val="0"/>
          <c:tx>
            <c:v>Rth_fluidLocal_to_fluidIn</c:v>
          </c:tx>
          <c:spPr>
            <a:solidFill>
              <a:schemeClr val="tx2"/>
            </a:solidFill>
          </c:spPr>
          <c:invertIfNegative val="0"/>
          <c:cat>
            <c:numRef>
              <c:f>Tabelle1!$M$17:$M$25</c:f>
              <c:numCache>
                <c:formatCode>General</c:formatCode>
                <c:ptCount val="9"/>
                <c:pt idx="0">
                  <c:v>1</c:v>
                </c:pt>
                <c:pt idx="1">
                  <c:v>2</c:v>
                </c:pt>
                <c:pt idx="2">
                  <c:v>3</c:v>
                </c:pt>
                <c:pt idx="3">
                  <c:v>4</c:v>
                </c:pt>
                <c:pt idx="4">
                  <c:v>5</c:v>
                </c:pt>
                <c:pt idx="5">
                  <c:v>6</c:v>
                </c:pt>
                <c:pt idx="6">
                  <c:v>7</c:v>
                </c:pt>
                <c:pt idx="7">
                  <c:v>8</c:v>
                </c:pt>
                <c:pt idx="8">
                  <c:v>9</c:v>
                </c:pt>
              </c:numCache>
            </c:numRef>
          </c:cat>
          <c:val>
            <c:numRef>
              <c:f>Tabelle1!$N$17:$N$25</c:f>
              <c:numCache>
                <c:formatCode>General</c:formatCode>
                <c:ptCount val="9"/>
                <c:pt idx="0">
                  <c:v>1.09465519621423E-2</c:v>
                </c:pt>
                <c:pt idx="1">
                  <c:v>3.2840254011733801E-2</c:v>
                </c:pt>
                <c:pt idx="2">
                  <c:v>5.4740841865243799E-2</c:v>
                </c:pt>
                <c:pt idx="3">
                  <c:v>7.6669801386790901E-2</c:v>
                </c:pt>
                <c:pt idx="4">
                  <c:v>9.8643024615827801E-2</c:v>
                </c:pt>
                <c:pt idx="5">
                  <c:v>0.120660719690885</c:v>
                </c:pt>
                <c:pt idx="6">
                  <c:v>0.14272311232974899</c:v>
                </c:pt>
                <c:pt idx="7">
                  <c:v>0.16483043007239201</c:v>
                </c:pt>
                <c:pt idx="8">
                  <c:v>0.18698290231751899</c:v>
                </c:pt>
              </c:numCache>
            </c:numRef>
          </c:val>
        </c:ser>
        <c:ser>
          <c:idx val="2"/>
          <c:order val="1"/>
          <c:tx>
            <c:v>Rth_fluid_to_contactArea</c:v>
          </c:tx>
          <c:spPr>
            <a:solidFill>
              <a:schemeClr val="accent2"/>
            </a:solidFill>
          </c:spPr>
          <c:invertIfNegative val="0"/>
          <c:cat>
            <c:numRef>
              <c:f>Tabelle1!$M$17:$M$25</c:f>
              <c:numCache>
                <c:formatCode>General</c:formatCode>
                <c:ptCount val="9"/>
                <c:pt idx="0">
                  <c:v>1</c:v>
                </c:pt>
                <c:pt idx="1">
                  <c:v>2</c:v>
                </c:pt>
                <c:pt idx="2">
                  <c:v>3</c:v>
                </c:pt>
                <c:pt idx="3">
                  <c:v>4</c:v>
                </c:pt>
                <c:pt idx="4">
                  <c:v>5</c:v>
                </c:pt>
                <c:pt idx="5">
                  <c:v>6</c:v>
                </c:pt>
                <c:pt idx="6">
                  <c:v>7</c:v>
                </c:pt>
                <c:pt idx="7">
                  <c:v>8</c:v>
                </c:pt>
                <c:pt idx="8">
                  <c:v>9</c:v>
                </c:pt>
              </c:numCache>
            </c:numRef>
          </c:cat>
          <c:val>
            <c:numRef>
              <c:f>Tabelle1!$O$17:$O$25</c:f>
              <c:numCache>
                <c:formatCode>General</c:formatCode>
                <c:ptCount val="9"/>
                <c:pt idx="0">
                  <c:v>0.30091023189702698</c:v>
                </c:pt>
                <c:pt idx="1">
                  <c:v>0.40266157016846199</c:v>
                </c:pt>
                <c:pt idx="2">
                  <c:v>0.44187647148529302</c:v>
                </c:pt>
                <c:pt idx="3">
                  <c:v>0.46584707997386898</c:v>
                </c:pt>
                <c:pt idx="4">
                  <c:v>0.482228452798456</c:v>
                </c:pt>
                <c:pt idx="5">
                  <c:v>0.49412383031573298</c:v>
                </c:pt>
                <c:pt idx="6">
                  <c:v>0.503112043532153</c:v>
                </c:pt>
                <c:pt idx="7">
                  <c:v>0.51009962408350595</c:v>
                </c:pt>
                <c:pt idx="8">
                  <c:v>0.51564934138392604</c:v>
                </c:pt>
              </c:numCache>
            </c:numRef>
          </c:val>
        </c:ser>
        <c:dLbls>
          <c:showLegendKey val="0"/>
          <c:showVal val="0"/>
          <c:showCatName val="0"/>
          <c:showSerName val="0"/>
          <c:showPercent val="0"/>
          <c:showBubbleSize val="0"/>
        </c:dLbls>
        <c:gapWidth val="55"/>
        <c:overlap val="100"/>
        <c:axId val="77267712"/>
        <c:axId val="77269248"/>
      </c:barChart>
      <c:catAx>
        <c:axId val="77267712"/>
        <c:scaling>
          <c:orientation val="minMax"/>
        </c:scaling>
        <c:delete val="0"/>
        <c:axPos val="b"/>
        <c:numFmt formatCode="General" sourceLinked="1"/>
        <c:majorTickMark val="none"/>
        <c:minorTickMark val="none"/>
        <c:tickLblPos val="nextTo"/>
        <c:crossAx val="77269248"/>
        <c:crosses val="autoZero"/>
        <c:auto val="1"/>
        <c:lblAlgn val="ctr"/>
        <c:lblOffset val="100"/>
        <c:noMultiLvlLbl val="0"/>
      </c:catAx>
      <c:valAx>
        <c:axId val="77269248"/>
        <c:scaling>
          <c:orientation val="minMax"/>
        </c:scaling>
        <c:delete val="0"/>
        <c:axPos val="l"/>
        <c:majorGridlines/>
        <c:numFmt formatCode="General" sourceLinked="1"/>
        <c:majorTickMark val="none"/>
        <c:minorTickMark val="none"/>
        <c:tickLblPos val="nextTo"/>
        <c:crossAx val="77267712"/>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de-CH" sz="1400" dirty="0" err="1"/>
              <a:t>Rth</a:t>
            </a:r>
            <a:r>
              <a:rPr lang="de-CH" sz="1400" dirty="0"/>
              <a:t> [K/W] </a:t>
            </a:r>
            <a:r>
              <a:rPr lang="de-CH" sz="1400" dirty="0" err="1"/>
              <a:t>for</a:t>
            </a:r>
            <a:r>
              <a:rPr lang="de-CH" sz="1400" baseline="0" dirty="0"/>
              <a:t> last TO-247 </a:t>
            </a:r>
            <a:r>
              <a:rPr lang="de-CH" sz="1400" baseline="0" dirty="0" err="1"/>
              <a:t>for</a:t>
            </a:r>
            <a:r>
              <a:rPr lang="de-CH" sz="1400" baseline="0" dirty="0"/>
              <a:t> different </a:t>
            </a:r>
            <a:r>
              <a:rPr lang="de-CH" sz="1400" baseline="0" dirty="0" err="1"/>
              <a:t>flow</a:t>
            </a:r>
            <a:r>
              <a:rPr lang="de-CH" sz="1400" baseline="0" dirty="0"/>
              <a:t> </a:t>
            </a:r>
            <a:r>
              <a:rPr lang="de-CH" sz="1400" baseline="0" dirty="0" err="1"/>
              <a:t>rates</a:t>
            </a:r>
            <a:endParaRPr lang="de-CH" sz="1400" dirty="0"/>
          </a:p>
        </c:rich>
      </c:tx>
      <c:layout>
        <c:manualLayout>
          <c:xMode val="edge"/>
          <c:yMode val="edge"/>
          <c:x val="4.8751460193743282E-2"/>
          <c:y val="4.2175265550204566E-2"/>
        </c:manualLayout>
      </c:layout>
      <c:overlay val="0"/>
    </c:title>
    <c:autoTitleDeleted val="0"/>
    <c:plotArea>
      <c:layout/>
      <c:barChart>
        <c:barDir val="col"/>
        <c:grouping val="stacked"/>
        <c:varyColors val="0"/>
        <c:ser>
          <c:idx val="0"/>
          <c:order val="0"/>
          <c:tx>
            <c:v>Rth_fluidLocal_to_fluidIn</c:v>
          </c:tx>
          <c:invertIfNegative val="0"/>
          <c:cat>
            <c:numRef>
              <c:f>Tabelle1!$B$43:$B$48</c:f>
              <c:numCache>
                <c:formatCode>General</c:formatCode>
                <c:ptCount val="6"/>
                <c:pt idx="0">
                  <c:v>0.75</c:v>
                </c:pt>
                <c:pt idx="1">
                  <c:v>1</c:v>
                </c:pt>
                <c:pt idx="2">
                  <c:v>1.5</c:v>
                </c:pt>
                <c:pt idx="3">
                  <c:v>2</c:v>
                </c:pt>
                <c:pt idx="4">
                  <c:v>2.5</c:v>
                </c:pt>
                <c:pt idx="5">
                  <c:v>3</c:v>
                </c:pt>
              </c:numCache>
            </c:numRef>
          </c:cat>
          <c:val>
            <c:numRef>
              <c:f>Tabelle1!$C$43:$C$48</c:f>
              <c:numCache>
                <c:formatCode>General</c:formatCode>
                <c:ptCount val="6"/>
                <c:pt idx="0">
                  <c:v>0.37648267299096699</c:v>
                </c:pt>
                <c:pt idx="1">
                  <c:v>0.28141291119727901</c:v>
                </c:pt>
                <c:pt idx="2">
                  <c:v>0.18698290231751899</c:v>
                </c:pt>
                <c:pt idx="3">
                  <c:v>0.140008603891769</c:v>
                </c:pt>
                <c:pt idx="4">
                  <c:v>0.111901326370429</c:v>
                </c:pt>
                <c:pt idx="5">
                  <c:v>9.3192749796999402E-2</c:v>
                </c:pt>
              </c:numCache>
            </c:numRef>
          </c:val>
        </c:ser>
        <c:ser>
          <c:idx val="1"/>
          <c:order val="1"/>
          <c:tx>
            <c:v>Rth_fluid_to_contactArea</c:v>
          </c:tx>
          <c:invertIfNegative val="0"/>
          <c:cat>
            <c:numRef>
              <c:f>Tabelle1!$B$43:$B$48</c:f>
              <c:numCache>
                <c:formatCode>General</c:formatCode>
                <c:ptCount val="6"/>
                <c:pt idx="0">
                  <c:v>0.75</c:v>
                </c:pt>
                <c:pt idx="1">
                  <c:v>1</c:v>
                </c:pt>
                <c:pt idx="2">
                  <c:v>1.5</c:v>
                </c:pt>
                <c:pt idx="3">
                  <c:v>2</c:v>
                </c:pt>
                <c:pt idx="4">
                  <c:v>2.5</c:v>
                </c:pt>
                <c:pt idx="5">
                  <c:v>3</c:v>
                </c:pt>
              </c:numCache>
            </c:numRef>
          </c:cat>
          <c:val>
            <c:numRef>
              <c:f>Tabelle1!$D$43:$D$48</c:f>
              <c:numCache>
                <c:formatCode>General</c:formatCode>
                <c:ptCount val="6"/>
                <c:pt idx="0">
                  <c:v>0.53662805466980301</c:v>
                </c:pt>
                <c:pt idx="1">
                  <c:v>0.52995634486684395</c:v>
                </c:pt>
                <c:pt idx="2">
                  <c:v>0.51564934138392604</c:v>
                </c:pt>
                <c:pt idx="3">
                  <c:v>0.50204982550000798</c:v>
                </c:pt>
                <c:pt idx="4">
                  <c:v>0.48965320844541899</c:v>
                </c:pt>
                <c:pt idx="5">
                  <c:v>0.47844707157240202</c:v>
                </c:pt>
              </c:numCache>
            </c:numRef>
          </c:val>
        </c:ser>
        <c:dLbls>
          <c:showLegendKey val="0"/>
          <c:showVal val="0"/>
          <c:showCatName val="0"/>
          <c:showSerName val="0"/>
          <c:showPercent val="0"/>
          <c:showBubbleSize val="0"/>
        </c:dLbls>
        <c:gapWidth val="55"/>
        <c:overlap val="100"/>
        <c:axId val="77347840"/>
        <c:axId val="77386496"/>
      </c:barChart>
      <c:catAx>
        <c:axId val="77347840"/>
        <c:scaling>
          <c:orientation val="minMax"/>
        </c:scaling>
        <c:delete val="0"/>
        <c:axPos val="b"/>
        <c:numFmt formatCode="General" sourceLinked="1"/>
        <c:majorTickMark val="none"/>
        <c:minorTickMark val="none"/>
        <c:tickLblPos val="nextTo"/>
        <c:crossAx val="77386496"/>
        <c:crosses val="autoZero"/>
        <c:auto val="1"/>
        <c:lblAlgn val="ctr"/>
        <c:lblOffset val="100"/>
        <c:noMultiLvlLbl val="0"/>
      </c:catAx>
      <c:valAx>
        <c:axId val="77386496"/>
        <c:scaling>
          <c:orientation val="minMax"/>
        </c:scaling>
        <c:delete val="0"/>
        <c:axPos val="l"/>
        <c:majorGridlines/>
        <c:numFmt formatCode="General" sourceLinked="1"/>
        <c:majorTickMark val="none"/>
        <c:minorTickMark val="none"/>
        <c:tickLblPos val="nextTo"/>
        <c:crossAx val="77347840"/>
        <c:crosses val="autoZero"/>
        <c:crossBetween val="between"/>
      </c:valAx>
    </c:plotArea>
    <c:legend>
      <c:legendPos val="r"/>
      <c:layout>
        <c:manualLayout>
          <c:xMode val="edge"/>
          <c:yMode val="edge"/>
          <c:x val="0.69803126103641089"/>
          <c:y val="0.46483595800524935"/>
          <c:w val="0.29789131847624917"/>
          <c:h val="0.16743438320209975"/>
        </c:manualLayout>
      </c:layout>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800" b="1" i="0" u="none" strike="noStrike" kern="1200" baseline="0">
                <a:solidFill>
                  <a:sysClr val="windowText" lastClr="000000"/>
                </a:solidFill>
                <a:latin typeface="+mn-lt"/>
                <a:ea typeface="+mn-ea"/>
                <a:cs typeface="+mn-cs"/>
              </a:defRPr>
            </a:pPr>
            <a:r>
              <a:rPr lang="de-CH" sz="1400" b="1" i="0" baseline="0" dirty="0" err="1">
                <a:effectLst/>
              </a:rPr>
              <a:t>Rth</a:t>
            </a:r>
            <a:r>
              <a:rPr lang="de-CH" sz="1400" b="1" i="0" baseline="0" dirty="0">
                <a:effectLst/>
              </a:rPr>
              <a:t> [K/W] </a:t>
            </a:r>
            <a:r>
              <a:rPr lang="de-CH" sz="1400" b="1" i="0" baseline="0" dirty="0" err="1">
                <a:effectLst/>
              </a:rPr>
              <a:t>for</a:t>
            </a:r>
            <a:r>
              <a:rPr lang="de-CH" sz="1400" b="1" i="0" baseline="0" dirty="0">
                <a:effectLst/>
              </a:rPr>
              <a:t> TO-247 in </a:t>
            </a:r>
            <a:r>
              <a:rPr lang="de-CH" sz="1400" b="1" i="0" baseline="0" dirty="0" err="1">
                <a:effectLst/>
              </a:rPr>
              <a:t>series</a:t>
            </a:r>
            <a:r>
              <a:rPr lang="de-CH" sz="1400" b="1" i="0" baseline="0" dirty="0">
                <a:effectLst/>
              </a:rPr>
              <a:t> @ 1.5 L/min</a:t>
            </a:r>
            <a:endParaRPr lang="de-CH" sz="1400" dirty="0">
              <a:effectLst/>
            </a:endParaRPr>
          </a:p>
        </c:rich>
      </c:tx>
      <c:layout>
        <c:manualLayout>
          <c:xMode val="edge"/>
          <c:yMode val="edge"/>
          <c:x val="0.10802735871407756"/>
          <c:y val="4.6296296296296294E-3"/>
        </c:manualLayout>
      </c:layout>
      <c:overlay val="0"/>
    </c:title>
    <c:autoTitleDeleted val="0"/>
    <c:plotArea>
      <c:layout/>
      <c:barChart>
        <c:barDir val="col"/>
        <c:grouping val="stacked"/>
        <c:varyColors val="0"/>
        <c:ser>
          <c:idx val="1"/>
          <c:order val="0"/>
          <c:tx>
            <c:v>Rth_fluidLocal_to_fluidIn</c:v>
          </c:tx>
          <c:spPr>
            <a:solidFill>
              <a:srgbClr val="BE0000"/>
            </a:solidFill>
            <a:ln>
              <a:noFill/>
            </a:ln>
          </c:spPr>
          <c:invertIfNegative val="0"/>
          <c:cat>
            <c:numRef>
              <c:f>'Tabelle2 (2)'!$M$17:$M$25</c:f>
              <c:numCache>
                <c:formatCode>0</c:formatCode>
                <c:ptCount val="9"/>
                <c:pt idx="0">
                  <c:v>1</c:v>
                </c:pt>
                <c:pt idx="1">
                  <c:v>2</c:v>
                </c:pt>
                <c:pt idx="2">
                  <c:v>3</c:v>
                </c:pt>
                <c:pt idx="3">
                  <c:v>4</c:v>
                </c:pt>
                <c:pt idx="4">
                  <c:v>5</c:v>
                </c:pt>
                <c:pt idx="5">
                  <c:v>6</c:v>
                </c:pt>
                <c:pt idx="6">
                  <c:v>7</c:v>
                </c:pt>
                <c:pt idx="7">
                  <c:v>8</c:v>
                </c:pt>
                <c:pt idx="8">
                  <c:v>9</c:v>
                </c:pt>
              </c:numCache>
            </c:numRef>
          </c:cat>
          <c:val>
            <c:numRef>
              <c:f>'Tabelle2 (2)'!$N$17:$N$25</c:f>
              <c:numCache>
                <c:formatCode>0.0000</c:formatCode>
                <c:ptCount val="9"/>
                <c:pt idx="0">
                  <c:v>1.09465519621423E-2</c:v>
                </c:pt>
                <c:pt idx="1">
                  <c:v>3.2840254011733801E-2</c:v>
                </c:pt>
                <c:pt idx="2">
                  <c:v>5.4740841865243799E-2</c:v>
                </c:pt>
                <c:pt idx="3">
                  <c:v>7.6669801386790901E-2</c:v>
                </c:pt>
                <c:pt idx="4">
                  <c:v>9.8643024615827801E-2</c:v>
                </c:pt>
                <c:pt idx="5">
                  <c:v>0.120660719690885</c:v>
                </c:pt>
                <c:pt idx="6">
                  <c:v>0.14272311232974899</c:v>
                </c:pt>
                <c:pt idx="7">
                  <c:v>0.16483043007239201</c:v>
                </c:pt>
                <c:pt idx="8">
                  <c:v>0.18698290231751899</c:v>
                </c:pt>
              </c:numCache>
            </c:numRef>
          </c:val>
        </c:ser>
        <c:ser>
          <c:idx val="2"/>
          <c:order val="1"/>
          <c:tx>
            <c:v>Rth_fluid_to_contactArea</c:v>
          </c:tx>
          <c:spPr>
            <a:solidFill>
              <a:srgbClr val="002060"/>
            </a:solidFill>
          </c:spPr>
          <c:invertIfNegative val="0"/>
          <c:cat>
            <c:numRef>
              <c:f>'Tabelle2 (2)'!$M$17:$M$25</c:f>
              <c:numCache>
                <c:formatCode>0</c:formatCode>
                <c:ptCount val="9"/>
                <c:pt idx="0">
                  <c:v>1</c:v>
                </c:pt>
                <c:pt idx="1">
                  <c:v>2</c:v>
                </c:pt>
                <c:pt idx="2">
                  <c:v>3</c:v>
                </c:pt>
                <c:pt idx="3">
                  <c:v>4</c:v>
                </c:pt>
                <c:pt idx="4">
                  <c:v>5</c:v>
                </c:pt>
                <c:pt idx="5">
                  <c:v>6</c:v>
                </c:pt>
                <c:pt idx="6">
                  <c:v>7</c:v>
                </c:pt>
                <c:pt idx="7">
                  <c:v>8</c:v>
                </c:pt>
                <c:pt idx="8">
                  <c:v>9</c:v>
                </c:pt>
              </c:numCache>
            </c:numRef>
          </c:cat>
          <c:val>
            <c:numRef>
              <c:f>'Tabelle2 (2)'!$O$17:$O$25</c:f>
              <c:numCache>
                <c:formatCode>0.0000</c:formatCode>
                <c:ptCount val="9"/>
                <c:pt idx="0">
                  <c:v>0.30469736379842899</c:v>
                </c:pt>
                <c:pt idx="1">
                  <c:v>0.41461249604493</c:v>
                </c:pt>
                <c:pt idx="2">
                  <c:v>0.459688723685032</c:v>
                </c:pt>
                <c:pt idx="3">
                  <c:v>0.48841016484210298</c:v>
                </c:pt>
                <c:pt idx="4">
                  <c:v>0.50869660242583303</c:v>
                </c:pt>
                <c:pt idx="5">
                  <c:v>0.52383344450718505</c:v>
                </c:pt>
                <c:pt idx="6">
                  <c:v>0.535536621769929</c:v>
                </c:pt>
                <c:pt idx="7">
                  <c:v>0.54481727987764805</c:v>
                </c:pt>
                <c:pt idx="8">
                  <c:v>0.55231859896024205</c:v>
                </c:pt>
              </c:numCache>
            </c:numRef>
          </c:val>
        </c:ser>
        <c:dLbls>
          <c:showLegendKey val="0"/>
          <c:showVal val="0"/>
          <c:showCatName val="0"/>
          <c:showSerName val="0"/>
          <c:showPercent val="0"/>
          <c:showBubbleSize val="0"/>
        </c:dLbls>
        <c:gapWidth val="55"/>
        <c:overlap val="100"/>
        <c:axId val="44390656"/>
        <c:axId val="44401024"/>
      </c:barChart>
      <c:catAx>
        <c:axId val="44390656"/>
        <c:scaling>
          <c:orientation val="minMax"/>
        </c:scaling>
        <c:delete val="0"/>
        <c:axPos val="b"/>
        <c:numFmt formatCode="0" sourceLinked="1"/>
        <c:majorTickMark val="none"/>
        <c:minorTickMark val="none"/>
        <c:tickLblPos val="nextTo"/>
        <c:crossAx val="44401024"/>
        <c:crosses val="autoZero"/>
        <c:auto val="1"/>
        <c:lblAlgn val="ctr"/>
        <c:lblOffset val="100"/>
        <c:noMultiLvlLbl val="0"/>
      </c:catAx>
      <c:valAx>
        <c:axId val="44401024"/>
        <c:scaling>
          <c:orientation val="minMax"/>
        </c:scaling>
        <c:delete val="0"/>
        <c:axPos val="l"/>
        <c:majorGridlines/>
        <c:numFmt formatCode="0.0000" sourceLinked="1"/>
        <c:majorTickMark val="none"/>
        <c:minorTickMark val="none"/>
        <c:tickLblPos val="nextTo"/>
        <c:crossAx val="44390656"/>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de-CH" sz="1400" dirty="0" err="1"/>
              <a:t>Rth</a:t>
            </a:r>
            <a:r>
              <a:rPr lang="de-CH" sz="1400" dirty="0"/>
              <a:t> [K/W] </a:t>
            </a:r>
            <a:r>
              <a:rPr lang="de-CH" sz="1400" dirty="0" err="1"/>
              <a:t>for</a:t>
            </a:r>
            <a:r>
              <a:rPr lang="de-CH" sz="1400" baseline="0" dirty="0"/>
              <a:t> last TO-247 </a:t>
            </a:r>
            <a:r>
              <a:rPr lang="de-CH" sz="1400" baseline="0" dirty="0" err="1"/>
              <a:t>for</a:t>
            </a:r>
            <a:r>
              <a:rPr lang="de-CH" sz="1400" baseline="0" dirty="0"/>
              <a:t> different </a:t>
            </a:r>
            <a:r>
              <a:rPr lang="de-CH" sz="1400" baseline="0" dirty="0" err="1"/>
              <a:t>flow</a:t>
            </a:r>
            <a:r>
              <a:rPr lang="de-CH" sz="1400" baseline="0" dirty="0"/>
              <a:t> </a:t>
            </a:r>
            <a:r>
              <a:rPr lang="de-CH" sz="1400" baseline="0" dirty="0" err="1"/>
              <a:t>rates</a:t>
            </a:r>
            <a:endParaRPr lang="de-CH" sz="1400" dirty="0"/>
          </a:p>
        </c:rich>
      </c:tx>
      <c:layout/>
      <c:overlay val="0"/>
    </c:title>
    <c:autoTitleDeleted val="0"/>
    <c:plotArea>
      <c:layout/>
      <c:barChart>
        <c:barDir val="col"/>
        <c:grouping val="stacked"/>
        <c:varyColors val="0"/>
        <c:ser>
          <c:idx val="0"/>
          <c:order val="0"/>
          <c:tx>
            <c:v>Rth_fluidLocal_to_fluidIn</c:v>
          </c:tx>
          <c:invertIfNegative val="0"/>
          <c:cat>
            <c:numRef>
              <c:f>'Tabelle2 (2)'!$B$43:$B$48</c:f>
              <c:numCache>
                <c:formatCode>General</c:formatCode>
                <c:ptCount val="6"/>
                <c:pt idx="0">
                  <c:v>0.75</c:v>
                </c:pt>
                <c:pt idx="1">
                  <c:v>1</c:v>
                </c:pt>
                <c:pt idx="2">
                  <c:v>1.5</c:v>
                </c:pt>
                <c:pt idx="3">
                  <c:v>2</c:v>
                </c:pt>
                <c:pt idx="4">
                  <c:v>2.5</c:v>
                </c:pt>
                <c:pt idx="5">
                  <c:v>3</c:v>
                </c:pt>
              </c:numCache>
            </c:numRef>
          </c:cat>
          <c:val>
            <c:numRef>
              <c:f>'Tabelle2 (2)'!$C$43:$C$48</c:f>
              <c:numCache>
                <c:formatCode>General</c:formatCode>
                <c:ptCount val="6"/>
                <c:pt idx="0">
                  <c:v>0.37648267299096699</c:v>
                </c:pt>
                <c:pt idx="1">
                  <c:v>0.28141291119727901</c:v>
                </c:pt>
                <c:pt idx="2">
                  <c:v>0.18698290231751899</c:v>
                </c:pt>
                <c:pt idx="3">
                  <c:v>0.140008603891769</c:v>
                </c:pt>
                <c:pt idx="4">
                  <c:v>0.111901326370429</c:v>
                </c:pt>
                <c:pt idx="5">
                  <c:v>9.3192749796999402E-2</c:v>
                </c:pt>
              </c:numCache>
            </c:numRef>
          </c:val>
        </c:ser>
        <c:ser>
          <c:idx val="1"/>
          <c:order val="1"/>
          <c:tx>
            <c:v>Rth_fluid_to_contactArea</c:v>
          </c:tx>
          <c:invertIfNegative val="0"/>
          <c:cat>
            <c:numRef>
              <c:f>'Tabelle2 (2)'!$B$43:$B$48</c:f>
              <c:numCache>
                <c:formatCode>General</c:formatCode>
                <c:ptCount val="6"/>
                <c:pt idx="0">
                  <c:v>0.75</c:v>
                </c:pt>
                <c:pt idx="1">
                  <c:v>1</c:v>
                </c:pt>
                <c:pt idx="2">
                  <c:v>1.5</c:v>
                </c:pt>
                <c:pt idx="3">
                  <c:v>2</c:v>
                </c:pt>
                <c:pt idx="4">
                  <c:v>2.5</c:v>
                </c:pt>
                <c:pt idx="5">
                  <c:v>3</c:v>
                </c:pt>
              </c:numCache>
            </c:numRef>
          </c:cat>
          <c:val>
            <c:numRef>
              <c:f>'Tabelle2 (2)'!$D$43:$D$48</c:f>
              <c:numCache>
                <c:formatCode>General</c:formatCode>
                <c:ptCount val="6"/>
                <c:pt idx="0">
                  <c:v>0.58222913274254995</c:v>
                </c:pt>
                <c:pt idx="1">
                  <c:v>0.57234400436118804</c:v>
                </c:pt>
                <c:pt idx="2">
                  <c:v>0.55231859896024205</c:v>
                </c:pt>
                <c:pt idx="3">
                  <c:v>0.53413989538737205</c:v>
                </c:pt>
                <c:pt idx="4">
                  <c:v>0.51809772673370103</c:v>
                </c:pt>
                <c:pt idx="5">
                  <c:v>0.50395384442010804</c:v>
                </c:pt>
              </c:numCache>
            </c:numRef>
          </c:val>
        </c:ser>
        <c:dLbls>
          <c:showLegendKey val="0"/>
          <c:showVal val="0"/>
          <c:showCatName val="0"/>
          <c:showSerName val="0"/>
          <c:showPercent val="0"/>
          <c:showBubbleSize val="0"/>
        </c:dLbls>
        <c:gapWidth val="55"/>
        <c:overlap val="100"/>
        <c:axId val="64277504"/>
        <c:axId val="64283392"/>
      </c:barChart>
      <c:catAx>
        <c:axId val="64277504"/>
        <c:scaling>
          <c:orientation val="minMax"/>
        </c:scaling>
        <c:delete val="0"/>
        <c:axPos val="b"/>
        <c:numFmt formatCode="General" sourceLinked="1"/>
        <c:majorTickMark val="none"/>
        <c:minorTickMark val="none"/>
        <c:tickLblPos val="nextTo"/>
        <c:crossAx val="64283392"/>
        <c:crosses val="autoZero"/>
        <c:auto val="1"/>
        <c:lblAlgn val="ctr"/>
        <c:lblOffset val="100"/>
        <c:noMultiLvlLbl val="0"/>
      </c:catAx>
      <c:valAx>
        <c:axId val="64283392"/>
        <c:scaling>
          <c:orientation val="minMax"/>
        </c:scaling>
        <c:delete val="0"/>
        <c:axPos val="l"/>
        <c:majorGridlines/>
        <c:numFmt formatCode="General" sourceLinked="1"/>
        <c:majorTickMark val="none"/>
        <c:minorTickMark val="none"/>
        <c:tickLblPos val="nextTo"/>
        <c:crossAx val="64277504"/>
        <c:crosses val="autoZero"/>
        <c:crossBetween val="between"/>
      </c:valAx>
    </c:plotArea>
    <c:legend>
      <c:legendPos val="r"/>
      <c:layout>
        <c:manualLayout>
          <c:xMode val="edge"/>
          <c:yMode val="edge"/>
          <c:x val="0.74668725522129031"/>
          <c:y val="0.46483595800524935"/>
          <c:w val="0.24923527346588753"/>
          <c:h val="0.16743438320209975"/>
        </c:manualLayout>
      </c:layout>
      <c:overlay val="0"/>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de-CH" sz="1400" dirty="0" err="1"/>
              <a:t>Rth</a:t>
            </a:r>
            <a:r>
              <a:rPr lang="de-CH" sz="1400" dirty="0"/>
              <a:t> [K/W] </a:t>
            </a:r>
            <a:r>
              <a:rPr lang="de-CH" sz="1400" dirty="0" err="1"/>
              <a:t>for</a:t>
            </a:r>
            <a:r>
              <a:rPr lang="de-CH" sz="1400" baseline="0" dirty="0"/>
              <a:t> last TO-247 </a:t>
            </a:r>
            <a:r>
              <a:rPr lang="de-CH" sz="1400" baseline="0" dirty="0" err="1"/>
              <a:t>for</a:t>
            </a:r>
            <a:r>
              <a:rPr lang="de-CH" sz="1400" baseline="0" dirty="0"/>
              <a:t> different </a:t>
            </a:r>
            <a:r>
              <a:rPr lang="de-CH" sz="1400" baseline="0" dirty="0" err="1"/>
              <a:t>flow</a:t>
            </a:r>
            <a:r>
              <a:rPr lang="de-CH" sz="1400" baseline="0" dirty="0"/>
              <a:t> </a:t>
            </a:r>
            <a:r>
              <a:rPr lang="de-CH" sz="1400" baseline="0" dirty="0" err="1"/>
              <a:t>rates</a:t>
            </a:r>
            <a:endParaRPr lang="de-CH" sz="1400" dirty="0"/>
          </a:p>
        </c:rich>
      </c:tx>
      <c:layout>
        <c:manualLayout>
          <c:xMode val="edge"/>
          <c:yMode val="edge"/>
          <c:x val="5.8552488052126136E-2"/>
          <c:y val="2.7777777777777776E-2"/>
        </c:manualLayout>
      </c:layout>
      <c:overlay val="0"/>
    </c:title>
    <c:autoTitleDeleted val="0"/>
    <c:plotArea>
      <c:layout/>
      <c:barChart>
        <c:barDir val="col"/>
        <c:grouping val="stacked"/>
        <c:varyColors val="0"/>
        <c:ser>
          <c:idx val="0"/>
          <c:order val="0"/>
          <c:tx>
            <c:v>Rth_fluidLocal_to_fluidIn</c:v>
          </c:tx>
          <c:invertIfNegative val="0"/>
          <c:cat>
            <c:numRef>
              <c:f>Tabelle2!$B$43:$B$48</c:f>
              <c:numCache>
                <c:formatCode>General</c:formatCode>
                <c:ptCount val="6"/>
                <c:pt idx="0">
                  <c:v>0.75</c:v>
                </c:pt>
                <c:pt idx="1">
                  <c:v>1</c:v>
                </c:pt>
                <c:pt idx="2">
                  <c:v>1.5</c:v>
                </c:pt>
                <c:pt idx="3">
                  <c:v>2</c:v>
                </c:pt>
                <c:pt idx="4">
                  <c:v>2.5</c:v>
                </c:pt>
                <c:pt idx="5">
                  <c:v>3</c:v>
                </c:pt>
              </c:numCache>
            </c:numRef>
          </c:cat>
          <c:val>
            <c:numRef>
              <c:f>Tabelle2!$C$43:$C$48</c:f>
              <c:numCache>
                <c:formatCode>General</c:formatCode>
                <c:ptCount val="6"/>
                <c:pt idx="0">
                  <c:v>0.37648267299096699</c:v>
                </c:pt>
                <c:pt idx="1">
                  <c:v>0.28141291119727901</c:v>
                </c:pt>
                <c:pt idx="2">
                  <c:v>0.18698290231751899</c:v>
                </c:pt>
                <c:pt idx="3">
                  <c:v>0.140008603891769</c:v>
                </c:pt>
                <c:pt idx="4">
                  <c:v>0.111901326370429</c:v>
                </c:pt>
                <c:pt idx="5">
                  <c:v>9.3192749796999402E-2</c:v>
                </c:pt>
              </c:numCache>
            </c:numRef>
          </c:val>
        </c:ser>
        <c:ser>
          <c:idx val="1"/>
          <c:order val="1"/>
          <c:tx>
            <c:v>Rth_fluid_to_contactArea</c:v>
          </c:tx>
          <c:invertIfNegative val="0"/>
          <c:cat>
            <c:numRef>
              <c:f>Tabelle2!$B$43:$B$48</c:f>
              <c:numCache>
                <c:formatCode>General</c:formatCode>
                <c:ptCount val="6"/>
                <c:pt idx="0">
                  <c:v>0.75</c:v>
                </c:pt>
                <c:pt idx="1">
                  <c:v>1</c:v>
                </c:pt>
                <c:pt idx="2">
                  <c:v>1.5</c:v>
                </c:pt>
                <c:pt idx="3">
                  <c:v>2</c:v>
                </c:pt>
                <c:pt idx="4">
                  <c:v>2.5</c:v>
                </c:pt>
                <c:pt idx="5">
                  <c:v>3</c:v>
                </c:pt>
              </c:numCache>
            </c:numRef>
          </c:cat>
          <c:val>
            <c:numRef>
              <c:f>Tabelle2!$D$43:$D$48</c:f>
              <c:numCache>
                <c:formatCode>General</c:formatCode>
                <c:ptCount val="6"/>
                <c:pt idx="0">
                  <c:v>0.454444716045316</c:v>
                </c:pt>
                <c:pt idx="1">
                  <c:v>0.45081070952027702</c:v>
                </c:pt>
                <c:pt idx="2">
                  <c:v>0.441697075839461</c:v>
                </c:pt>
                <c:pt idx="3">
                  <c:v>0.43215517923948499</c:v>
                </c:pt>
                <c:pt idx="4">
                  <c:v>0.42295979931731698</c:v>
                </c:pt>
                <c:pt idx="5">
                  <c:v>0.41433316975874401</c:v>
                </c:pt>
              </c:numCache>
            </c:numRef>
          </c:val>
        </c:ser>
        <c:dLbls>
          <c:showLegendKey val="0"/>
          <c:showVal val="0"/>
          <c:showCatName val="0"/>
          <c:showSerName val="0"/>
          <c:showPercent val="0"/>
          <c:showBubbleSize val="0"/>
        </c:dLbls>
        <c:gapWidth val="55"/>
        <c:overlap val="100"/>
        <c:axId val="78758272"/>
        <c:axId val="78759808"/>
      </c:barChart>
      <c:catAx>
        <c:axId val="78758272"/>
        <c:scaling>
          <c:orientation val="minMax"/>
        </c:scaling>
        <c:delete val="0"/>
        <c:axPos val="b"/>
        <c:numFmt formatCode="General" sourceLinked="1"/>
        <c:majorTickMark val="none"/>
        <c:minorTickMark val="none"/>
        <c:tickLblPos val="nextTo"/>
        <c:crossAx val="78759808"/>
        <c:crosses val="autoZero"/>
        <c:auto val="1"/>
        <c:lblAlgn val="ctr"/>
        <c:lblOffset val="100"/>
        <c:noMultiLvlLbl val="0"/>
      </c:catAx>
      <c:valAx>
        <c:axId val="78759808"/>
        <c:scaling>
          <c:orientation val="minMax"/>
        </c:scaling>
        <c:delete val="0"/>
        <c:axPos val="l"/>
        <c:majorGridlines/>
        <c:numFmt formatCode="General" sourceLinked="1"/>
        <c:majorTickMark val="none"/>
        <c:minorTickMark val="none"/>
        <c:tickLblPos val="nextTo"/>
        <c:crossAx val="78758272"/>
        <c:crosses val="autoZero"/>
        <c:crossBetween val="between"/>
      </c:valAx>
    </c:plotArea>
    <c:legend>
      <c:legendPos val="r"/>
      <c:layout>
        <c:manualLayout>
          <c:xMode val="edge"/>
          <c:yMode val="edge"/>
          <c:x val="0.66466508826663706"/>
          <c:y val="0.46483595800524935"/>
          <c:w val="0.3312574319013612"/>
          <c:h val="0.16743438320209975"/>
        </c:manualLayout>
      </c:layout>
      <c:overlay val="0"/>
    </c:legend>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de-C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1" i="0" u="none" strike="noStrike" kern="1200" baseline="0">
                <a:solidFill>
                  <a:sysClr val="windowText" lastClr="000000"/>
                </a:solidFill>
                <a:latin typeface="+mn-lt"/>
                <a:ea typeface="+mn-ea"/>
                <a:cs typeface="+mn-cs"/>
              </a:defRPr>
            </a:pPr>
            <a:r>
              <a:rPr lang="de-CH" sz="1400" b="1" i="0" baseline="0" dirty="0" err="1">
                <a:effectLst/>
              </a:rPr>
              <a:t>Rth</a:t>
            </a:r>
            <a:r>
              <a:rPr lang="de-CH" sz="1400" b="1" i="0" baseline="0" dirty="0">
                <a:effectLst/>
              </a:rPr>
              <a:t> [K/W] </a:t>
            </a:r>
            <a:r>
              <a:rPr lang="de-CH" sz="1400" b="1" i="0" baseline="0" dirty="0" err="1">
                <a:effectLst/>
              </a:rPr>
              <a:t>for</a:t>
            </a:r>
            <a:r>
              <a:rPr lang="de-CH" sz="1400" b="1" i="0" baseline="0" dirty="0">
                <a:effectLst/>
              </a:rPr>
              <a:t> TO-247 in </a:t>
            </a:r>
            <a:r>
              <a:rPr lang="de-CH" sz="1400" b="1" i="0" baseline="0" dirty="0" err="1">
                <a:effectLst/>
              </a:rPr>
              <a:t>series</a:t>
            </a:r>
            <a:r>
              <a:rPr lang="de-CH" sz="1400" b="1" i="0" baseline="0" dirty="0">
                <a:effectLst/>
              </a:rPr>
              <a:t> @ 1.5 L/min</a:t>
            </a:r>
            <a:endParaRPr lang="de-CH" sz="1400" dirty="0">
              <a:effectLst/>
            </a:endParaRPr>
          </a:p>
        </c:rich>
      </c:tx>
      <c:layout>
        <c:manualLayout>
          <c:xMode val="edge"/>
          <c:yMode val="edge"/>
          <c:x val="9.6143819642685369E-2"/>
          <c:y val="0"/>
        </c:manualLayout>
      </c:layout>
      <c:overlay val="0"/>
    </c:title>
    <c:autoTitleDeleted val="0"/>
    <c:plotArea>
      <c:layout/>
      <c:barChart>
        <c:barDir val="col"/>
        <c:grouping val="stacked"/>
        <c:varyColors val="0"/>
        <c:ser>
          <c:idx val="1"/>
          <c:order val="0"/>
          <c:tx>
            <c:v>Rth_fluidLocal_to_fluidIn</c:v>
          </c:tx>
          <c:spPr>
            <a:solidFill>
              <a:schemeClr val="accent1"/>
            </a:solidFill>
          </c:spPr>
          <c:invertIfNegative val="0"/>
          <c:cat>
            <c:numRef>
              <c:f>Tabelle2!$M$17:$M$25</c:f>
              <c:numCache>
                <c:formatCode>0</c:formatCode>
                <c:ptCount val="9"/>
                <c:pt idx="0">
                  <c:v>1</c:v>
                </c:pt>
                <c:pt idx="1">
                  <c:v>2</c:v>
                </c:pt>
                <c:pt idx="2">
                  <c:v>3</c:v>
                </c:pt>
                <c:pt idx="3">
                  <c:v>4</c:v>
                </c:pt>
                <c:pt idx="4">
                  <c:v>5</c:v>
                </c:pt>
                <c:pt idx="5">
                  <c:v>6</c:v>
                </c:pt>
                <c:pt idx="6">
                  <c:v>7</c:v>
                </c:pt>
                <c:pt idx="7">
                  <c:v>8</c:v>
                </c:pt>
                <c:pt idx="8">
                  <c:v>9</c:v>
                </c:pt>
              </c:numCache>
            </c:numRef>
          </c:cat>
          <c:val>
            <c:numRef>
              <c:f>Tabelle2!$N$17:$N$25</c:f>
              <c:numCache>
                <c:formatCode>0.0000</c:formatCode>
                <c:ptCount val="9"/>
                <c:pt idx="0">
                  <c:v>1.09465519621423E-2</c:v>
                </c:pt>
                <c:pt idx="1">
                  <c:v>3.2840254011733801E-2</c:v>
                </c:pt>
                <c:pt idx="2">
                  <c:v>5.4740841865243799E-2</c:v>
                </c:pt>
                <c:pt idx="3">
                  <c:v>7.6669801386790901E-2</c:v>
                </c:pt>
                <c:pt idx="4">
                  <c:v>9.8643024615827801E-2</c:v>
                </c:pt>
                <c:pt idx="5">
                  <c:v>0.120660719690885</c:v>
                </c:pt>
                <c:pt idx="6">
                  <c:v>0.14272311232974899</c:v>
                </c:pt>
                <c:pt idx="7">
                  <c:v>0.16483043007239201</c:v>
                </c:pt>
                <c:pt idx="8">
                  <c:v>0.18698290231751899</c:v>
                </c:pt>
              </c:numCache>
            </c:numRef>
          </c:val>
        </c:ser>
        <c:ser>
          <c:idx val="2"/>
          <c:order val="1"/>
          <c:tx>
            <c:v>Rth_fluid_to_contactArea</c:v>
          </c:tx>
          <c:spPr>
            <a:solidFill>
              <a:schemeClr val="accent2"/>
            </a:solidFill>
          </c:spPr>
          <c:invertIfNegative val="0"/>
          <c:cat>
            <c:numRef>
              <c:f>Tabelle2!$M$17:$M$25</c:f>
              <c:numCache>
                <c:formatCode>0</c:formatCode>
                <c:ptCount val="9"/>
                <c:pt idx="0">
                  <c:v>1</c:v>
                </c:pt>
                <c:pt idx="1">
                  <c:v>2</c:v>
                </c:pt>
                <c:pt idx="2">
                  <c:v>3</c:v>
                </c:pt>
                <c:pt idx="3">
                  <c:v>4</c:v>
                </c:pt>
                <c:pt idx="4">
                  <c:v>5</c:v>
                </c:pt>
                <c:pt idx="5">
                  <c:v>6</c:v>
                </c:pt>
                <c:pt idx="6">
                  <c:v>7</c:v>
                </c:pt>
                <c:pt idx="7">
                  <c:v>8</c:v>
                </c:pt>
                <c:pt idx="8">
                  <c:v>9</c:v>
                </c:pt>
              </c:numCache>
            </c:numRef>
          </c:cat>
          <c:val>
            <c:numRef>
              <c:f>Tabelle2!$O$17:$O$25</c:f>
              <c:numCache>
                <c:formatCode>0.0000</c:formatCode>
                <c:ptCount val="9"/>
                <c:pt idx="0">
                  <c:v>0.26280215991274503</c:v>
                </c:pt>
                <c:pt idx="1">
                  <c:v>0.35135062889045698</c:v>
                </c:pt>
                <c:pt idx="2">
                  <c:v>0.384676698126939</c:v>
                </c:pt>
                <c:pt idx="3">
                  <c:v>0.40432929930745698</c:v>
                </c:pt>
                <c:pt idx="4">
                  <c:v>0.41726398175386498</c:v>
                </c:pt>
                <c:pt idx="5">
                  <c:v>0.42631744509514202</c:v>
                </c:pt>
                <c:pt idx="6">
                  <c:v>0.43292091800867499</c:v>
                </c:pt>
                <c:pt idx="7">
                  <c:v>0.43788329514304702</c:v>
                </c:pt>
                <c:pt idx="8">
                  <c:v>0.441697075839461</c:v>
                </c:pt>
              </c:numCache>
            </c:numRef>
          </c:val>
        </c:ser>
        <c:dLbls>
          <c:showLegendKey val="0"/>
          <c:showVal val="0"/>
          <c:showCatName val="0"/>
          <c:showSerName val="0"/>
          <c:showPercent val="0"/>
          <c:showBubbleSize val="0"/>
        </c:dLbls>
        <c:gapWidth val="55"/>
        <c:overlap val="100"/>
        <c:axId val="78822016"/>
        <c:axId val="78827904"/>
      </c:barChart>
      <c:catAx>
        <c:axId val="78822016"/>
        <c:scaling>
          <c:orientation val="minMax"/>
        </c:scaling>
        <c:delete val="0"/>
        <c:axPos val="b"/>
        <c:numFmt formatCode="0" sourceLinked="1"/>
        <c:majorTickMark val="none"/>
        <c:minorTickMark val="none"/>
        <c:tickLblPos val="nextTo"/>
        <c:crossAx val="78827904"/>
        <c:crosses val="autoZero"/>
        <c:auto val="1"/>
        <c:lblAlgn val="ctr"/>
        <c:lblOffset val="100"/>
        <c:noMultiLvlLbl val="0"/>
      </c:catAx>
      <c:valAx>
        <c:axId val="78827904"/>
        <c:scaling>
          <c:orientation val="minMax"/>
        </c:scaling>
        <c:delete val="0"/>
        <c:axPos val="l"/>
        <c:majorGridlines/>
        <c:numFmt formatCode="0.0000" sourceLinked="1"/>
        <c:majorTickMark val="none"/>
        <c:minorTickMark val="none"/>
        <c:tickLblPos val="nextTo"/>
        <c:crossAx val="78822016"/>
        <c:crosses val="autoZero"/>
        <c:crossBetween val="between"/>
      </c:valAx>
    </c:plotArea>
    <c:legend>
      <c:legendPos val="r"/>
      <c:layout/>
      <c:overlay val="0"/>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0C9E7421-8443-456D-834B-C2B9267D23DA}" type="datetimeFigureOut">
              <a:rPr lang="de-CH" smtClean="0"/>
              <a:t>11.01.2018</a:t>
            </a:fld>
            <a:endParaRPr lang="de-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A01BE7D5-DE8F-426F-9501-FC6DFC5632C8}" type="slidenum">
              <a:rPr lang="de-CH" smtClean="0"/>
              <a:t>‹Nr.›</a:t>
            </a:fld>
            <a:endParaRPr lang="de-CH"/>
          </a:p>
        </p:txBody>
      </p:sp>
    </p:spTree>
    <p:extLst>
      <p:ext uri="{BB962C8B-B14F-4D97-AF65-F5344CB8AC3E}">
        <p14:creationId xmlns:p14="http://schemas.microsoft.com/office/powerpoint/2010/main" val="14181669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2"/>
            <a:ext cx="2945862" cy="49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554" tIns="47777" rIns="95554" bIns="47777" numCol="1" anchor="t" anchorCtr="0" compatLnSpc="1">
            <a:prstTxWarp prst="textNoShape">
              <a:avLst/>
            </a:prstTxWarp>
          </a:bodyPr>
          <a:lstStyle>
            <a:lvl1pPr defTabSz="955656">
              <a:defRPr sz="1300"/>
            </a:lvl1pPr>
          </a:lstStyle>
          <a:p>
            <a:endParaRPr lang="de-CH"/>
          </a:p>
        </p:txBody>
      </p:sp>
      <p:sp>
        <p:nvSpPr>
          <p:cNvPr id="6147" name="Rectangle 3"/>
          <p:cNvSpPr>
            <a:spLocks noGrp="1" noChangeArrowheads="1"/>
          </p:cNvSpPr>
          <p:nvPr>
            <p:ph type="dt" idx="1"/>
          </p:nvPr>
        </p:nvSpPr>
        <p:spPr bwMode="auto">
          <a:xfrm>
            <a:off x="3850295" y="2"/>
            <a:ext cx="2945862" cy="49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554" tIns="47777" rIns="95554" bIns="47777" numCol="1" anchor="t" anchorCtr="0" compatLnSpc="1">
            <a:prstTxWarp prst="textNoShape">
              <a:avLst/>
            </a:prstTxWarp>
          </a:bodyPr>
          <a:lstStyle>
            <a:lvl1pPr algn="r" defTabSz="955656">
              <a:defRPr sz="1300"/>
            </a:lvl1pPr>
          </a:lstStyle>
          <a:p>
            <a:endParaRPr lang="de-CH"/>
          </a:p>
        </p:txBody>
      </p:sp>
      <p:sp>
        <p:nvSpPr>
          <p:cNvPr id="6148" name="Rectangle 4"/>
          <p:cNvSpPr>
            <a:spLocks noGrp="1" noRot="1" noChangeAspect="1" noChangeArrowheads="1" noTextEdit="1"/>
          </p:cNvSpPr>
          <p:nvPr>
            <p:ph type="sldImg" idx="2"/>
          </p:nvPr>
        </p:nvSpPr>
        <p:spPr bwMode="auto">
          <a:xfrm>
            <a:off x="768350" y="746125"/>
            <a:ext cx="5260975" cy="37211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79465" y="4715407"/>
            <a:ext cx="5438748" cy="4467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554" tIns="47777" rIns="95554" bIns="47777" numCol="1" anchor="t" anchorCtr="0" compatLnSpc="1">
            <a:prstTxWarp prst="textNoShape">
              <a:avLst/>
            </a:prstTxWarp>
          </a:bodyPr>
          <a:lstStyle/>
          <a:p>
            <a:pPr lvl="0"/>
            <a:r>
              <a:rPr lang="de-CH" smtClean="0"/>
              <a:t>Textmasterformate durch Klicken bearbeiten</a:t>
            </a:r>
          </a:p>
          <a:p>
            <a:pPr lvl="1"/>
            <a:r>
              <a:rPr lang="de-CH" smtClean="0"/>
              <a:t>Zweite Ebene</a:t>
            </a:r>
          </a:p>
          <a:p>
            <a:pPr lvl="2"/>
            <a:r>
              <a:rPr lang="de-CH" smtClean="0"/>
              <a:t>Dritte Ebene</a:t>
            </a:r>
          </a:p>
          <a:p>
            <a:pPr lvl="3"/>
            <a:r>
              <a:rPr lang="de-CH" smtClean="0"/>
              <a:t>Vierte Ebene</a:t>
            </a:r>
          </a:p>
          <a:p>
            <a:pPr lvl="4"/>
            <a:r>
              <a:rPr lang="de-CH" smtClean="0"/>
              <a:t>Fünfte Ebene</a:t>
            </a:r>
          </a:p>
        </p:txBody>
      </p:sp>
      <p:sp>
        <p:nvSpPr>
          <p:cNvPr id="6150" name="Rectangle 6"/>
          <p:cNvSpPr>
            <a:spLocks noGrp="1" noChangeArrowheads="1"/>
          </p:cNvSpPr>
          <p:nvPr>
            <p:ph type="ftr" sz="quarter" idx="4"/>
          </p:nvPr>
        </p:nvSpPr>
        <p:spPr bwMode="auto">
          <a:xfrm>
            <a:off x="1" y="9430815"/>
            <a:ext cx="2945862" cy="49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554" tIns="47777" rIns="95554" bIns="47777" numCol="1" anchor="b" anchorCtr="0" compatLnSpc="1">
            <a:prstTxWarp prst="textNoShape">
              <a:avLst/>
            </a:prstTxWarp>
          </a:bodyPr>
          <a:lstStyle>
            <a:lvl1pPr defTabSz="955656">
              <a:defRPr sz="1300"/>
            </a:lvl1pPr>
          </a:lstStyle>
          <a:p>
            <a:endParaRPr lang="de-CH"/>
          </a:p>
        </p:txBody>
      </p:sp>
      <p:sp>
        <p:nvSpPr>
          <p:cNvPr id="6151" name="Rectangle 7"/>
          <p:cNvSpPr>
            <a:spLocks noGrp="1" noChangeArrowheads="1"/>
          </p:cNvSpPr>
          <p:nvPr>
            <p:ph type="sldNum" sz="quarter" idx="5"/>
          </p:nvPr>
        </p:nvSpPr>
        <p:spPr bwMode="auto">
          <a:xfrm>
            <a:off x="3850295" y="9430815"/>
            <a:ext cx="2945862" cy="495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554" tIns="47777" rIns="95554" bIns="47777" numCol="1" anchor="b" anchorCtr="0" compatLnSpc="1">
            <a:prstTxWarp prst="textNoShape">
              <a:avLst/>
            </a:prstTxWarp>
          </a:bodyPr>
          <a:lstStyle>
            <a:lvl1pPr algn="r" defTabSz="955656">
              <a:defRPr sz="1300"/>
            </a:lvl1pPr>
          </a:lstStyle>
          <a:p>
            <a:fld id="{A9B44DFB-9451-4406-A6E7-EBA57FB91370}" type="slidenum">
              <a:rPr lang="de-CH"/>
              <a:pPr/>
              <a:t>‹Nr.›</a:t>
            </a:fld>
            <a:endParaRPr lang="de-CH"/>
          </a:p>
        </p:txBody>
      </p:sp>
    </p:spTree>
    <p:extLst>
      <p:ext uri="{BB962C8B-B14F-4D97-AF65-F5344CB8AC3E}">
        <p14:creationId xmlns:p14="http://schemas.microsoft.com/office/powerpoint/2010/main" val="35798872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4679950"/>
            <a:ext cx="10693400" cy="2881313"/>
          </a:xfrm>
          <a:prstGeom prst="rect">
            <a:avLst/>
          </a:prstGeom>
          <a:solidFill>
            <a:srgbClr val="EBEB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CH"/>
          </a:p>
        </p:txBody>
      </p:sp>
      <p:sp>
        <p:nvSpPr>
          <p:cNvPr id="39939" name="Rectangle 3"/>
          <p:cNvSpPr>
            <a:spLocks noChangeArrowheads="1"/>
          </p:cNvSpPr>
          <p:nvPr/>
        </p:nvSpPr>
        <p:spPr bwMode="auto">
          <a:xfrm>
            <a:off x="0" y="6442075"/>
            <a:ext cx="10693400" cy="1119188"/>
          </a:xfrm>
          <a:prstGeom prst="rect">
            <a:avLst/>
          </a:prstGeom>
          <a:solidFill>
            <a:srgbClr val="BE0000"/>
          </a:solidFill>
          <a:ln>
            <a:noFill/>
          </a:ln>
          <a:effectLst/>
          <a:extLst/>
        </p:spPr>
        <p:txBody>
          <a:bodyPr wrap="none" lIns="91424" tIns="45712" rIns="91424" bIns="45712" anchor="ctr"/>
          <a:lstStyle/>
          <a:p>
            <a:pPr algn="ctr" defTabSz="1008063"/>
            <a:endParaRPr lang="de-DE"/>
          </a:p>
        </p:txBody>
      </p:sp>
      <p:sp>
        <p:nvSpPr>
          <p:cNvPr id="39940" name="Rectangle 4"/>
          <p:cNvSpPr>
            <a:spLocks noGrp="1" noChangeArrowheads="1"/>
          </p:cNvSpPr>
          <p:nvPr>
            <p:ph type="ctrTitle"/>
          </p:nvPr>
        </p:nvSpPr>
        <p:spPr>
          <a:xfrm>
            <a:off x="377825" y="2349500"/>
            <a:ext cx="5761038" cy="2330450"/>
          </a:xfrm>
        </p:spPr>
        <p:txBody>
          <a:bodyPr/>
          <a:lstStyle>
            <a:lvl1pPr algn="r">
              <a:defRPr sz="3600"/>
            </a:lvl1pPr>
          </a:lstStyle>
          <a:p>
            <a:pPr lvl="0"/>
            <a:r>
              <a:rPr lang="de-DE" noProof="0" smtClean="0"/>
              <a:t>Titelmasterformat durch Klicken bearbeiten</a:t>
            </a:r>
            <a:endParaRPr lang="de-CH" noProof="0" smtClean="0"/>
          </a:p>
        </p:txBody>
      </p:sp>
      <p:sp>
        <p:nvSpPr>
          <p:cNvPr id="39941" name="Rectangle 5"/>
          <p:cNvSpPr>
            <a:spLocks noGrp="1" noChangeArrowheads="1"/>
          </p:cNvSpPr>
          <p:nvPr>
            <p:ph type="subTitle" idx="1"/>
          </p:nvPr>
        </p:nvSpPr>
        <p:spPr>
          <a:xfrm>
            <a:off x="6318250" y="4679950"/>
            <a:ext cx="3889375" cy="1762125"/>
          </a:xfrm>
        </p:spPr>
        <p:txBody>
          <a:bodyPr numCol="1"/>
          <a:lstStyle>
            <a:lvl1pPr marL="0" indent="0">
              <a:buFontTx/>
              <a:buNone/>
              <a:defRPr sz="2000"/>
            </a:lvl1pPr>
          </a:lstStyle>
          <a:p>
            <a:pPr lvl="0"/>
            <a:r>
              <a:rPr lang="de-DE" noProof="0" smtClean="0"/>
              <a:t>Formatvorlage des Untertitelmasters durch Klicken bearbeiten</a:t>
            </a:r>
            <a:endParaRPr lang="de-CH" noProof="0" dirty="0" smtClean="0"/>
          </a:p>
        </p:txBody>
      </p:sp>
      <p:sp>
        <p:nvSpPr>
          <p:cNvPr id="39942" name="Rectangle 6"/>
          <p:cNvSpPr>
            <a:spLocks noGrp="1" noChangeArrowheads="1"/>
          </p:cNvSpPr>
          <p:nvPr>
            <p:ph type="dt" sz="half" idx="2"/>
          </p:nvPr>
        </p:nvSpPr>
        <p:spPr>
          <a:xfrm>
            <a:off x="6318250" y="6945313"/>
            <a:ext cx="1584325" cy="287337"/>
          </a:xfrm>
        </p:spPr>
        <p:txBody>
          <a:bodyPr/>
          <a:lstStyle>
            <a:lvl1pPr>
              <a:defRPr/>
            </a:lvl1pPr>
          </a:lstStyle>
          <a:p>
            <a:endParaRPr lang="de-CH"/>
          </a:p>
        </p:txBody>
      </p:sp>
      <p:sp>
        <p:nvSpPr>
          <p:cNvPr id="39943" name="Rectangle 7"/>
          <p:cNvSpPr>
            <a:spLocks noGrp="1" noChangeArrowheads="1"/>
          </p:cNvSpPr>
          <p:nvPr>
            <p:ph type="ftr" sz="quarter" idx="3"/>
          </p:nvPr>
        </p:nvSpPr>
        <p:spPr>
          <a:xfrm>
            <a:off x="522288" y="6945313"/>
            <a:ext cx="3168650" cy="287337"/>
          </a:xfrm>
        </p:spPr>
        <p:txBody>
          <a:bodyPr/>
          <a:lstStyle>
            <a:lvl1pPr>
              <a:defRPr/>
            </a:lvl1pPr>
          </a:lstStyle>
          <a:p>
            <a:r>
              <a:rPr lang="de-CH"/>
              <a:t>www.brusa.biz</a:t>
            </a:r>
          </a:p>
        </p:txBody>
      </p:sp>
      <p:sp>
        <p:nvSpPr>
          <p:cNvPr id="39944" name="Rectangle 8"/>
          <p:cNvSpPr>
            <a:spLocks noGrp="1" noChangeArrowheads="1"/>
          </p:cNvSpPr>
          <p:nvPr>
            <p:ph type="sldNum" sz="quarter" idx="4"/>
          </p:nvPr>
        </p:nvSpPr>
        <p:spPr>
          <a:xfrm>
            <a:off x="8731250" y="6945313"/>
            <a:ext cx="1439863" cy="287337"/>
          </a:xfrm>
        </p:spPr>
        <p:txBody>
          <a:bodyPr/>
          <a:lstStyle>
            <a:lvl1pPr>
              <a:defRPr/>
            </a:lvl1pPr>
          </a:lstStyle>
          <a:p>
            <a:r>
              <a:rPr lang="de-CH" dirty="0" smtClean="0">
                <a:solidFill>
                  <a:srgbClr val="FFC000"/>
                </a:solidFill>
              </a:rPr>
              <a:t>|</a:t>
            </a:r>
            <a:r>
              <a:rPr lang="de-CH" dirty="0" smtClean="0"/>
              <a:t> </a:t>
            </a:r>
            <a:fld id="{A3378CA0-A682-48A0-9A18-96D4F120E835}" type="slidenum">
              <a:rPr lang="de-CH" smtClean="0"/>
              <a:pPr/>
              <a:t>‹Nr.›</a:t>
            </a:fld>
            <a:r>
              <a:rPr lang="de-CH" dirty="0" smtClean="0"/>
              <a:t> </a:t>
            </a:r>
            <a:endParaRPr lang="de-CH" dirty="0"/>
          </a:p>
        </p:txBody>
      </p:sp>
      <p:pic>
        <p:nvPicPr>
          <p:cNvPr id="12" name="Grafik 11"/>
          <p:cNvPicPr>
            <a:picLocks noChangeAspect="1"/>
          </p:cNvPicPr>
          <p:nvPr userDrawn="1"/>
        </p:nvPicPr>
        <p:blipFill>
          <a:blip r:embed="rId2" cstate="print">
            <a:lum bright="-5000" contrast="25000"/>
            <a:extLst>
              <a:ext uri="{28A0092B-C50C-407E-A947-70E740481C1C}">
                <a14:useLocalDpi xmlns:a14="http://schemas.microsoft.com/office/drawing/2010/main" val="0"/>
              </a:ext>
            </a:extLst>
          </a:blip>
          <a:stretch>
            <a:fillRect/>
          </a:stretch>
        </p:blipFill>
        <p:spPr>
          <a:xfrm>
            <a:off x="8886297" y="524544"/>
            <a:ext cx="1332848" cy="270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p:txBody>
          <a:bodyPr/>
          <a:lstStyle>
            <a:lvl1pPr marL="342900" indent="-342900">
              <a:buClr>
                <a:srgbClr val="BE0000"/>
              </a:buClr>
              <a:buFont typeface="Arial" panose="020B0604020202020204" pitchFamily="34" charset="0"/>
              <a:buChar char="■"/>
              <a:defRPr/>
            </a:lvl1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dirty="0"/>
          </a:p>
        </p:txBody>
      </p:sp>
      <p:sp>
        <p:nvSpPr>
          <p:cNvPr id="4" name="Datumsplatzhalter 3"/>
          <p:cNvSpPr>
            <a:spLocks noGrp="1"/>
          </p:cNvSpPr>
          <p:nvPr>
            <p:ph type="dt" sz="half" idx="10"/>
          </p:nvPr>
        </p:nvSpPr>
        <p:spPr/>
        <p:txBody>
          <a:bodyPr/>
          <a:lstStyle>
            <a:lvl1pPr>
              <a:defRPr/>
            </a:lvl1pPr>
          </a:lstStyle>
          <a:p>
            <a:endParaRPr lang="de-CH" dirty="0"/>
          </a:p>
        </p:txBody>
      </p:sp>
      <p:sp>
        <p:nvSpPr>
          <p:cNvPr id="5" name="Fußzeilenplatzhalter 4"/>
          <p:cNvSpPr>
            <a:spLocks noGrp="1"/>
          </p:cNvSpPr>
          <p:nvPr>
            <p:ph type="ftr" sz="quarter" idx="11"/>
          </p:nvPr>
        </p:nvSpPr>
        <p:spPr/>
        <p:txBody>
          <a:bodyPr/>
          <a:lstStyle>
            <a:lvl1pPr>
              <a:defRPr/>
            </a:lvl1pPr>
          </a:lstStyle>
          <a:p>
            <a:r>
              <a:rPr lang="de-CH"/>
              <a:t>www.brusa.biz</a:t>
            </a:r>
          </a:p>
        </p:txBody>
      </p:sp>
      <p:sp>
        <p:nvSpPr>
          <p:cNvPr id="6" name="Foliennummernplatzhalter 5"/>
          <p:cNvSpPr>
            <a:spLocks noGrp="1"/>
          </p:cNvSpPr>
          <p:nvPr>
            <p:ph type="sldNum" sz="quarter" idx="12"/>
          </p:nvPr>
        </p:nvSpPr>
        <p:spPr/>
        <p:txBody>
          <a:bodyPr/>
          <a:lstStyle>
            <a:lvl1pPr>
              <a:defRPr/>
            </a:lvl1pPr>
          </a:lstStyle>
          <a:p>
            <a:r>
              <a:rPr lang="de-CH" dirty="0" smtClean="0">
                <a:solidFill>
                  <a:srgbClr val="FFC000"/>
                </a:solidFill>
              </a:rPr>
              <a:t>|</a:t>
            </a:r>
            <a:r>
              <a:rPr lang="de-CH" dirty="0" smtClean="0"/>
              <a:t> </a:t>
            </a:r>
            <a:fld id="{D292BFA0-4485-4C93-BCC8-15EFB3A4F9EE}" type="slidenum">
              <a:rPr lang="de-CH" smtClean="0"/>
              <a:pPr/>
              <a:t>‹Nr.›</a:t>
            </a:fld>
            <a:r>
              <a:rPr lang="de-CH" dirty="0" smtClean="0"/>
              <a:t> </a:t>
            </a:r>
            <a:endParaRPr lang="de-CH" dirty="0"/>
          </a:p>
        </p:txBody>
      </p:sp>
    </p:spTree>
    <p:extLst>
      <p:ext uri="{BB962C8B-B14F-4D97-AF65-F5344CB8AC3E}">
        <p14:creationId xmlns:p14="http://schemas.microsoft.com/office/powerpoint/2010/main" val="355305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CH" dirty="0"/>
          </a:p>
        </p:txBody>
      </p:sp>
      <p:sp>
        <p:nvSpPr>
          <p:cNvPr id="3" name="Datumsplatzhalter 2"/>
          <p:cNvSpPr>
            <a:spLocks noGrp="1"/>
          </p:cNvSpPr>
          <p:nvPr>
            <p:ph type="dt" sz="half" idx="10"/>
          </p:nvPr>
        </p:nvSpPr>
        <p:spPr/>
        <p:txBody>
          <a:bodyPr/>
          <a:lstStyle/>
          <a:p>
            <a:endParaRPr lang="de-CH"/>
          </a:p>
        </p:txBody>
      </p:sp>
      <p:sp>
        <p:nvSpPr>
          <p:cNvPr id="4" name="Fußzeilenplatzhalter 3"/>
          <p:cNvSpPr>
            <a:spLocks noGrp="1"/>
          </p:cNvSpPr>
          <p:nvPr>
            <p:ph type="ftr" sz="quarter" idx="11"/>
          </p:nvPr>
        </p:nvSpPr>
        <p:spPr/>
        <p:txBody>
          <a:bodyPr/>
          <a:lstStyle/>
          <a:p>
            <a:r>
              <a:rPr lang="de-CH" smtClean="0"/>
              <a:t>www.brusa.biz</a:t>
            </a:r>
            <a:endParaRPr lang="de-CH" dirty="0"/>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C56D9C70-3D5C-49EE-8BBA-F777F4B7BA2D}" type="slidenum">
              <a:rPr lang="de-CH" smtClean="0"/>
              <a:pPr/>
              <a:t>‹Nr.›</a:t>
            </a:fld>
            <a:r>
              <a:rPr lang="de-CH" smtClean="0"/>
              <a:t> </a:t>
            </a:r>
            <a:endParaRPr lang="de-CH" dirty="0"/>
          </a:p>
        </p:txBody>
      </p:sp>
    </p:spTree>
    <p:extLst>
      <p:ext uri="{BB962C8B-B14F-4D97-AF65-F5344CB8AC3E}">
        <p14:creationId xmlns:p14="http://schemas.microsoft.com/office/powerpoint/2010/main" val="864467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ere Seit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endParaRPr lang="de-CH"/>
          </a:p>
        </p:txBody>
      </p:sp>
      <p:sp>
        <p:nvSpPr>
          <p:cNvPr id="4" name="Fußzeilenplatzhalter 3"/>
          <p:cNvSpPr>
            <a:spLocks noGrp="1"/>
          </p:cNvSpPr>
          <p:nvPr>
            <p:ph type="ftr" sz="quarter" idx="11"/>
          </p:nvPr>
        </p:nvSpPr>
        <p:spPr/>
        <p:txBody>
          <a:bodyPr/>
          <a:lstStyle/>
          <a:p>
            <a:r>
              <a:rPr lang="de-CH" smtClean="0"/>
              <a:t>www.brusa.biz</a:t>
            </a:r>
            <a:endParaRPr lang="de-CH" dirty="0"/>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C56D9C70-3D5C-49EE-8BBA-F777F4B7BA2D}" type="slidenum">
              <a:rPr lang="de-CH" smtClean="0"/>
              <a:pPr/>
              <a:t>‹Nr.›</a:t>
            </a:fld>
            <a:r>
              <a:rPr lang="de-CH" smtClean="0"/>
              <a:t> </a:t>
            </a:r>
            <a:endParaRPr lang="de-CH" dirty="0"/>
          </a:p>
        </p:txBody>
      </p:sp>
    </p:spTree>
    <p:extLst>
      <p:ext uri="{BB962C8B-B14F-4D97-AF65-F5344CB8AC3E}">
        <p14:creationId xmlns:p14="http://schemas.microsoft.com/office/powerpoint/2010/main" val="19083874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w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6442075"/>
            <a:ext cx="10693400" cy="1119188"/>
          </a:xfrm>
          <a:prstGeom prst="rect">
            <a:avLst/>
          </a:prstGeom>
          <a:solidFill>
            <a:srgbClr val="EBEB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CH"/>
          </a:p>
        </p:txBody>
      </p:sp>
      <p:sp>
        <p:nvSpPr>
          <p:cNvPr id="1032" name="Rectangle 8"/>
          <p:cNvSpPr>
            <a:spLocks noChangeArrowheads="1"/>
          </p:cNvSpPr>
          <p:nvPr/>
        </p:nvSpPr>
        <p:spPr bwMode="auto">
          <a:xfrm>
            <a:off x="0" y="7127875"/>
            <a:ext cx="10693400" cy="433388"/>
          </a:xfrm>
          <a:prstGeom prst="rect">
            <a:avLst/>
          </a:prstGeom>
          <a:solidFill>
            <a:srgbClr val="BE0000"/>
          </a:solidFill>
          <a:ln>
            <a:noFill/>
          </a:ln>
          <a:effectLst/>
          <a:extLst/>
        </p:spPr>
        <p:txBody>
          <a:bodyPr wrap="none" lIns="91424" tIns="45712" rIns="91424" bIns="45712" anchor="ctr"/>
          <a:lstStyle/>
          <a:p>
            <a:pPr algn="ctr" defTabSz="1008063"/>
            <a:endParaRPr lang="de-DE"/>
          </a:p>
        </p:txBody>
      </p:sp>
      <p:sp>
        <p:nvSpPr>
          <p:cNvPr id="1026" name="Rectangle 2"/>
          <p:cNvSpPr>
            <a:spLocks noGrp="1" noChangeArrowheads="1"/>
          </p:cNvSpPr>
          <p:nvPr>
            <p:ph type="title"/>
          </p:nvPr>
        </p:nvSpPr>
        <p:spPr bwMode="auto">
          <a:xfrm>
            <a:off x="485774" y="131763"/>
            <a:ext cx="7915275"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393" rIns="100785" bIns="50393" numCol="1" anchor="b" anchorCtr="0" compatLnSpc="1">
            <a:prstTxWarp prst="textNoShape">
              <a:avLst/>
            </a:prstTxWarp>
          </a:bodyPr>
          <a:lstStyle/>
          <a:p>
            <a:pPr lvl="0"/>
            <a:r>
              <a:rPr lang="de-CH" dirty="0" smtClean="0"/>
              <a:t>Titelmasterformat durch Klicken bearbeiten</a:t>
            </a:r>
          </a:p>
        </p:txBody>
      </p:sp>
      <p:sp>
        <p:nvSpPr>
          <p:cNvPr id="1027" name="Rectangle 3"/>
          <p:cNvSpPr>
            <a:spLocks noGrp="1" noChangeArrowheads="1"/>
          </p:cNvSpPr>
          <p:nvPr>
            <p:ph type="body" idx="1"/>
          </p:nvPr>
        </p:nvSpPr>
        <p:spPr bwMode="auto">
          <a:xfrm>
            <a:off x="485774" y="1331913"/>
            <a:ext cx="9721852" cy="511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spcCol="180000" anchor="t" anchorCtr="0" compatLnSpc="1">
            <a:prstTxWarp prst="textNoShape">
              <a:avLst/>
            </a:prstTxWarp>
            <a:normAutofit/>
          </a:bodyPr>
          <a:lstStyle/>
          <a:p>
            <a:pPr lvl="0"/>
            <a:r>
              <a:rPr lang="de-CH" dirty="0" smtClean="0"/>
              <a:t>Textmasterformate durch Klicken bearbeiten</a:t>
            </a:r>
          </a:p>
          <a:p>
            <a:pPr lvl="1"/>
            <a:r>
              <a:rPr lang="de-CH" dirty="0" smtClean="0"/>
              <a:t>Zweite Ebene</a:t>
            </a:r>
          </a:p>
          <a:p>
            <a:pPr lvl="2"/>
            <a:r>
              <a:rPr lang="de-CH" dirty="0" smtClean="0"/>
              <a:t>Dritte Ebene</a:t>
            </a:r>
          </a:p>
          <a:p>
            <a:pPr lvl="3"/>
            <a:r>
              <a:rPr lang="de-CH" dirty="0" smtClean="0"/>
              <a:t>Vierte Ebene</a:t>
            </a:r>
          </a:p>
          <a:p>
            <a:pPr lvl="4"/>
            <a:r>
              <a:rPr lang="de-CH" dirty="0" smtClean="0"/>
              <a:t>Fünfte Ebene</a:t>
            </a:r>
          </a:p>
        </p:txBody>
      </p:sp>
      <p:sp>
        <p:nvSpPr>
          <p:cNvPr id="1028" name="Rectangle 4"/>
          <p:cNvSpPr>
            <a:spLocks noGrp="1" noChangeArrowheads="1"/>
          </p:cNvSpPr>
          <p:nvPr>
            <p:ph type="dt" sz="half" idx="2"/>
          </p:nvPr>
        </p:nvSpPr>
        <p:spPr bwMode="auto">
          <a:xfrm>
            <a:off x="6354763" y="7237413"/>
            <a:ext cx="1655762"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792" rIns="0" bIns="46792" numCol="1" anchor="t" anchorCtr="0" compatLnSpc="1">
            <a:prstTxWarp prst="textNoShape">
              <a:avLst/>
            </a:prstTxWarp>
          </a:bodyPr>
          <a:lstStyle>
            <a:lvl1pPr defTabSz="1008063">
              <a:defRPr sz="1000" b="1">
                <a:solidFill>
                  <a:srgbClr val="EBEBEB"/>
                </a:solidFill>
              </a:defRPr>
            </a:lvl1pPr>
          </a:lstStyle>
          <a:p>
            <a:endParaRPr lang="de-CH"/>
          </a:p>
        </p:txBody>
      </p:sp>
      <p:sp>
        <p:nvSpPr>
          <p:cNvPr id="1029" name="Rectangle 5"/>
          <p:cNvSpPr>
            <a:spLocks noGrp="1" noChangeArrowheads="1"/>
          </p:cNvSpPr>
          <p:nvPr>
            <p:ph type="ftr" sz="quarter" idx="3"/>
          </p:nvPr>
        </p:nvSpPr>
        <p:spPr bwMode="auto">
          <a:xfrm>
            <a:off x="485776" y="7237413"/>
            <a:ext cx="208915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792" rIns="0" bIns="46792" numCol="1" anchor="t" anchorCtr="0" compatLnSpc="1">
            <a:prstTxWarp prst="textNoShape">
              <a:avLst/>
            </a:prstTxWarp>
          </a:bodyPr>
          <a:lstStyle>
            <a:lvl1pPr defTabSz="1008063">
              <a:defRPr sz="1000" b="1">
                <a:solidFill>
                  <a:srgbClr val="EBEBEB"/>
                </a:solidFill>
              </a:defRPr>
            </a:lvl1pPr>
          </a:lstStyle>
          <a:p>
            <a:r>
              <a:rPr lang="de-CH" dirty="0"/>
              <a:t>www.brusa.biz</a:t>
            </a:r>
          </a:p>
        </p:txBody>
      </p:sp>
      <p:sp>
        <p:nvSpPr>
          <p:cNvPr id="1030" name="Rectangle 6"/>
          <p:cNvSpPr>
            <a:spLocks noGrp="1" noChangeArrowheads="1"/>
          </p:cNvSpPr>
          <p:nvPr>
            <p:ph type="sldNum" sz="quarter" idx="4"/>
          </p:nvPr>
        </p:nvSpPr>
        <p:spPr bwMode="auto">
          <a:xfrm>
            <a:off x="8478838" y="7237413"/>
            <a:ext cx="169227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792" rIns="0" bIns="46792" numCol="1" anchor="t" anchorCtr="0" compatLnSpc="1">
            <a:prstTxWarp prst="textNoShape">
              <a:avLst/>
            </a:prstTxWarp>
          </a:bodyPr>
          <a:lstStyle>
            <a:lvl1pPr algn="r" defTabSz="1008063">
              <a:defRPr sz="1000" b="1">
                <a:solidFill>
                  <a:srgbClr val="EBEBEB"/>
                </a:solidFill>
              </a:defRPr>
            </a:lvl1pPr>
          </a:lstStyle>
          <a:p>
            <a:r>
              <a:rPr lang="de-CH" dirty="0" smtClean="0">
                <a:solidFill>
                  <a:srgbClr val="FFC000"/>
                </a:solidFill>
              </a:rPr>
              <a:t>|</a:t>
            </a:r>
            <a:r>
              <a:rPr lang="de-CH" dirty="0" smtClean="0"/>
              <a:t> </a:t>
            </a:r>
            <a:fld id="{C56D9C70-3D5C-49EE-8BBA-F777F4B7BA2D}" type="slidenum">
              <a:rPr lang="de-CH" smtClean="0"/>
              <a:pPr/>
              <a:t>‹Nr.›</a:t>
            </a:fld>
            <a:r>
              <a:rPr lang="de-CH" dirty="0" smtClean="0"/>
              <a:t> </a:t>
            </a:r>
            <a:endParaRPr lang="de-CH" dirty="0"/>
          </a:p>
        </p:txBody>
      </p:sp>
      <p:sp>
        <p:nvSpPr>
          <p:cNvPr id="1038" name="Text Box 14"/>
          <p:cNvSpPr txBox="1">
            <a:spLocks noChangeArrowheads="1"/>
          </p:cNvSpPr>
          <p:nvPr/>
        </p:nvSpPr>
        <p:spPr bwMode="auto">
          <a:xfrm>
            <a:off x="8442325" y="7273925"/>
            <a:ext cx="133191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5712" rIns="0" bIns="45712">
            <a:spAutoFit/>
          </a:bodyPr>
          <a:lstStyle>
            <a:lvl1pPr>
              <a:defRPr>
                <a:solidFill>
                  <a:schemeClr val="tx1"/>
                </a:solidFill>
                <a:latin typeface="Arial" charset="0"/>
              </a:defRPr>
            </a:lvl1pPr>
            <a:lvl2pPr marL="455613">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lgn="r" eaLnBrk="0" hangingPunct="0"/>
            <a:r>
              <a:rPr lang="de-CH" sz="700" dirty="0">
                <a:solidFill>
                  <a:srgbClr val="BE8074"/>
                </a:solidFill>
                <a:cs typeface="Arial" charset="0"/>
              </a:rPr>
              <a:t>Copyright ©</a:t>
            </a:r>
            <a:r>
              <a:rPr lang="de-CH" sz="700" dirty="0">
                <a:solidFill>
                  <a:srgbClr val="BE8074"/>
                </a:solidFill>
              </a:rPr>
              <a:t> </a:t>
            </a:r>
            <a:r>
              <a:rPr lang="de-CH" sz="700" dirty="0" smtClean="0">
                <a:solidFill>
                  <a:srgbClr val="BE8074"/>
                </a:solidFill>
              </a:rPr>
              <a:t>BRUSA</a:t>
            </a:r>
            <a:endParaRPr lang="de-CH" sz="700" dirty="0">
              <a:solidFill>
                <a:srgbClr val="BE8074"/>
              </a:solidFill>
            </a:endParaRPr>
          </a:p>
        </p:txBody>
      </p:sp>
      <p:pic>
        <p:nvPicPr>
          <p:cNvPr id="12" name="Grafik 11"/>
          <p:cNvPicPr>
            <a:picLocks noChangeAspect="1"/>
          </p:cNvPicPr>
          <p:nvPr/>
        </p:nvPicPr>
        <p:blipFill>
          <a:blip r:embed="rId6" cstate="print">
            <a:lum bright="-5000" contrast="25000"/>
            <a:extLst>
              <a:ext uri="{28A0092B-C50C-407E-A947-70E740481C1C}">
                <a14:useLocalDpi xmlns:a14="http://schemas.microsoft.com/office/drawing/2010/main" val="0"/>
              </a:ext>
            </a:extLst>
          </a:blip>
          <a:stretch>
            <a:fillRect/>
          </a:stretch>
        </p:blipFill>
        <p:spPr>
          <a:xfrm>
            <a:off x="8886297" y="524544"/>
            <a:ext cx="1332848" cy="270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5" r:id="rId3"/>
    <p:sldLayoutId id="2147483664" r:id="rId4"/>
  </p:sldLayoutIdLst>
  <p:hf hdr="0" dt="0"/>
  <p:txStyles>
    <p:titleStyle>
      <a:lvl1pPr algn="l" defTabSz="1008063" rtl="0" eaLnBrk="1" fontAlgn="base" hangingPunct="1">
        <a:spcBef>
          <a:spcPct val="0"/>
        </a:spcBef>
        <a:spcAft>
          <a:spcPct val="0"/>
        </a:spcAft>
        <a:defRPr sz="2900" b="0">
          <a:solidFill>
            <a:schemeClr val="tx2"/>
          </a:solidFill>
          <a:latin typeface="+mj-lt"/>
          <a:ea typeface="+mj-ea"/>
          <a:cs typeface="+mj-cs"/>
        </a:defRPr>
      </a:lvl1pPr>
      <a:lvl2pPr algn="l" defTabSz="1008063" rtl="0" eaLnBrk="1" fontAlgn="base" hangingPunct="1">
        <a:spcBef>
          <a:spcPct val="0"/>
        </a:spcBef>
        <a:spcAft>
          <a:spcPct val="0"/>
        </a:spcAft>
        <a:defRPr sz="2900">
          <a:solidFill>
            <a:schemeClr val="tx2"/>
          </a:solidFill>
          <a:latin typeface="Arial" charset="0"/>
        </a:defRPr>
      </a:lvl2pPr>
      <a:lvl3pPr algn="l" defTabSz="1008063" rtl="0" eaLnBrk="1" fontAlgn="base" hangingPunct="1">
        <a:spcBef>
          <a:spcPct val="0"/>
        </a:spcBef>
        <a:spcAft>
          <a:spcPct val="0"/>
        </a:spcAft>
        <a:defRPr sz="2900">
          <a:solidFill>
            <a:schemeClr val="tx2"/>
          </a:solidFill>
          <a:latin typeface="Arial" charset="0"/>
        </a:defRPr>
      </a:lvl3pPr>
      <a:lvl4pPr algn="l" defTabSz="1008063" rtl="0" eaLnBrk="1" fontAlgn="base" hangingPunct="1">
        <a:spcBef>
          <a:spcPct val="0"/>
        </a:spcBef>
        <a:spcAft>
          <a:spcPct val="0"/>
        </a:spcAft>
        <a:defRPr sz="2900">
          <a:solidFill>
            <a:schemeClr val="tx2"/>
          </a:solidFill>
          <a:latin typeface="Arial" charset="0"/>
        </a:defRPr>
      </a:lvl4pPr>
      <a:lvl5pPr algn="l" defTabSz="1008063" rtl="0" eaLnBrk="1" fontAlgn="base" hangingPunct="1">
        <a:spcBef>
          <a:spcPct val="0"/>
        </a:spcBef>
        <a:spcAft>
          <a:spcPct val="0"/>
        </a:spcAft>
        <a:defRPr sz="2900">
          <a:solidFill>
            <a:schemeClr val="tx2"/>
          </a:solidFill>
          <a:latin typeface="Arial" charset="0"/>
        </a:defRPr>
      </a:lvl5pPr>
      <a:lvl6pPr marL="457200" algn="l" defTabSz="1008063" rtl="0" eaLnBrk="1" fontAlgn="base" hangingPunct="1">
        <a:spcBef>
          <a:spcPct val="0"/>
        </a:spcBef>
        <a:spcAft>
          <a:spcPct val="0"/>
        </a:spcAft>
        <a:defRPr sz="2900">
          <a:solidFill>
            <a:schemeClr val="tx2"/>
          </a:solidFill>
          <a:latin typeface="Arial" charset="0"/>
        </a:defRPr>
      </a:lvl6pPr>
      <a:lvl7pPr marL="914400" algn="l" defTabSz="1008063" rtl="0" eaLnBrk="1" fontAlgn="base" hangingPunct="1">
        <a:spcBef>
          <a:spcPct val="0"/>
        </a:spcBef>
        <a:spcAft>
          <a:spcPct val="0"/>
        </a:spcAft>
        <a:defRPr sz="2900">
          <a:solidFill>
            <a:schemeClr val="tx2"/>
          </a:solidFill>
          <a:latin typeface="Arial" charset="0"/>
        </a:defRPr>
      </a:lvl7pPr>
      <a:lvl8pPr marL="1371600" algn="l" defTabSz="1008063" rtl="0" eaLnBrk="1" fontAlgn="base" hangingPunct="1">
        <a:spcBef>
          <a:spcPct val="0"/>
        </a:spcBef>
        <a:spcAft>
          <a:spcPct val="0"/>
        </a:spcAft>
        <a:defRPr sz="2900">
          <a:solidFill>
            <a:schemeClr val="tx2"/>
          </a:solidFill>
          <a:latin typeface="Arial" charset="0"/>
        </a:defRPr>
      </a:lvl8pPr>
      <a:lvl9pPr marL="1828800" algn="l" defTabSz="1008063" rtl="0" eaLnBrk="1" fontAlgn="base" hangingPunct="1">
        <a:spcBef>
          <a:spcPct val="0"/>
        </a:spcBef>
        <a:spcAft>
          <a:spcPct val="0"/>
        </a:spcAft>
        <a:defRPr sz="2900">
          <a:solidFill>
            <a:schemeClr val="tx2"/>
          </a:solidFill>
          <a:latin typeface="Arial" charset="0"/>
        </a:defRPr>
      </a:lvl9pPr>
    </p:titleStyle>
    <p:bodyStyle>
      <a:lvl1pPr marL="342900" indent="-34290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lang="de-CH" sz="2400" dirty="0" smtClean="0">
          <a:solidFill>
            <a:schemeClr val="tx1"/>
          </a:solidFill>
          <a:latin typeface="+mn-lt"/>
          <a:ea typeface="+mn-ea"/>
          <a:cs typeface="+mn-cs"/>
        </a:defRPr>
      </a:lvl1pPr>
      <a:lvl2pPr marL="788987" indent="-2857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2000">
          <a:solidFill>
            <a:schemeClr val="tx1"/>
          </a:solidFill>
          <a:latin typeface="+mn-lt"/>
        </a:defRPr>
      </a:lvl2pPr>
      <a:lvl3pPr marL="1179512"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600">
          <a:solidFill>
            <a:schemeClr val="tx1"/>
          </a:solidFill>
          <a:latin typeface="+mn-lt"/>
        </a:defRPr>
      </a:lvl3pPr>
      <a:lvl4pPr marL="1681163"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400">
          <a:solidFill>
            <a:schemeClr val="tx1"/>
          </a:solidFill>
          <a:latin typeface="+mn-lt"/>
        </a:defRPr>
      </a:lvl4pPr>
      <a:lvl5pPr marL="2187575"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200">
          <a:solidFill>
            <a:schemeClr val="tx1"/>
          </a:solidFill>
          <a:latin typeface="+mn-lt"/>
        </a:defRPr>
      </a:lvl5pPr>
      <a:lvl6pPr marL="2725738" indent="-252413" algn="l" defTabSz="1008063" rtl="0" eaLnBrk="1" fontAlgn="base" hangingPunct="1">
        <a:spcBef>
          <a:spcPct val="20000"/>
        </a:spcBef>
        <a:spcAft>
          <a:spcPct val="0"/>
        </a:spcAft>
        <a:buChar char="»"/>
        <a:defRPr sz="1400">
          <a:solidFill>
            <a:schemeClr val="tx1"/>
          </a:solidFill>
          <a:latin typeface="+mn-lt"/>
        </a:defRPr>
      </a:lvl6pPr>
      <a:lvl7pPr marL="3182938" indent="-252413" algn="l" defTabSz="1008063" rtl="0" eaLnBrk="1" fontAlgn="base" hangingPunct="1">
        <a:spcBef>
          <a:spcPct val="20000"/>
        </a:spcBef>
        <a:spcAft>
          <a:spcPct val="0"/>
        </a:spcAft>
        <a:buChar char="»"/>
        <a:defRPr sz="1400">
          <a:solidFill>
            <a:schemeClr val="tx1"/>
          </a:solidFill>
          <a:latin typeface="+mn-lt"/>
        </a:defRPr>
      </a:lvl7pPr>
      <a:lvl8pPr marL="3640138" indent="-252413" algn="l" defTabSz="1008063" rtl="0" eaLnBrk="1" fontAlgn="base" hangingPunct="1">
        <a:spcBef>
          <a:spcPct val="20000"/>
        </a:spcBef>
        <a:spcAft>
          <a:spcPct val="0"/>
        </a:spcAft>
        <a:buChar char="»"/>
        <a:defRPr sz="1400">
          <a:solidFill>
            <a:schemeClr val="tx1"/>
          </a:solidFill>
          <a:latin typeface="+mn-lt"/>
        </a:defRPr>
      </a:lvl8pPr>
      <a:lvl9pPr marL="4097338" indent="-252413" algn="l" defTabSz="1008063" rtl="0" eaLnBrk="1" fontAlgn="base" hangingPunct="1">
        <a:spcBef>
          <a:spcPct val="20000"/>
        </a:spcBef>
        <a:spcAft>
          <a:spcPct val="0"/>
        </a:spcAft>
        <a:buChar char="»"/>
        <a:defRPr sz="14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file:///\\zeus\Projects\Porsche_MissionE_BVD1_CSC1\BVD1\BVD138\BVD138-B01\06_Mechanics\03_Simulation\02_Thermisch\_Alternativ_K&#252;hlkonzept_Strangpressprofi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bwMode="auto">
          <a:xfrm>
            <a:off x="8587060" y="180231"/>
            <a:ext cx="1800200" cy="1080120"/>
          </a:xfrm>
          <a:prstGeom prst="rect">
            <a:avLst/>
          </a:prstGeom>
          <a:solidFill>
            <a:schemeClr val="bg1"/>
          </a:solidFill>
          <a:ln w="9525" cap="flat" cmpd="sng" algn="ctr">
            <a:solidFill>
              <a:schemeClr val="bg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1008063" rtl="0" eaLnBrk="1" fontAlgn="base" latinLnBrk="0" hangingPunct="1">
              <a:lnSpc>
                <a:spcPct val="100000"/>
              </a:lnSpc>
              <a:spcBef>
                <a:spcPct val="0"/>
              </a:spcBef>
              <a:spcAft>
                <a:spcPct val="0"/>
              </a:spcAft>
              <a:buClrTx/>
              <a:buSzTx/>
              <a:buFontTx/>
              <a:buNone/>
              <a:tabLst/>
            </a:pPr>
            <a:endParaRPr kumimoji="0" lang="de-CH" sz="2100" b="0" i="0" u="none" strike="noStrike" cap="none" normalizeH="0" baseline="0" dirty="0" smtClean="0">
              <a:ln>
                <a:noFill/>
              </a:ln>
              <a:solidFill>
                <a:schemeClr val="tx1"/>
              </a:solidFill>
              <a:effectLst/>
              <a:latin typeface="Arial" charset="0"/>
            </a:endParaRPr>
          </a:p>
        </p:txBody>
      </p:sp>
      <p:sp>
        <p:nvSpPr>
          <p:cNvPr id="7" name="Rectangle 7"/>
          <p:cNvSpPr>
            <a:spLocks noGrp="1" noChangeArrowheads="1"/>
          </p:cNvSpPr>
          <p:nvPr>
            <p:ph type="ftr" sz="quarter" idx="3"/>
          </p:nvPr>
        </p:nvSpPr>
        <p:spPr/>
        <p:txBody>
          <a:bodyPr/>
          <a:lstStyle/>
          <a:p>
            <a:r>
              <a:rPr lang="de-CH" dirty="0"/>
              <a:t>www.brusa.biz</a:t>
            </a:r>
          </a:p>
        </p:txBody>
      </p:sp>
      <p:sp>
        <p:nvSpPr>
          <p:cNvPr id="8" name="Rectangle 8"/>
          <p:cNvSpPr>
            <a:spLocks noGrp="1" noChangeArrowheads="1"/>
          </p:cNvSpPr>
          <p:nvPr>
            <p:ph type="sldNum" sz="quarter" idx="4"/>
          </p:nvPr>
        </p:nvSpPr>
        <p:spPr/>
        <p:txBody>
          <a:bodyPr/>
          <a:lstStyle/>
          <a:p>
            <a:r>
              <a:rPr lang="de-CH" dirty="0">
                <a:solidFill>
                  <a:srgbClr val="FF9933"/>
                </a:solidFill>
              </a:rPr>
              <a:t>|</a:t>
            </a:r>
            <a:r>
              <a:rPr lang="de-CH" dirty="0"/>
              <a:t> </a:t>
            </a:r>
            <a:fld id="{BA5DCAAB-A4AB-4374-8C5B-25FE4AD165E0}" type="slidenum">
              <a:rPr lang="de-CH" smtClean="0"/>
              <a:pPr/>
              <a:t>1</a:t>
            </a:fld>
            <a:r>
              <a:rPr lang="de-CH" dirty="0" smtClean="0"/>
              <a:t> </a:t>
            </a:r>
            <a:endParaRPr lang="de-CH" dirty="0"/>
          </a:p>
        </p:txBody>
      </p:sp>
      <p:sp>
        <p:nvSpPr>
          <p:cNvPr id="41986" name="Rectangle 2"/>
          <p:cNvSpPr>
            <a:spLocks noGrp="1" noChangeArrowheads="1"/>
          </p:cNvSpPr>
          <p:nvPr>
            <p:ph type="ctrTitle"/>
          </p:nvPr>
        </p:nvSpPr>
        <p:spPr>
          <a:xfrm>
            <a:off x="666180" y="3168563"/>
            <a:ext cx="7416824" cy="1435186"/>
          </a:xfrm>
          <a:effectLst>
            <a:outerShdw blurRad="50800" dist="38100" dir="2700000" algn="tl" rotWithShape="0">
              <a:prstClr val="black">
                <a:alpha val="40000"/>
              </a:prstClr>
            </a:outerShdw>
          </a:effectLst>
        </p:spPr>
        <p:txBody>
          <a:bodyPr/>
          <a:lstStyle/>
          <a:p>
            <a:r>
              <a:rPr lang="de-CH" sz="4800" b="1" noProof="0" dirty="0" err="1" smtClean="0">
                <a:solidFill>
                  <a:srgbClr val="BE0000"/>
                </a:solidFill>
              </a:rPr>
              <a:t>Optimization</a:t>
            </a:r>
            <a:r>
              <a:rPr lang="de-CH" sz="4800" b="1" noProof="0" dirty="0" smtClean="0">
                <a:solidFill>
                  <a:srgbClr val="BE0000"/>
                </a:solidFill>
              </a:rPr>
              <a:t> </a:t>
            </a:r>
            <a:r>
              <a:rPr lang="de-CH" sz="4800" b="1" noProof="0" dirty="0" err="1" smtClean="0">
                <a:solidFill>
                  <a:srgbClr val="BE0000"/>
                </a:solidFill>
              </a:rPr>
              <a:t>cooling</a:t>
            </a:r>
            <a:r>
              <a:rPr lang="de-CH" sz="4800" b="1" noProof="0" dirty="0" smtClean="0">
                <a:solidFill>
                  <a:srgbClr val="BE0000"/>
                </a:solidFill>
              </a:rPr>
              <a:t> </a:t>
            </a:r>
            <a:r>
              <a:rPr lang="de-CH" sz="4800" b="1" noProof="0" dirty="0" err="1" smtClean="0">
                <a:solidFill>
                  <a:srgbClr val="BE0000"/>
                </a:solidFill>
              </a:rPr>
              <a:t>with</a:t>
            </a:r>
            <a:r>
              <a:rPr lang="de-CH" sz="4800" b="1" noProof="0" dirty="0" smtClean="0">
                <a:solidFill>
                  <a:srgbClr val="BE0000"/>
                </a:solidFill>
              </a:rPr>
              <a:t> </a:t>
            </a:r>
            <a:r>
              <a:rPr lang="de-CH" sz="4800" b="1" noProof="0" dirty="0" err="1" smtClean="0">
                <a:solidFill>
                  <a:srgbClr val="BE0000"/>
                </a:solidFill>
              </a:rPr>
              <a:t>extruded</a:t>
            </a:r>
            <a:r>
              <a:rPr lang="de-CH" sz="4800" b="1" noProof="0" dirty="0" smtClean="0">
                <a:solidFill>
                  <a:srgbClr val="BE0000"/>
                </a:solidFill>
              </a:rPr>
              <a:t> </a:t>
            </a:r>
            <a:r>
              <a:rPr lang="de-CH" sz="4800" b="1" noProof="0" dirty="0" err="1" smtClean="0">
                <a:solidFill>
                  <a:srgbClr val="BE0000"/>
                </a:solidFill>
              </a:rPr>
              <a:t>profile</a:t>
            </a:r>
            <a:endParaRPr lang="de-CH" sz="4800" b="1" noProof="0" dirty="0">
              <a:solidFill>
                <a:srgbClr val="BE0000"/>
              </a:solidFill>
            </a:endParaRPr>
          </a:p>
        </p:txBody>
      </p:sp>
      <p:sp>
        <p:nvSpPr>
          <p:cNvPr id="41987" name="Rectangle 3"/>
          <p:cNvSpPr>
            <a:spLocks noGrp="1" noChangeArrowheads="1"/>
          </p:cNvSpPr>
          <p:nvPr>
            <p:ph type="subTitle" idx="1"/>
          </p:nvPr>
        </p:nvSpPr>
        <p:spPr>
          <a:xfrm>
            <a:off x="8587060" y="4899070"/>
            <a:ext cx="1620565" cy="487961"/>
          </a:xfrm>
        </p:spPr>
        <p:txBody>
          <a:bodyPr/>
          <a:lstStyle/>
          <a:p>
            <a:pPr>
              <a:lnSpc>
                <a:spcPct val="90000"/>
              </a:lnSpc>
            </a:pPr>
            <a:r>
              <a:rPr lang="de-CH" sz="1400" b="1" dirty="0" smtClean="0">
                <a:solidFill>
                  <a:schemeClr val="accent3"/>
                </a:solidFill>
              </a:rPr>
              <a:t>Ueli Wendelspiess</a:t>
            </a:r>
            <a:endParaRPr lang="de-CH" sz="1400" b="1" dirty="0">
              <a:solidFill>
                <a:schemeClr val="accent3"/>
              </a:solidFill>
            </a:endParaRPr>
          </a:p>
        </p:txBody>
      </p:sp>
      <p:sp>
        <p:nvSpPr>
          <p:cNvPr id="41988" name="Line 4"/>
          <p:cNvSpPr>
            <a:spLocks noChangeShapeType="1"/>
          </p:cNvSpPr>
          <p:nvPr/>
        </p:nvSpPr>
        <p:spPr bwMode="auto">
          <a:xfrm>
            <a:off x="8299706" y="3168563"/>
            <a:ext cx="0" cy="1908212"/>
          </a:xfrm>
          <a:prstGeom prst="line">
            <a:avLst/>
          </a:prstGeom>
          <a:noFill/>
          <a:ln w="57150">
            <a:solidFill>
              <a:srgbClr val="BE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de-CH" dirty="0"/>
          </a:p>
        </p:txBody>
      </p:sp>
      <p:pic>
        <p:nvPicPr>
          <p:cNvPr id="9" name="Grafik 8"/>
          <p:cNvPicPr>
            <a:picLocks noChangeAspect="1"/>
          </p:cNvPicPr>
          <p:nvPr/>
        </p:nvPicPr>
        <p:blipFill>
          <a:blip r:embed="rId2" cstate="print">
            <a:lum bright="-5000" contrast="25000"/>
            <a:extLst>
              <a:ext uri="{28A0092B-C50C-407E-A947-70E740481C1C}">
                <a14:useLocalDpi xmlns:a14="http://schemas.microsoft.com/office/drawing/2010/main" val="0"/>
              </a:ext>
            </a:extLst>
          </a:blip>
          <a:stretch>
            <a:fillRect/>
          </a:stretch>
        </p:blipFill>
        <p:spPr>
          <a:xfrm>
            <a:off x="8886297" y="524544"/>
            <a:ext cx="1332848" cy="270000"/>
          </a:xfrm>
          <a:prstGeom prst="rect">
            <a:avLst/>
          </a:prstGeom>
        </p:spPr>
      </p:pic>
    </p:spTree>
    <p:extLst>
      <p:ext uri="{BB962C8B-B14F-4D97-AF65-F5344CB8AC3E}">
        <p14:creationId xmlns:p14="http://schemas.microsoft.com/office/powerpoint/2010/main" val="12136717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smtClean="0"/>
              <a:t>Goal</a:t>
            </a:r>
            <a:endParaRPr lang="de-CH" dirty="0"/>
          </a:p>
        </p:txBody>
      </p:sp>
      <p:sp>
        <p:nvSpPr>
          <p:cNvPr id="3" name="Inhaltsplatzhalter 2"/>
          <p:cNvSpPr>
            <a:spLocks noGrp="1"/>
          </p:cNvSpPr>
          <p:nvPr>
            <p:ph idx="1"/>
          </p:nvPr>
        </p:nvSpPr>
        <p:spPr>
          <a:xfrm>
            <a:off x="485774" y="1331913"/>
            <a:ext cx="6157070" cy="5110161"/>
          </a:xfrm>
        </p:spPr>
        <p:txBody>
          <a:bodyPr>
            <a:normAutofit fontScale="92500" lnSpcReduction="20000"/>
          </a:bodyPr>
          <a:lstStyle/>
          <a:p>
            <a:pPr marL="0" indent="0">
              <a:buNone/>
            </a:pPr>
            <a:r>
              <a:rPr lang="de-CH" sz="1600" dirty="0" err="1" smtClean="0"/>
              <a:t>Optimization</a:t>
            </a:r>
            <a:r>
              <a:rPr lang="de-CH" sz="1600" dirty="0" smtClean="0"/>
              <a:t> </a:t>
            </a:r>
            <a:r>
              <a:rPr lang="de-CH" sz="1600" dirty="0" err="1" smtClean="0"/>
              <a:t>of</a:t>
            </a:r>
            <a:r>
              <a:rPr lang="de-CH" sz="1600" dirty="0" smtClean="0"/>
              <a:t> </a:t>
            </a:r>
            <a:r>
              <a:rPr lang="de-CH" sz="1600" dirty="0" err="1" smtClean="0"/>
              <a:t>cooling</a:t>
            </a:r>
            <a:r>
              <a:rPr lang="de-CH" sz="1600" dirty="0" smtClean="0"/>
              <a:t> </a:t>
            </a:r>
            <a:r>
              <a:rPr lang="de-CH" sz="1600" dirty="0" err="1" smtClean="0"/>
              <a:t>performance</a:t>
            </a:r>
            <a:r>
              <a:rPr lang="de-CH" sz="1600" dirty="0" smtClean="0"/>
              <a:t> </a:t>
            </a:r>
            <a:r>
              <a:rPr lang="de-CH" sz="1600" dirty="0" err="1" smtClean="0"/>
              <a:t>with</a:t>
            </a:r>
            <a:r>
              <a:rPr lang="de-CH" sz="1600" dirty="0" smtClean="0"/>
              <a:t> an </a:t>
            </a:r>
            <a:r>
              <a:rPr lang="de-CH" sz="1600" dirty="0" err="1" smtClean="0"/>
              <a:t>extruded</a:t>
            </a:r>
            <a:r>
              <a:rPr lang="de-CH" sz="1600" dirty="0" smtClean="0"/>
              <a:t> </a:t>
            </a:r>
            <a:r>
              <a:rPr lang="de-CH" sz="1600" dirty="0" err="1" smtClean="0"/>
              <a:t>profile</a:t>
            </a:r>
            <a:r>
              <a:rPr lang="de-CH" sz="1600" dirty="0" smtClean="0"/>
              <a:t> </a:t>
            </a:r>
            <a:r>
              <a:rPr lang="de-CH" sz="1600" dirty="0" err="1" smtClean="0"/>
              <a:t>heatsink</a:t>
            </a:r>
            <a:endParaRPr lang="de-CH" sz="1600" dirty="0" smtClean="0"/>
          </a:p>
          <a:p>
            <a:r>
              <a:rPr lang="de-CH" sz="1600" dirty="0" err="1" smtClean="0"/>
              <a:t>Geometrical</a:t>
            </a:r>
            <a:r>
              <a:rPr lang="de-CH" sz="1600" dirty="0" smtClean="0"/>
              <a:t> </a:t>
            </a:r>
            <a:r>
              <a:rPr lang="de-CH" sz="1600" dirty="0" err="1" smtClean="0"/>
              <a:t>limits</a:t>
            </a:r>
            <a:r>
              <a:rPr lang="de-CH" sz="1600" dirty="0" smtClean="0"/>
              <a:t>: </a:t>
            </a:r>
          </a:p>
          <a:p>
            <a:pPr lvl="1"/>
            <a:r>
              <a:rPr lang="de-CH" sz="1200" dirty="0" smtClean="0"/>
              <a:t>Minimal </a:t>
            </a:r>
            <a:r>
              <a:rPr lang="de-CH" sz="1200" dirty="0" err="1" smtClean="0"/>
              <a:t>channel</a:t>
            </a:r>
            <a:r>
              <a:rPr lang="de-CH" sz="1200" dirty="0" smtClean="0"/>
              <a:t> </a:t>
            </a:r>
            <a:r>
              <a:rPr lang="de-CH" sz="1200" dirty="0" err="1" smtClean="0"/>
              <a:t>dimension</a:t>
            </a:r>
            <a:r>
              <a:rPr lang="de-CH" sz="1200" dirty="0" smtClean="0"/>
              <a:t>: «D» 1.05 mm (</a:t>
            </a:r>
            <a:r>
              <a:rPr lang="de-CH" sz="1200" dirty="0" err="1" smtClean="0"/>
              <a:t>clearance</a:t>
            </a:r>
            <a:r>
              <a:rPr lang="de-CH" sz="1200" dirty="0" smtClean="0"/>
              <a:t> </a:t>
            </a:r>
            <a:r>
              <a:rPr lang="de-CH" sz="1200" dirty="0" err="1" smtClean="0"/>
              <a:t>for</a:t>
            </a:r>
            <a:r>
              <a:rPr lang="de-CH" sz="1200" dirty="0" smtClean="0"/>
              <a:t> </a:t>
            </a:r>
            <a:r>
              <a:rPr lang="de-CH" sz="1200" dirty="0" err="1" smtClean="0"/>
              <a:t>pollution</a:t>
            </a:r>
            <a:r>
              <a:rPr lang="de-CH" sz="1200" dirty="0" smtClean="0"/>
              <a:t> </a:t>
            </a:r>
            <a:r>
              <a:rPr lang="de-CH" sz="1200" dirty="0" err="1" smtClean="0"/>
              <a:t>particle</a:t>
            </a:r>
            <a:r>
              <a:rPr lang="de-CH" sz="1200" dirty="0" smtClean="0"/>
              <a:t> </a:t>
            </a:r>
            <a:r>
              <a:rPr lang="de-CH" sz="1200" dirty="0"/>
              <a:t>VDA19/TECSA/ISO </a:t>
            </a:r>
            <a:r>
              <a:rPr lang="de-CH" sz="1200" dirty="0" smtClean="0"/>
              <a:t>16232 </a:t>
            </a:r>
            <a:r>
              <a:rPr lang="de-CH" sz="1200" dirty="0" err="1" smtClean="0"/>
              <a:t>as</a:t>
            </a:r>
            <a:r>
              <a:rPr lang="de-CH" sz="1200" dirty="0" smtClean="0"/>
              <a:t> </a:t>
            </a:r>
            <a:r>
              <a:rPr lang="de-CH" sz="1200" dirty="0" err="1" smtClean="0"/>
              <a:t>well</a:t>
            </a:r>
            <a:r>
              <a:rPr lang="de-CH" sz="1200" dirty="0" smtClean="0"/>
              <a:t> </a:t>
            </a:r>
            <a:r>
              <a:rPr lang="de-CH" sz="1200" dirty="0" err="1" smtClean="0"/>
              <a:t>as</a:t>
            </a:r>
            <a:r>
              <a:rPr lang="de-CH" sz="1200" dirty="0" smtClean="0"/>
              <a:t> </a:t>
            </a:r>
            <a:r>
              <a:rPr lang="de-CH" sz="1200" dirty="0" err="1" smtClean="0"/>
              <a:t>manufacturing</a:t>
            </a:r>
            <a:r>
              <a:rPr lang="de-CH" sz="1200" dirty="0" smtClean="0"/>
              <a:t>)</a:t>
            </a:r>
          </a:p>
          <a:p>
            <a:pPr lvl="1"/>
            <a:r>
              <a:rPr lang="de-CH" sz="1200" dirty="0" err="1" smtClean="0"/>
              <a:t>Aluminum</a:t>
            </a:r>
            <a:r>
              <a:rPr lang="de-CH" sz="1200" dirty="0" smtClean="0"/>
              <a:t> </a:t>
            </a:r>
            <a:r>
              <a:rPr lang="de-CH" sz="1200" dirty="0"/>
              <a:t>w</a:t>
            </a:r>
            <a:r>
              <a:rPr lang="de-CH" sz="1200" dirty="0" smtClean="0"/>
              <a:t>all </a:t>
            </a:r>
            <a:r>
              <a:rPr lang="de-CH" sz="1200" dirty="0" err="1" smtClean="0"/>
              <a:t>thickness</a:t>
            </a:r>
            <a:r>
              <a:rPr lang="de-CH" sz="1200" dirty="0" smtClean="0"/>
              <a:t>:  «C» 0.2-1.5 mm (</a:t>
            </a:r>
            <a:r>
              <a:rPr lang="de-CH" sz="1200" dirty="0" err="1" smtClean="0"/>
              <a:t>manufacturing</a:t>
            </a:r>
            <a:r>
              <a:rPr lang="de-CH" sz="1200" dirty="0" smtClean="0"/>
              <a:t>)</a:t>
            </a:r>
          </a:p>
          <a:p>
            <a:pPr lvl="1"/>
            <a:r>
              <a:rPr lang="de-CH" sz="1200" dirty="0" smtClean="0"/>
              <a:t>Wall </a:t>
            </a:r>
            <a:r>
              <a:rPr lang="de-CH" sz="1200" dirty="0" err="1" smtClean="0"/>
              <a:t>thickness</a:t>
            </a:r>
            <a:r>
              <a:rPr lang="de-CH" sz="1200" dirty="0" smtClean="0"/>
              <a:t> «C» </a:t>
            </a:r>
            <a:r>
              <a:rPr lang="de-CH" sz="1200" dirty="0" err="1" smtClean="0"/>
              <a:t>equal</a:t>
            </a:r>
            <a:r>
              <a:rPr lang="de-CH" sz="1200" dirty="0" smtClean="0"/>
              <a:t> </a:t>
            </a:r>
            <a:r>
              <a:rPr lang="de-CH" sz="1200" dirty="0" err="1" smtClean="0"/>
              <a:t>to</a:t>
            </a:r>
            <a:r>
              <a:rPr lang="de-CH" sz="1200" dirty="0" smtClean="0"/>
              <a:t> </a:t>
            </a:r>
            <a:r>
              <a:rPr lang="de-CH" sz="1200" dirty="0" err="1" smtClean="0"/>
              <a:t>fin</a:t>
            </a:r>
            <a:r>
              <a:rPr lang="de-CH" sz="1200" dirty="0" smtClean="0"/>
              <a:t> </a:t>
            </a:r>
            <a:r>
              <a:rPr lang="de-CH" sz="1200" dirty="0" err="1" smtClean="0"/>
              <a:t>thickness</a:t>
            </a:r>
            <a:r>
              <a:rPr lang="de-CH" sz="1200" dirty="0" smtClean="0"/>
              <a:t> «E» </a:t>
            </a:r>
            <a:r>
              <a:rPr lang="de-CH" sz="1200" dirty="0"/>
              <a:t>(</a:t>
            </a:r>
            <a:r>
              <a:rPr lang="de-CH" sz="1200" dirty="0" err="1"/>
              <a:t>manufacturing</a:t>
            </a:r>
            <a:r>
              <a:rPr lang="de-CH" sz="1200" dirty="0" smtClean="0"/>
              <a:t>)</a:t>
            </a:r>
          </a:p>
          <a:p>
            <a:r>
              <a:rPr lang="de-CH" sz="1600" dirty="0" smtClean="0"/>
              <a:t>Flow </a:t>
            </a:r>
            <a:r>
              <a:rPr lang="de-CH" sz="1600" dirty="0" err="1" smtClean="0"/>
              <a:t>condition</a:t>
            </a:r>
            <a:r>
              <a:rPr lang="de-CH" sz="1600" dirty="0" smtClean="0"/>
              <a:t> </a:t>
            </a:r>
            <a:r>
              <a:rPr lang="de-CH" sz="1600" dirty="0" err="1" smtClean="0"/>
              <a:t>range</a:t>
            </a:r>
            <a:endParaRPr lang="de-CH" sz="1600" dirty="0" smtClean="0"/>
          </a:p>
          <a:p>
            <a:pPr lvl="1"/>
            <a:r>
              <a:rPr lang="de-CH" sz="1200" dirty="0" err="1" smtClean="0"/>
              <a:t>Cooling</a:t>
            </a:r>
            <a:r>
              <a:rPr lang="de-CH" sz="1200" dirty="0" smtClean="0"/>
              <a:t> fluid: </a:t>
            </a:r>
            <a:r>
              <a:rPr lang="de-CH" sz="1200" dirty="0" err="1" smtClean="0"/>
              <a:t>water</a:t>
            </a:r>
            <a:r>
              <a:rPr lang="de-CH" sz="1200" dirty="0" smtClean="0"/>
              <a:t> </a:t>
            </a:r>
            <a:r>
              <a:rPr lang="de-CH" sz="1200" dirty="0" err="1" smtClean="0"/>
              <a:t>ethylene</a:t>
            </a:r>
            <a:r>
              <a:rPr lang="de-CH" sz="1200" dirty="0" smtClean="0"/>
              <a:t> 50-50%</a:t>
            </a:r>
          </a:p>
          <a:p>
            <a:pPr lvl="1"/>
            <a:r>
              <a:rPr lang="de-CH" sz="1200" dirty="0" err="1" smtClean="0"/>
              <a:t>Flowrate</a:t>
            </a:r>
            <a:r>
              <a:rPr lang="de-CH" sz="1200" dirty="0" smtClean="0"/>
              <a:t> total minimal 3l/min</a:t>
            </a:r>
          </a:p>
          <a:p>
            <a:pPr lvl="1"/>
            <a:r>
              <a:rPr lang="de-CH" sz="1200" dirty="0" err="1"/>
              <a:t>Flowrate</a:t>
            </a:r>
            <a:r>
              <a:rPr lang="de-CH" sz="1200" dirty="0"/>
              <a:t> total </a:t>
            </a:r>
            <a:r>
              <a:rPr lang="de-CH" sz="1200" dirty="0" smtClean="0"/>
              <a:t>nominal </a:t>
            </a:r>
            <a:r>
              <a:rPr lang="de-CH" sz="1200" dirty="0"/>
              <a:t>6</a:t>
            </a:r>
            <a:r>
              <a:rPr lang="de-CH" sz="1200" dirty="0" smtClean="0"/>
              <a:t>l/min</a:t>
            </a:r>
            <a:endParaRPr lang="de-CH" sz="1200" dirty="0"/>
          </a:p>
          <a:p>
            <a:pPr lvl="1"/>
            <a:r>
              <a:rPr lang="de-CH" sz="1200" dirty="0" err="1"/>
              <a:t>Flowrate</a:t>
            </a:r>
            <a:r>
              <a:rPr lang="de-CH" sz="1200" dirty="0"/>
              <a:t> total </a:t>
            </a:r>
            <a:r>
              <a:rPr lang="de-CH" sz="1200" dirty="0" smtClean="0"/>
              <a:t>maximal 10l/min</a:t>
            </a:r>
          </a:p>
          <a:p>
            <a:pPr lvl="1"/>
            <a:r>
              <a:rPr lang="de-CH" sz="1200" dirty="0" err="1" smtClean="0"/>
              <a:t>Four</a:t>
            </a:r>
            <a:r>
              <a:rPr lang="de-CH" sz="1200" dirty="0" smtClean="0"/>
              <a:t> </a:t>
            </a:r>
            <a:r>
              <a:rPr lang="de-CH" sz="1200" dirty="0" err="1" smtClean="0"/>
              <a:t>profiles</a:t>
            </a:r>
            <a:r>
              <a:rPr lang="de-CH" sz="1200" dirty="0" smtClean="0"/>
              <a:t> in parallel </a:t>
            </a:r>
            <a:r>
              <a:rPr lang="de-CH" sz="1200" dirty="0" smtClean="0">
                <a:sym typeface="Wingdings" pitchFamily="2" charset="2"/>
              </a:rPr>
              <a:t> per </a:t>
            </a:r>
            <a:r>
              <a:rPr lang="de-CH" sz="1200" dirty="0" err="1" smtClean="0">
                <a:sym typeface="Wingdings" pitchFamily="2" charset="2"/>
              </a:rPr>
              <a:t>profile</a:t>
            </a:r>
            <a:r>
              <a:rPr lang="de-CH" sz="1200" dirty="0" smtClean="0">
                <a:sym typeface="Wingdings" pitchFamily="2" charset="2"/>
              </a:rPr>
              <a:t> 1/4 </a:t>
            </a:r>
            <a:r>
              <a:rPr lang="de-CH" sz="1200" dirty="0" err="1" smtClean="0">
                <a:sym typeface="Wingdings" pitchFamily="2" charset="2"/>
              </a:rPr>
              <a:t>of</a:t>
            </a:r>
            <a:r>
              <a:rPr lang="de-CH" sz="1200" dirty="0" smtClean="0">
                <a:sym typeface="Wingdings" pitchFamily="2" charset="2"/>
              </a:rPr>
              <a:t> total </a:t>
            </a:r>
            <a:r>
              <a:rPr lang="de-CH" sz="1200" dirty="0" err="1" smtClean="0">
                <a:sym typeface="Wingdings" pitchFamily="2" charset="2"/>
              </a:rPr>
              <a:t>flowrate</a:t>
            </a:r>
            <a:r>
              <a:rPr lang="de-CH" sz="1200" dirty="0" smtClean="0">
                <a:sym typeface="Wingdings" pitchFamily="2" charset="2"/>
              </a:rPr>
              <a:t> </a:t>
            </a:r>
            <a:endParaRPr lang="de-CH" sz="1200" dirty="0"/>
          </a:p>
          <a:p>
            <a:r>
              <a:rPr lang="de-CH" sz="1600" dirty="0" err="1" smtClean="0"/>
              <a:t>Optimization</a:t>
            </a:r>
            <a:r>
              <a:rPr lang="de-CH" sz="1600" dirty="0" smtClean="0"/>
              <a:t> Parameters</a:t>
            </a:r>
          </a:p>
          <a:p>
            <a:pPr lvl="1"/>
            <a:r>
              <a:rPr lang="de-CH" sz="1200" dirty="0" smtClean="0"/>
              <a:t>Wall </a:t>
            </a:r>
            <a:r>
              <a:rPr lang="de-CH" sz="1200" dirty="0" err="1" smtClean="0"/>
              <a:t>thickness</a:t>
            </a:r>
            <a:r>
              <a:rPr lang="de-CH" sz="1200" dirty="0" smtClean="0"/>
              <a:t> «C»</a:t>
            </a:r>
          </a:p>
          <a:p>
            <a:pPr lvl="1"/>
            <a:r>
              <a:rPr lang="de-CH" sz="1200" dirty="0" smtClean="0"/>
              <a:t>Profile </a:t>
            </a:r>
            <a:r>
              <a:rPr lang="de-CH" sz="1200" dirty="0" err="1" smtClean="0"/>
              <a:t>thickness</a:t>
            </a:r>
            <a:r>
              <a:rPr lang="de-CH" sz="1200" dirty="0" smtClean="0"/>
              <a:t> «B»</a:t>
            </a:r>
          </a:p>
          <a:p>
            <a:pPr lvl="1"/>
            <a:r>
              <a:rPr lang="de-CH" sz="1200" dirty="0" smtClean="0"/>
              <a:t>Channel </a:t>
            </a:r>
            <a:r>
              <a:rPr lang="de-CH" sz="1200" dirty="0" err="1" smtClean="0"/>
              <a:t>thickness</a:t>
            </a:r>
            <a:r>
              <a:rPr lang="de-CH" sz="1200" dirty="0" smtClean="0"/>
              <a:t> «D» </a:t>
            </a:r>
            <a:r>
              <a:rPr lang="de-CH" sz="1200" dirty="0" err="1" smtClean="0"/>
              <a:t>as</a:t>
            </a:r>
            <a:r>
              <a:rPr lang="de-CH" sz="1200" dirty="0" smtClean="0"/>
              <a:t> </a:t>
            </a:r>
            <a:r>
              <a:rPr lang="de-CH" sz="1200" dirty="0" err="1" smtClean="0"/>
              <a:t>small</a:t>
            </a:r>
            <a:r>
              <a:rPr lang="de-CH" sz="1200" dirty="0" smtClean="0"/>
              <a:t> </a:t>
            </a:r>
            <a:r>
              <a:rPr lang="de-CH" sz="1200" dirty="0" err="1" smtClean="0"/>
              <a:t>as</a:t>
            </a:r>
            <a:r>
              <a:rPr lang="de-CH" sz="1200" dirty="0" smtClean="0"/>
              <a:t> </a:t>
            </a:r>
            <a:r>
              <a:rPr lang="de-CH" sz="1200" dirty="0" err="1" smtClean="0"/>
              <a:t>possible</a:t>
            </a:r>
            <a:r>
              <a:rPr lang="de-CH" sz="1200" dirty="0" smtClean="0"/>
              <a:t> </a:t>
            </a:r>
            <a:r>
              <a:rPr lang="de-CH" sz="1200" dirty="0" smtClean="0">
                <a:sym typeface="Wingdings" pitchFamily="2" charset="2"/>
              </a:rPr>
              <a:t> 1.05mm</a:t>
            </a:r>
          </a:p>
          <a:p>
            <a:pPr lvl="1"/>
            <a:r>
              <a:rPr lang="de-CH" sz="1200" dirty="0" smtClean="0"/>
              <a:t>Height </a:t>
            </a:r>
            <a:r>
              <a:rPr lang="de-CH" sz="1200" dirty="0" err="1" smtClean="0"/>
              <a:t>of</a:t>
            </a:r>
            <a:r>
              <a:rPr lang="de-CH" sz="1200" dirty="0" smtClean="0"/>
              <a:t> </a:t>
            </a:r>
            <a:r>
              <a:rPr lang="de-CH" sz="1200" dirty="0" err="1"/>
              <a:t>entire</a:t>
            </a:r>
            <a:r>
              <a:rPr lang="de-CH" sz="1200" dirty="0"/>
              <a:t> </a:t>
            </a:r>
            <a:r>
              <a:rPr lang="de-CH" sz="1200" dirty="0" err="1" smtClean="0"/>
              <a:t>profile</a:t>
            </a:r>
            <a:r>
              <a:rPr lang="de-CH" sz="1200" dirty="0" smtClean="0"/>
              <a:t> «A» </a:t>
            </a:r>
            <a:r>
              <a:rPr lang="de-CH" sz="1200" dirty="0" err="1" smtClean="0"/>
              <a:t>set</a:t>
            </a:r>
            <a:r>
              <a:rPr lang="de-CH" sz="1200" dirty="0" smtClean="0"/>
              <a:t> </a:t>
            </a:r>
            <a:r>
              <a:rPr lang="de-CH" sz="1200" dirty="0" err="1"/>
              <a:t>at</a:t>
            </a:r>
            <a:r>
              <a:rPr lang="de-CH" sz="1200" dirty="0"/>
              <a:t> </a:t>
            </a:r>
            <a:r>
              <a:rPr lang="de-CH" sz="1200" dirty="0" smtClean="0"/>
              <a:t>~ 21 - 22 mm</a:t>
            </a:r>
            <a:endParaRPr lang="de-CH" sz="1200" dirty="0"/>
          </a:p>
          <a:p>
            <a:r>
              <a:rPr lang="de-CH" sz="1600" dirty="0" err="1" smtClean="0"/>
              <a:t>Objective</a:t>
            </a:r>
            <a:endParaRPr lang="de-CH" sz="1600" dirty="0" smtClean="0"/>
          </a:p>
          <a:p>
            <a:pPr lvl="1"/>
            <a:r>
              <a:rPr lang="de-CH" sz="1200" dirty="0" err="1" smtClean="0"/>
              <a:t>Rth</a:t>
            </a:r>
            <a:r>
              <a:rPr lang="de-CH" sz="1200" dirty="0" smtClean="0"/>
              <a:t> </a:t>
            </a:r>
            <a:r>
              <a:rPr lang="de-CH" sz="1200" dirty="0" err="1" smtClean="0"/>
              <a:t>between</a:t>
            </a:r>
            <a:r>
              <a:rPr lang="de-CH" sz="1200" dirty="0" smtClean="0"/>
              <a:t> </a:t>
            </a:r>
            <a:r>
              <a:rPr lang="de-CH" sz="1200" dirty="0" err="1" smtClean="0"/>
              <a:t>contact</a:t>
            </a:r>
            <a:r>
              <a:rPr lang="de-CH" sz="1200" dirty="0" smtClean="0"/>
              <a:t> </a:t>
            </a:r>
            <a:r>
              <a:rPr lang="de-CH" sz="1200" dirty="0" err="1" smtClean="0"/>
              <a:t>area</a:t>
            </a:r>
            <a:r>
              <a:rPr lang="de-CH" sz="1200" dirty="0" smtClean="0"/>
              <a:t> </a:t>
            </a:r>
            <a:r>
              <a:rPr lang="de-CH" sz="1200" dirty="0" err="1" smtClean="0"/>
              <a:t>and</a:t>
            </a:r>
            <a:r>
              <a:rPr lang="de-CH" sz="1200" dirty="0" smtClean="0"/>
              <a:t> fluid </a:t>
            </a:r>
            <a:r>
              <a:rPr lang="de-CH" sz="1200" dirty="0" err="1" smtClean="0"/>
              <a:t>as</a:t>
            </a:r>
            <a:r>
              <a:rPr lang="de-CH" sz="1200" dirty="0" smtClean="0"/>
              <a:t> </a:t>
            </a:r>
            <a:r>
              <a:rPr lang="de-CH" sz="1200" dirty="0" err="1" smtClean="0"/>
              <a:t>small</a:t>
            </a:r>
            <a:r>
              <a:rPr lang="de-CH" sz="1200" dirty="0" smtClean="0"/>
              <a:t> </a:t>
            </a:r>
            <a:r>
              <a:rPr lang="de-CH" sz="1200" dirty="0" err="1" smtClean="0"/>
              <a:t>as</a:t>
            </a:r>
            <a:r>
              <a:rPr lang="de-CH" sz="1200" dirty="0" smtClean="0"/>
              <a:t> </a:t>
            </a:r>
            <a:r>
              <a:rPr lang="de-CH" sz="1200" dirty="0" err="1" smtClean="0"/>
              <a:t>possible</a:t>
            </a:r>
            <a:endParaRPr lang="de-CH" sz="1200" dirty="0" smtClean="0"/>
          </a:p>
          <a:p>
            <a:pPr lvl="1"/>
            <a:r>
              <a:rPr lang="de-CH" sz="1200" dirty="0" err="1" smtClean="0"/>
              <a:t>Thickness</a:t>
            </a:r>
            <a:r>
              <a:rPr lang="de-CH" sz="1200" dirty="0" smtClean="0"/>
              <a:t> «B» </a:t>
            </a:r>
            <a:r>
              <a:rPr lang="de-CH" sz="1200" dirty="0" err="1" smtClean="0"/>
              <a:t>of</a:t>
            </a:r>
            <a:r>
              <a:rPr lang="de-CH" sz="1200" dirty="0" smtClean="0"/>
              <a:t> </a:t>
            </a:r>
            <a:r>
              <a:rPr lang="de-CH" sz="1200" dirty="0" err="1" smtClean="0"/>
              <a:t>profile</a:t>
            </a:r>
            <a:r>
              <a:rPr lang="de-CH" sz="1200" dirty="0" smtClean="0"/>
              <a:t> </a:t>
            </a:r>
            <a:r>
              <a:rPr lang="de-CH" sz="1200" dirty="0" err="1" smtClean="0"/>
              <a:t>small</a:t>
            </a:r>
            <a:endParaRPr lang="de-CH" sz="1200" dirty="0" smtClean="0"/>
          </a:p>
          <a:p>
            <a:pPr lvl="1"/>
            <a:endParaRPr lang="de-CH" sz="1200" dirty="0" smtClean="0"/>
          </a:p>
          <a:p>
            <a:endParaRPr lang="de-CH" sz="1600" dirty="0" smtClean="0"/>
          </a:p>
          <a:p>
            <a:pPr marL="0" indent="0">
              <a:buNone/>
            </a:pPr>
            <a:endParaRPr lang="de-CH" sz="1600" dirty="0"/>
          </a:p>
        </p:txBody>
      </p:sp>
      <p:sp>
        <p:nvSpPr>
          <p:cNvPr id="4" name="Fußzeilenplatzhalter 3"/>
          <p:cNvSpPr>
            <a:spLocks noGrp="1"/>
          </p:cNvSpPr>
          <p:nvPr>
            <p:ph type="ftr" sz="quarter" idx="11"/>
          </p:nvPr>
        </p:nvSpPr>
        <p:spPr/>
        <p:txBody>
          <a:bodyPr/>
          <a:lstStyle/>
          <a:p>
            <a:r>
              <a:rPr lang="de-CH" dirty="0" smtClean="0"/>
              <a:t>www.brusa.biz</a:t>
            </a:r>
            <a:endParaRPr lang="de-CH" dirty="0"/>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2</a:t>
            </a:fld>
            <a:r>
              <a:rPr lang="de-CH" smtClean="0"/>
              <a:t> </a:t>
            </a:r>
            <a:endParaRPr lang="de-CH" dirty="0"/>
          </a:p>
        </p:txBody>
      </p:sp>
      <p:grpSp>
        <p:nvGrpSpPr>
          <p:cNvPr id="12" name="Gruppieren 11"/>
          <p:cNvGrpSpPr/>
          <p:nvPr/>
        </p:nvGrpSpPr>
        <p:grpSpPr>
          <a:xfrm>
            <a:off x="6901411" y="844270"/>
            <a:ext cx="2990977" cy="1920945"/>
            <a:chOff x="6892226" y="1044326"/>
            <a:chExt cx="2990977" cy="1920945"/>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2226" y="1044326"/>
              <a:ext cx="2990977" cy="152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feld 10"/>
            <p:cNvSpPr txBox="1"/>
            <p:nvPr/>
          </p:nvSpPr>
          <p:spPr>
            <a:xfrm>
              <a:off x="6906484" y="2565161"/>
              <a:ext cx="1731564" cy="400110"/>
            </a:xfrm>
            <a:prstGeom prst="rect">
              <a:avLst/>
            </a:prstGeom>
            <a:noFill/>
          </p:spPr>
          <p:txBody>
            <a:bodyPr wrap="none" rtlCol="0">
              <a:spAutoFit/>
            </a:bodyPr>
            <a:lstStyle/>
            <a:p>
              <a:r>
                <a:rPr lang="de-CH" sz="1000" dirty="0" smtClean="0"/>
                <a:t>Manufacturing </a:t>
              </a:r>
              <a:r>
                <a:rPr lang="de-CH" sz="1000" dirty="0" err="1" smtClean="0"/>
                <a:t>limits</a:t>
              </a:r>
              <a:endParaRPr lang="de-CH" sz="1000" dirty="0" smtClean="0"/>
            </a:p>
            <a:p>
              <a:r>
                <a:rPr lang="de-CH" sz="1000" dirty="0" smtClean="0"/>
                <a:t>Source: </a:t>
              </a:r>
              <a:r>
                <a:rPr lang="de-CH" sz="1000" dirty="0" err="1" smtClean="0"/>
                <a:t>mail</a:t>
              </a:r>
              <a:r>
                <a:rPr lang="de-CH" sz="1000" dirty="0" smtClean="0"/>
                <a:t> </a:t>
              </a:r>
              <a:r>
                <a:rPr lang="de-CH" sz="1000" dirty="0" err="1" smtClean="0"/>
                <a:t>from</a:t>
              </a:r>
              <a:r>
                <a:rPr lang="de-CH" sz="1000" dirty="0" smtClean="0"/>
                <a:t> </a:t>
              </a:r>
              <a:r>
                <a:rPr lang="de-CH" sz="1000" dirty="0" err="1" smtClean="0"/>
                <a:t>inovance</a:t>
              </a:r>
              <a:endParaRPr lang="de-CH" sz="1000" dirty="0"/>
            </a:p>
          </p:txBody>
        </p:sp>
      </p:grpSp>
      <p:pic>
        <p:nvPicPr>
          <p:cNvPr id="18" name="Picture 4" descr="W:\Technology\Functions\Thermal\Optimizer\extrudedProfile\crossectionDraw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6287" y="3276575"/>
            <a:ext cx="1470327" cy="268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6641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Assumptions</a:t>
            </a:r>
            <a:r>
              <a:rPr lang="de-CH" dirty="0" smtClean="0"/>
              <a:t> </a:t>
            </a:r>
            <a:r>
              <a:rPr lang="de-CH" dirty="0" err="1" smtClean="0"/>
              <a:t>and</a:t>
            </a:r>
            <a:r>
              <a:rPr lang="de-CH" dirty="0" smtClean="0"/>
              <a:t> </a:t>
            </a:r>
            <a:r>
              <a:rPr lang="de-CH" dirty="0" err="1" smtClean="0"/>
              <a:t>simplifications</a:t>
            </a:r>
            <a:endParaRPr lang="de-CH"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3</a:t>
            </a:fld>
            <a:r>
              <a:rPr lang="de-CH" smtClean="0"/>
              <a:t> </a:t>
            </a:r>
            <a:endParaRPr lang="de-CH" dirty="0"/>
          </a:p>
        </p:txBody>
      </p:sp>
      <p:sp>
        <p:nvSpPr>
          <p:cNvPr id="7" name="Inhaltsplatzhalter 6"/>
          <p:cNvSpPr>
            <a:spLocks noGrp="1"/>
          </p:cNvSpPr>
          <p:nvPr>
            <p:ph idx="1"/>
          </p:nvPr>
        </p:nvSpPr>
        <p:spPr/>
        <p:txBody>
          <a:bodyPr>
            <a:normAutofit/>
          </a:bodyPr>
          <a:lstStyle/>
          <a:p>
            <a:r>
              <a:rPr lang="de-CH" sz="1600" dirty="0" err="1" smtClean="0"/>
              <a:t>Assumed</a:t>
            </a:r>
            <a:r>
              <a:rPr lang="de-CH" sz="1600" dirty="0" smtClean="0"/>
              <a:t> </a:t>
            </a:r>
            <a:r>
              <a:rPr lang="de-CH" sz="1600" dirty="0" err="1" smtClean="0"/>
              <a:t>constant</a:t>
            </a:r>
            <a:r>
              <a:rPr lang="de-CH" sz="1600" dirty="0" smtClean="0"/>
              <a:t> </a:t>
            </a:r>
            <a:r>
              <a:rPr lang="de-CH" sz="1600" dirty="0" err="1" smtClean="0"/>
              <a:t>heat</a:t>
            </a:r>
            <a:r>
              <a:rPr lang="de-CH" sz="1600" dirty="0" smtClean="0"/>
              <a:t> </a:t>
            </a:r>
            <a:r>
              <a:rPr lang="de-CH" sz="1600" dirty="0" err="1" smtClean="0"/>
              <a:t>flux</a:t>
            </a:r>
            <a:r>
              <a:rPr lang="de-CH" sz="1600" dirty="0" smtClean="0"/>
              <a:t> </a:t>
            </a:r>
            <a:r>
              <a:rPr lang="de-CH" sz="1600" dirty="0" err="1" smtClean="0"/>
              <a:t>through</a:t>
            </a:r>
            <a:r>
              <a:rPr lang="de-CH" sz="1600" dirty="0" smtClean="0"/>
              <a:t> </a:t>
            </a:r>
            <a:r>
              <a:rPr lang="de-CH" sz="1600" dirty="0" err="1" smtClean="0"/>
              <a:t>contact</a:t>
            </a:r>
            <a:r>
              <a:rPr lang="de-CH" sz="1600" dirty="0" smtClean="0"/>
              <a:t> </a:t>
            </a:r>
            <a:r>
              <a:rPr lang="de-CH" sz="1600" dirty="0" err="1" smtClean="0"/>
              <a:t>surface</a:t>
            </a:r>
            <a:endParaRPr lang="de-CH" sz="1600" dirty="0" smtClean="0"/>
          </a:p>
          <a:p>
            <a:r>
              <a:rPr lang="en-US" sz="1600" dirty="0" smtClean="0"/>
              <a:t>Spreading </a:t>
            </a:r>
            <a:r>
              <a:rPr lang="en-US" sz="1600" dirty="0"/>
              <a:t>in the profile is considered in the outer wall, symmetric </a:t>
            </a:r>
            <a:r>
              <a:rPr lang="en-US" sz="1600" dirty="0" err="1"/>
              <a:t>heatspreading</a:t>
            </a:r>
            <a:r>
              <a:rPr lang="en-US" sz="1600" dirty="0"/>
              <a:t> is </a:t>
            </a:r>
            <a:r>
              <a:rPr lang="en-US" sz="1600" dirty="0" smtClean="0"/>
              <a:t>assumed</a:t>
            </a:r>
          </a:p>
          <a:p>
            <a:r>
              <a:rPr lang="en-US" sz="1600" dirty="0" smtClean="0">
                <a:sym typeface="Wingdings" pitchFamily="2" charset="2"/>
              </a:rPr>
              <a:t>An analytical model of the heat sink is used for optimization</a:t>
            </a:r>
            <a:endParaRPr lang="de-CH" sz="1600" dirty="0"/>
          </a:p>
        </p:txBody>
      </p:sp>
    </p:spTree>
    <p:extLst>
      <p:ext uri="{BB962C8B-B14F-4D97-AF65-F5344CB8AC3E}">
        <p14:creationId xmlns:p14="http://schemas.microsoft.com/office/powerpoint/2010/main" val="29594287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smtClean="0"/>
              <a:t>Validation </a:t>
            </a:r>
            <a:r>
              <a:rPr lang="de-CH" dirty="0" err="1" smtClean="0"/>
              <a:t>of</a:t>
            </a:r>
            <a:r>
              <a:rPr lang="de-CH" dirty="0" smtClean="0"/>
              <a:t> </a:t>
            </a:r>
            <a:r>
              <a:rPr lang="de-CH" dirty="0" err="1" smtClean="0"/>
              <a:t>analytical</a:t>
            </a:r>
            <a:r>
              <a:rPr lang="de-CH" dirty="0" smtClean="0"/>
              <a:t> </a:t>
            </a:r>
            <a:r>
              <a:rPr lang="de-CH" dirty="0" err="1" smtClean="0"/>
              <a:t>model</a:t>
            </a:r>
            <a:endParaRPr lang="de-CH"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4</a:t>
            </a:fld>
            <a:r>
              <a:rPr lang="de-CH" smtClean="0"/>
              <a:t> </a:t>
            </a:r>
            <a:endParaRPr lang="de-CH" dirty="0"/>
          </a:p>
        </p:txBody>
      </p:sp>
      <p:sp>
        <p:nvSpPr>
          <p:cNvPr id="7" name="Inhaltsplatzhalter 6"/>
          <p:cNvSpPr>
            <a:spLocks noGrp="1"/>
          </p:cNvSpPr>
          <p:nvPr>
            <p:ph idx="1"/>
          </p:nvPr>
        </p:nvSpPr>
        <p:spPr>
          <a:xfrm>
            <a:off x="435284" y="1188344"/>
            <a:ext cx="9721852" cy="664056"/>
          </a:xfrm>
        </p:spPr>
        <p:txBody>
          <a:bodyPr>
            <a:normAutofit/>
          </a:bodyPr>
          <a:lstStyle/>
          <a:p>
            <a:pPr marL="0" indent="0">
              <a:buNone/>
            </a:pPr>
            <a:r>
              <a:rPr lang="en-US" sz="1600" dirty="0" smtClean="0"/>
              <a:t>Comparison with simulation </a:t>
            </a:r>
            <a:r>
              <a:rPr lang="de-CH" sz="1600" u="sng" dirty="0">
                <a:hlinkClick r:id="rId2" action="ppaction://hlinkfile"/>
              </a:rPr>
              <a:t>\\zeus\Projects\Porsche_MissionE_BVD1_CSC1\BVD1\BVD138\BVD138-B01\06_Mechanics\03_Simulation\02_Thermisch\_</a:t>
            </a:r>
            <a:r>
              <a:rPr lang="de-CH" sz="1600" u="sng" dirty="0" smtClean="0">
                <a:hlinkClick r:id="rId2" action="ppaction://hlinkfile"/>
              </a:rPr>
              <a:t>Alternativ_Kühlkonzept_Strangpressprofil</a:t>
            </a:r>
            <a:endParaRPr lang="de-CH" sz="1600" dirty="0"/>
          </a:p>
          <a:p>
            <a:pPr marL="0" indent="0">
              <a:buNone/>
            </a:pPr>
            <a:endParaRPr lang="en-US" sz="1600" dirty="0"/>
          </a:p>
          <a:p>
            <a:endParaRPr lang="de-CH" sz="1600" dirty="0"/>
          </a:p>
        </p:txBody>
      </p:sp>
      <p:graphicFrame>
        <p:nvGraphicFramePr>
          <p:cNvPr id="3" name="Tabelle 2"/>
          <p:cNvGraphicFramePr>
            <a:graphicFrameLocks noGrp="1"/>
          </p:cNvGraphicFramePr>
          <p:nvPr>
            <p:extLst>
              <p:ext uri="{D42A27DB-BD31-4B8C-83A1-F6EECF244321}">
                <p14:modId xmlns:p14="http://schemas.microsoft.com/office/powerpoint/2010/main" val="1363966099"/>
              </p:ext>
            </p:extLst>
          </p:nvPr>
        </p:nvGraphicFramePr>
        <p:xfrm>
          <a:off x="508004" y="2068423"/>
          <a:ext cx="9663112" cy="1158240"/>
        </p:xfrm>
        <a:graphic>
          <a:graphicData uri="http://schemas.openxmlformats.org/drawingml/2006/table">
            <a:tbl>
              <a:tblPr firstRow="1" bandRow="1">
                <a:tableStyleId>{5C22544A-7EE6-4342-B048-85BDC9FD1C3A}</a:tableStyleId>
              </a:tblPr>
              <a:tblGrid>
                <a:gridCol w="1207889"/>
                <a:gridCol w="1207889"/>
                <a:gridCol w="1207889"/>
                <a:gridCol w="1207889"/>
                <a:gridCol w="1207889"/>
                <a:gridCol w="1207889"/>
                <a:gridCol w="1207889"/>
                <a:gridCol w="1207889"/>
              </a:tblGrid>
              <a:tr h="370840">
                <a:tc>
                  <a:txBody>
                    <a:bodyPr/>
                    <a:lstStyle/>
                    <a:p>
                      <a:r>
                        <a:rPr lang="de-CH" sz="1600" dirty="0" err="1" smtClean="0"/>
                        <a:t>depthChannel</a:t>
                      </a:r>
                      <a:endParaRPr lang="de-CH" sz="1600" dirty="0"/>
                    </a:p>
                  </a:txBody>
                  <a:tcPr/>
                </a:tc>
                <a:tc>
                  <a:txBody>
                    <a:bodyPr/>
                    <a:lstStyle/>
                    <a:p>
                      <a:r>
                        <a:rPr lang="de-CH" sz="1600" dirty="0" err="1" smtClean="0"/>
                        <a:t>widthChannel</a:t>
                      </a:r>
                      <a:endParaRPr lang="de-CH" sz="1600" dirty="0"/>
                    </a:p>
                  </a:txBody>
                  <a:tcPr/>
                </a:tc>
                <a:tc>
                  <a:txBody>
                    <a:bodyPr/>
                    <a:lstStyle/>
                    <a:p>
                      <a:r>
                        <a:rPr lang="de-CH" sz="1600" dirty="0" err="1" smtClean="0"/>
                        <a:t>thickWall</a:t>
                      </a:r>
                      <a:endParaRPr lang="de-CH" sz="1600" dirty="0"/>
                    </a:p>
                  </a:txBody>
                  <a:tcPr/>
                </a:tc>
                <a:tc>
                  <a:txBody>
                    <a:bodyPr/>
                    <a:lstStyle/>
                    <a:p>
                      <a:r>
                        <a:rPr lang="de-CH" sz="1600" dirty="0" err="1" smtClean="0"/>
                        <a:t>numChannel</a:t>
                      </a:r>
                      <a:endParaRPr lang="de-CH" sz="1600" dirty="0"/>
                    </a:p>
                  </a:txBody>
                  <a:tcPr/>
                </a:tc>
                <a:tc>
                  <a:txBody>
                    <a:bodyPr/>
                    <a:lstStyle/>
                    <a:p>
                      <a:r>
                        <a:rPr lang="de-CH" sz="1600" dirty="0" err="1" smtClean="0"/>
                        <a:t>flowrate</a:t>
                      </a:r>
                      <a:r>
                        <a:rPr lang="de-CH" sz="1600" dirty="0" smtClean="0"/>
                        <a:t> per </a:t>
                      </a:r>
                      <a:r>
                        <a:rPr lang="de-CH" sz="1600" dirty="0" err="1" smtClean="0"/>
                        <a:t>profile</a:t>
                      </a:r>
                      <a:endParaRPr lang="de-CH" sz="1600" dirty="0"/>
                    </a:p>
                  </a:txBody>
                  <a:tcPr/>
                </a:tc>
                <a:tc>
                  <a:txBody>
                    <a:bodyPr/>
                    <a:lstStyle/>
                    <a:p>
                      <a:r>
                        <a:rPr lang="de-CH" sz="1600" dirty="0" err="1" smtClean="0"/>
                        <a:t>Temperature</a:t>
                      </a:r>
                      <a:r>
                        <a:rPr lang="de-CH" sz="1600" baseline="0" dirty="0" smtClean="0"/>
                        <a:t> fluid in</a:t>
                      </a:r>
                      <a:endParaRPr lang="de-CH" sz="1600" dirty="0"/>
                    </a:p>
                  </a:txBody>
                  <a:tcPr/>
                </a:tc>
                <a:tc>
                  <a:txBody>
                    <a:bodyPr/>
                    <a:lstStyle/>
                    <a:p>
                      <a:r>
                        <a:rPr lang="de-CH" sz="1600" dirty="0" err="1" smtClean="0"/>
                        <a:t>Contact</a:t>
                      </a:r>
                      <a:r>
                        <a:rPr lang="de-CH" sz="1600" dirty="0" smtClean="0"/>
                        <a:t> </a:t>
                      </a:r>
                      <a:r>
                        <a:rPr lang="de-CH" sz="1600" dirty="0" err="1" smtClean="0"/>
                        <a:t>resistance</a:t>
                      </a:r>
                      <a:endParaRPr lang="de-CH" sz="1600" dirty="0"/>
                    </a:p>
                  </a:txBody>
                  <a:tcPr/>
                </a:tc>
                <a:tc>
                  <a:txBody>
                    <a:bodyPr/>
                    <a:lstStyle/>
                    <a:p>
                      <a:r>
                        <a:rPr lang="de-CH" sz="1600" dirty="0" err="1" smtClean="0"/>
                        <a:t>Contact</a:t>
                      </a:r>
                      <a:r>
                        <a:rPr lang="de-CH" sz="1600" dirty="0" smtClean="0"/>
                        <a:t> </a:t>
                      </a:r>
                      <a:r>
                        <a:rPr lang="de-CH" sz="1600" dirty="0" err="1" smtClean="0"/>
                        <a:t>area</a:t>
                      </a:r>
                      <a:endParaRPr lang="de-CH" sz="1600" dirty="0"/>
                    </a:p>
                  </a:txBody>
                  <a:tcPr/>
                </a:tc>
              </a:tr>
              <a:tr h="370840">
                <a:tc>
                  <a:txBody>
                    <a:bodyPr/>
                    <a:lstStyle/>
                    <a:p>
                      <a:r>
                        <a:rPr lang="de-CH" sz="1600" dirty="0" smtClean="0"/>
                        <a:t>8.4 mm</a:t>
                      </a:r>
                      <a:endParaRPr lang="de-CH" sz="1600" dirty="0"/>
                    </a:p>
                  </a:txBody>
                  <a:tcPr/>
                </a:tc>
                <a:tc>
                  <a:txBody>
                    <a:bodyPr/>
                    <a:lstStyle/>
                    <a:p>
                      <a:r>
                        <a:rPr lang="de-CH" sz="1600" dirty="0" smtClean="0"/>
                        <a:t>1.05 mm</a:t>
                      </a:r>
                      <a:endParaRPr lang="de-CH" sz="1600" dirty="0"/>
                    </a:p>
                  </a:txBody>
                  <a:tcPr/>
                </a:tc>
                <a:tc>
                  <a:txBody>
                    <a:bodyPr/>
                    <a:lstStyle/>
                    <a:p>
                      <a:r>
                        <a:rPr lang="de-CH" sz="1600" dirty="0" smtClean="0"/>
                        <a:t>0.8 mm</a:t>
                      </a:r>
                      <a:endParaRPr lang="de-CH" sz="1600" dirty="0"/>
                    </a:p>
                  </a:txBody>
                  <a:tcPr/>
                </a:tc>
                <a:tc>
                  <a:txBody>
                    <a:bodyPr/>
                    <a:lstStyle/>
                    <a:p>
                      <a:r>
                        <a:rPr lang="de-CH" sz="1600" dirty="0" smtClean="0"/>
                        <a:t>10</a:t>
                      </a:r>
                      <a:endParaRPr lang="de-CH" sz="1600" dirty="0"/>
                    </a:p>
                  </a:txBody>
                  <a:tcPr/>
                </a:tc>
                <a:tc>
                  <a:txBody>
                    <a:bodyPr/>
                    <a:lstStyle/>
                    <a:p>
                      <a:r>
                        <a:rPr lang="de-CH" sz="1600" dirty="0" smtClean="0"/>
                        <a:t>3.5 l/min</a:t>
                      </a:r>
                      <a:endParaRPr lang="de-CH" sz="1600" dirty="0"/>
                    </a:p>
                  </a:txBody>
                  <a:tcPr/>
                </a:tc>
                <a:tc>
                  <a:txBody>
                    <a:bodyPr/>
                    <a:lstStyle/>
                    <a:p>
                      <a:r>
                        <a:rPr lang="de-CH" sz="1600" dirty="0" smtClean="0"/>
                        <a:t>72</a:t>
                      </a:r>
                      <a:r>
                        <a:rPr lang="de-CH" sz="1600" baseline="0" dirty="0" smtClean="0"/>
                        <a:t> °C</a:t>
                      </a:r>
                      <a:endParaRPr lang="de-CH" sz="1600" dirty="0"/>
                    </a:p>
                  </a:txBody>
                  <a:tcPr/>
                </a:tc>
                <a:tc>
                  <a:txBody>
                    <a:bodyPr/>
                    <a:lstStyle/>
                    <a:p>
                      <a:r>
                        <a:rPr lang="de-CH" sz="1600" dirty="0" smtClean="0"/>
                        <a:t>2e-4 K*m/W </a:t>
                      </a:r>
                      <a:endParaRPr lang="de-CH" sz="1600" dirty="0"/>
                    </a:p>
                  </a:txBody>
                  <a:tcPr/>
                </a:tc>
                <a:tc>
                  <a:txBody>
                    <a:bodyPr/>
                    <a:lstStyle/>
                    <a:p>
                      <a:r>
                        <a:rPr lang="de-CH" sz="1600" dirty="0" smtClean="0"/>
                        <a:t>200 mm^2</a:t>
                      </a:r>
                      <a:endParaRPr lang="de-CH" sz="1600" dirty="0"/>
                    </a:p>
                  </a:txBody>
                  <a:tcPr/>
                </a:tc>
              </a:tr>
            </a:tbl>
          </a:graphicData>
        </a:graphic>
      </p:graphicFrame>
      <p:graphicFrame>
        <p:nvGraphicFramePr>
          <p:cNvPr id="6" name="Tabelle 5"/>
          <p:cNvGraphicFramePr>
            <a:graphicFrameLocks noGrp="1"/>
          </p:cNvGraphicFramePr>
          <p:nvPr>
            <p:extLst>
              <p:ext uri="{D42A27DB-BD31-4B8C-83A1-F6EECF244321}">
                <p14:modId xmlns:p14="http://schemas.microsoft.com/office/powerpoint/2010/main" val="2977950130"/>
              </p:ext>
            </p:extLst>
          </p:nvPr>
        </p:nvGraphicFramePr>
        <p:xfrm>
          <a:off x="508004" y="3420591"/>
          <a:ext cx="9649132" cy="1320800"/>
        </p:xfrm>
        <a:graphic>
          <a:graphicData uri="http://schemas.openxmlformats.org/drawingml/2006/table">
            <a:tbl>
              <a:tblPr firstRow="1" bandRow="1">
                <a:tableStyleId>{5C22544A-7EE6-4342-B048-85BDC9FD1C3A}</a:tableStyleId>
              </a:tblPr>
              <a:tblGrid>
                <a:gridCol w="2412283"/>
                <a:gridCol w="2412283"/>
                <a:gridCol w="2412283"/>
                <a:gridCol w="2412283"/>
              </a:tblGrid>
              <a:tr h="370840">
                <a:tc>
                  <a:txBody>
                    <a:bodyPr/>
                    <a:lstStyle/>
                    <a:p>
                      <a:r>
                        <a:rPr lang="de-CH" sz="1600" dirty="0" smtClean="0"/>
                        <a:t>Power </a:t>
                      </a:r>
                      <a:r>
                        <a:rPr lang="de-CH" sz="1600" dirty="0" err="1" smtClean="0"/>
                        <a:t>loss</a:t>
                      </a:r>
                      <a:r>
                        <a:rPr lang="de-CH" sz="1600" dirty="0" smtClean="0"/>
                        <a:t> per </a:t>
                      </a:r>
                      <a:r>
                        <a:rPr lang="de-CH" sz="1600" dirty="0" err="1" smtClean="0"/>
                        <a:t>chip</a:t>
                      </a:r>
                      <a:endParaRPr lang="de-CH" sz="1600" dirty="0"/>
                    </a:p>
                  </a:txBody>
                  <a:tcPr/>
                </a:tc>
                <a:tc>
                  <a:txBody>
                    <a:bodyPr/>
                    <a:lstStyle/>
                    <a:p>
                      <a:r>
                        <a:rPr lang="de-CH" sz="1600" dirty="0" err="1" smtClean="0"/>
                        <a:t>Temperature</a:t>
                      </a:r>
                      <a:r>
                        <a:rPr lang="de-CH" sz="1600" dirty="0" smtClean="0"/>
                        <a:t> </a:t>
                      </a:r>
                      <a:r>
                        <a:rPr lang="de-CH" sz="1600" dirty="0" err="1" smtClean="0"/>
                        <a:t>chip</a:t>
                      </a:r>
                      <a:r>
                        <a:rPr lang="de-CH" sz="1600" dirty="0" smtClean="0"/>
                        <a:t> </a:t>
                      </a:r>
                      <a:r>
                        <a:rPr lang="de-CH" sz="1600" dirty="0" err="1" smtClean="0"/>
                        <a:t>case</a:t>
                      </a:r>
                      <a:r>
                        <a:rPr lang="de-CH" sz="1600" baseline="0" dirty="0" smtClean="0"/>
                        <a:t> [°C]; FEM-s</a:t>
                      </a:r>
                      <a:r>
                        <a:rPr lang="de-CH" sz="1600" dirty="0" smtClean="0"/>
                        <a:t>imulation</a:t>
                      </a:r>
                      <a:endParaRPr lang="de-CH" sz="1600" dirty="0"/>
                    </a:p>
                  </a:txBody>
                  <a:tcPr/>
                </a:tc>
                <a:tc>
                  <a:txBody>
                    <a:bodyPr/>
                    <a:lstStyle/>
                    <a:p>
                      <a:r>
                        <a:rPr lang="de-CH" sz="1600" dirty="0" err="1" smtClean="0"/>
                        <a:t>Temperature</a:t>
                      </a:r>
                      <a:r>
                        <a:rPr lang="de-CH" sz="1600" dirty="0" smtClean="0"/>
                        <a:t> </a:t>
                      </a:r>
                      <a:r>
                        <a:rPr lang="de-CH" sz="1600" dirty="0" err="1" smtClean="0"/>
                        <a:t>chip</a:t>
                      </a:r>
                      <a:r>
                        <a:rPr lang="de-CH" sz="1600" dirty="0" smtClean="0"/>
                        <a:t> </a:t>
                      </a:r>
                      <a:r>
                        <a:rPr lang="de-CH" sz="1600" dirty="0" err="1" smtClean="0"/>
                        <a:t>case</a:t>
                      </a:r>
                      <a:r>
                        <a:rPr lang="de-CH" sz="1600" baseline="0" dirty="0" smtClean="0"/>
                        <a:t> [°C]; </a:t>
                      </a:r>
                      <a:r>
                        <a:rPr lang="de-CH" sz="1600" dirty="0" err="1" smtClean="0"/>
                        <a:t>analytical</a:t>
                      </a:r>
                      <a:r>
                        <a:rPr lang="de-CH" sz="1600" dirty="0" smtClean="0"/>
                        <a:t> </a:t>
                      </a:r>
                      <a:r>
                        <a:rPr lang="de-CH" sz="1600" dirty="0" err="1" smtClean="0"/>
                        <a:t>model</a:t>
                      </a:r>
                      <a:endParaRPr lang="de-CH" sz="1600" dirty="0"/>
                    </a:p>
                  </a:txBody>
                  <a:tcPr/>
                </a:tc>
                <a:tc>
                  <a:txBody>
                    <a:bodyPr/>
                    <a:lstStyle/>
                    <a:p>
                      <a:r>
                        <a:rPr lang="de-CH" sz="1600" dirty="0" err="1" smtClean="0"/>
                        <a:t>error</a:t>
                      </a:r>
                      <a:endParaRPr lang="de-CH" sz="1600" dirty="0"/>
                    </a:p>
                  </a:txBody>
                  <a:tcPr/>
                </a:tc>
              </a:tr>
              <a:tr h="370840">
                <a:tc>
                  <a:txBody>
                    <a:bodyPr/>
                    <a:lstStyle/>
                    <a:p>
                      <a:r>
                        <a:rPr lang="de-CH" sz="1600" dirty="0" smtClean="0"/>
                        <a:t>30 W</a:t>
                      </a:r>
                      <a:endParaRPr lang="de-CH" sz="1600" dirty="0"/>
                    </a:p>
                  </a:txBody>
                  <a:tcPr/>
                </a:tc>
                <a:tc>
                  <a:txBody>
                    <a:bodyPr/>
                    <a:lstStyle/>
                    <a:p>
                      <a:r>
                        <a:rPr lang="de-CH" sz="1600" dirty="0" smtClean="0"/>
                        <a:t>108.36</a:t>
                      </a:r>
                      <a:endParaRPr lang="de-CH" sz="1600" dirty="0"/>
                    </a:p>
                  </a:txBody>
                  <a:tcPr/>
                </a:tc>
                <a:tc>
                  <a:txBody>
                    <a:bodyPr/>
                    <a:lstStyle/>
                    <a:p>
                      <a:r>
                        <a:rPr lang="de-CH" sz="1600" dirty="0" smtClean="0"/>
                        <a:t>109.66</a:t>
                      </a:r>
                      <a:endParaRPr lang="de-CH" sz="1600" dirty="0"/>
                    </a:p>
                  </a:txBody>
                  <a:tcPr/>
                </a:tc>
                <a:tc>
                  <a:txBody>
                    <a:bodyPr/>
                    <a:lstStyle/>
                    <a:p>
                      <a:r>
                        <a:rPr lang="de-CH" sz="1600" dirty="0" smtClean="0"/>
                        <a:t>3.6 %</a:t>
                      </a:r>
                      <a:endParaRPr lang="de-CH" sz="1600" dirty="0"/>
                    </a:p>
                  </a:txBody>
                  <a:tcPr/>
                </a:tc>
              </a:tr>
              <a:tr h="370840">
                <a:tc>
                  <a:txBody>
                    <a:bodyPr/>
                    <a:lstStyle/>
                    <a:p>
                      <a:r>
                        <a:rPr lang="de-CH" sz="1600" dirty="0" smtClean="0"/>
                        <a:t>50 W</a:t>
                      </a:r>
                      <a:endParaRPr lang="de-CH" sz="1600" dirty="0"/>
                    </a:p>
                  </a:txBody>
                  <a:tcPr/>
                </a:tc>
                <a:tc>
                  <a:txBody>
                    <a:bodyPr/>
                    <a:lstStyle/>
                    <a:p>
                      <a:r>
                        <a:rPr lang="de-CH" sz="1600" dirty="0" smtClean="0"/>
                        <a:t>130.70</a:t>
                      </a:r>
                      <a:endParaRPr lang="de-CH" sz="1600" dirty="0"/>
                    </a:p>
                  </a:txBody>
                  <a:tcPr/>
                </a:tc>
                <a:tc>
                  <a:txBody>
                    <a:bodyPr/>
                    <a:lstStyle/>
                    <a:p>
                      <a:r>
                        <a:rPr lang="de-CH" sz="1600" dirty="0" smtClean="0"/>
                        <a:t>134.77</a:t>
                      </a:r>
                      <a:endParaRPr lang="de-CH" sz="1600" dirty="0"/>
                    </a:p>
                  </a:txBody>
                  <a:tcPr/>
                </a:tc>
                <a:tc>
                  <a:txBody>
                    <a:bodyPr/>
                    <a:lstStyle/>
                    <a:p>
                      <a:r>
                        <a:rPr lang="de-CH" sz="1600" dirty="0" smtClean="0"/>
                        <a:t>6.9 %</a:t>
                      </a:r>
                      <a:endParaRPr lang="de-CH" sz="1600" dirty="0"/>
                    </a:p>
                  </a:txBody>
                  <a:tcPr/>
                </a:tc>
              </a:tr>
            </a:tbl>
          </a:graphicData>
        </a:graphic>
      </p:graphicFrame>
      <p:sp>
        <p:nvSpPr>
          <p:cNvPr id="8" name="Textfeld 7"/>
          <p:cNvSpPr txBox="1"/>
          <p:nvPr/>
        </p:nvSpPr>
        <p:spPr>
          <a:xfrm>
            <a:off x="435284" y="5237339"/>
            <a:ext cx="9577064" cy="1077218"/>
          </a:xfrm>
          <a:prstGeom prst="rect">
            <a:avLst/>
          </a:prstGeom>
          <a:noFill/>
        </p:spPr>
        <p:txBody>
          <a:bodyPr wrap="square" rtlCol="0">
            <a:spAutoFit/>
          </a:bodyPr>
          <a:lstStyle/>
          <a:p>
            <a:r>
              <a:rPr lang="de-CH" sz="1600" dirty="0" smtClean="0"/>
              <a:t>Notes:</a:t>
            </a:r>
          </a:p>
          <a:p>
            <a:pPr marL="285750" indent="-285750">
              <a:buFont typeface="Arial" pitchFamily="34" charset="0"/>
              <a:buChar char="•"/>
            </a:pPr>
            <a:r>
              <a:rPr lang="de-CH" sz="1600" dirty="0" smtClean="0"/>
              <a:t>in </a:t>
            </a:r>
            <a:r>
              <a:rPr lang="de-CH" sz="1600" dirty="0" err="1" smtClean="0"/>
              <a:t>the</a:t>
            </a:r>
            <a:r>
              <a:rPr lang="de-CH" sz="1600" dirty="0" smtClean="0"/>
              <a:t> </a:t>
            </a:r>
            <a:r>
              <a:rPr lang="de-CH" sz="1600" dirty="0" err="1" smtClean="0"/>
              <a:t>simulation</a:t>
            </a:r>
            <a:r>
              <a:rPr lang="de-CH" sz="1600" dirty="0" smtClean="0"/>
              <a:t> </a:t>
            </a:r>
            <a:r>
              <a:rPr lang="de-CH" sz="1600" dirty="0" err="1" smtClean="0"/>
              <a:t>the</a:t>
            </a:r>
            <a:r>
              <a:rPr lang="de-CH" sz="1600" dirty="0" smtClean="0"/>
              <a:t> </a:t>
            </a:r>
            <a:r>
              <a:rPr lang="de-CH" sz="1600" dirty="0" err="1" smtClean="0"/>
              <a:t>chip</a:t>
            </a:r>
            <a:r>
              <a:rPr lang="de-CH" sz="1600" dirty="0" smtClean="0"/>
              <a:t> on </a:t>
            </a:r>
            <a:r>
              <a:rPr lang="de-CH" sz="1600" dirty="0" err="1" smtClean="0"/>
              <a:t>one</a:t>
            </a:r>
            <a:r>
              <a:rPr lang="de-CH" sz="1600" dirty="0" smtClean="0"/>
              <a:t> </a:t>
            </a:r>
            <a:r>
              <a:rPr lang="de-CH" sz="1600" dirty="0" err="1" smtClean="0"/>
              <a:t>side</a:t>
            </a:r>
            <a:r>
              <a:rPr lang="de-CH" sz="1600" dirty="0" smtClean="0"/>
              <a:t> </a:t>
            </a:r>
            <a:r>
              <a:rPr lang="de-CH" sz="1600" dirty="0" err="1" smtClean="0"/>
              <a:t>of</a:t>
            </a:r>
            <a:r>
              <a:rPr lang="de-CH" sz="1600" dirty="0" smtClean="0"/>
              <a:t> </a:t>
            </a:r>
            <a:r>
              <a:rPr lang="de-CH" sz="1600" dirty="0" err="1" smtClean="0"/>
              <a:t>the</a:t>
            </a:r>
            <a:r>
              <a:rPr lang="de-CH" sz="1600" dirty="0" smtClean="0"/>
              <a:t> </a:t>
            </a:r>
            <a:r>
              <a:rPr lang="de-CH" sz="1600" dirty="0" err="1" smtClean="0"/>
              <a:t>profile</a:t>
            </a:r>
            <a:r>
              <a:rPr lang="de-CH" sz="1600" dirty="0" smtClean="0"/>
              <a:t> </a:t>
            </a:r>
            <a:r>
              <a:rPr lang="de-CH" sz="1600" dirty="0" err="1" smtClean="0"/>
              <a:t>is</a:t>
            </a:r>
            <a:r>
              <a:rPr lang="de-CH" sz="1600" dirty="0" smtClean="0"/>
              <a:t> </a:t>
            </a:r>
            <a:r>
              <a:rPr lang="de-CH" sz="1600" dirty="0" err="1" smtClean="0"/>
              <a:t>heated</a:t>
            </a:r>
            <a:r>
              <a:rPr lang="de-CH" sz="1600" dirty="0" smtClean="0"/>
              <a:t> </a:t>
            </a:r>
            <a:r>
              <a:rPr lang="de-CH" sz="1600" dirty="0" err="1" smtClean="0"/>
              <a:t>with</a:t>
            </a:r>
            <a:r>
              <a:rPr lang="de-CH" sz="1600" dirty="0" smtClean="0"/>
              <a:t> 30W, </a:t>
            </a:r>
            <a:r>
              <a:rPr lang="de-CH" sz="1600" dirty="0" err="1" smtClean="0"/>
              <a:t>the</a:t>
            </a:r>
            <a:r>
              <a:rPr lang="de-CH" sz="1600" dirty="0" smtClean="0"/>
              <a:t> </a:t>
            </a:r>
            <a:r>
              <a:rPr lang="de-CH" sz="1600" dirty="0" err="1" smtClean="0"/>
              <a:t>one</a:t>
            </a:r>
            <a:r>
              <a:rPr lang="de-CH" sz="1600" dirty="0" smtClean="0"/>
              <a:t> on </a:t>
            </a:r>
            <a:r>
              <a:rPr lang="de-CH" sz="1600" dirty="0" err="1" smtClean="0"/>
              <a:t>the</a:t>
            </a:r>
            <a:r>
              <a:rPr lang="de-CH" sz="1600" dirty="0" smtClean="0"/>
              <a:t> </a:t>
            </a:r>
            <a:r>
              <a:rPr lang="de-CH" sz="1600" dirty="0" err="1" smtClean="0"/>
              <a:t>opposite</a:t>
            </a:r>
            <a:r>
              <a:rPr lang="de-CH" sz="1600" dirty="0" smtClean="0"/>
              <a:t> </a:t>
            </a:r>
            <a:r>
              <a:rPr lang="de-CH" sz="1600" dirty="0" err="1" smtClean="0"/>
              <a:t>side</a:t>
            </a:r>
            <a:r>
              <a:rPr lang="de-CH" sz="1600" dirty="0" smtClean="0"/>
              <a:t> </a:t>
            </a:r>
            <a:r>
              <a:rPr lang="de-CH" sz="1600" dirty="0" err="1" smtClean="0"/>
              <a:t>with</a:t>
            </a:r>
            <a:r>
              <a:rPr lang="de-CH" sz="1600" dirty="0" smtClean="0"/>
              <a:t> 50W. In </a:t>
            </a:r>
            <a:r>
              <a:rPr lang="de-CH" sz="1600" dirty="0" err="1" smtClean="0"/>
              <a:t>the</a:t>
            </a:r>
            <a:r>
              <a:rPr lang="de-CH" sz="1600" dirty="0" smtClean="0"/>
              <a:t> </a:t>
            </a:r>
            <a:r>
              <a:rPr lang="de-CH" sz="1600" dirty="0" err="1" smtClean="0"/>
              <a:t>analytical</a:t>
            </a:r>
            <a:r>
              <a:rPr lang="de-CH" sz="1600" dirty="0" smtClean="0"/>
              <a:t> </a:t>
            </a:r>
            <a:r>
              <a:rPr lang="de-CH" sz="1600" dirty="0" err="1" smtClean="0"/>
              <a:t>model</a:t>
            </a:r>
            <a:r>
              <a:rPr lang="de-CH" sz="1600" dirty="0" smtClean="0"/>
              <a:t> </a:t>
            </a:r>
            <a:r>
              <a:rPr lang="de-CH" sz="1600" dirty="0" err="1" smtClean="0"/>
              <a:t>symmetric</a:t>
            </a:r>
            <a:r>
              <a:rPr lang="de-CH" sz="1600" dirty="0" smtClean="0"/>
              <a:t> </a:t>
            </a:r>
            <a:r>
              <a:rPr lang="de-CH" sz="1600" dirty="0" err="1" smtClean="0"/>
              <a:t>heating</a:t>
            </a:r>
            <a:r>
              <a:rPr lang="de-CH" sz="1600" dirty="0" smtClean="0"/>
              <a:t> </a:t>
            </a:r>
            <a:r>
              <a:rPr lang="de-CH" sz="1600" dirty="0" err="1" smtClean="0"/>
              <a:t>is</a:t>
            </a:r>
            <a:r>
              <a:rPr lang="de-CH" sz="1600" dirty="0" smtClean="0"/>
              <a:t> </a:t>
            </a:r>
            <a:r>
              <a:rPr lang="de-CH" sz="1600" dirty="0" err="1" smtClean="0"/>
              <a:t>assumed</a:t>
            </a:r>
            <a:r>
              <a:rPr lang="de-CH" sz="1600" dirty="0" smtClean="0"/>
              <a:t>. </a:t>
            </a:r>
            <a:r>
              <a:rPr lang="de-CH" sz="1600" dirty="0" err="1" smtClean="0"/>
              <a:t>Since</a:t>
            </a:r>
            <a:r>
              <a:rPr lang="de-CH" sz="1600" dirty="0" smtClean="0"/>
              <a:t> </a:t>
            </a:r>
            <a:r>
              <a:rPr lang="de-CH" sz="1600" dirty="0" err="1" smtClean="0"/>
              <a:t>the</a:t>
            </a:r>
            <a:r>
              <a:rPr lang="de-CH" sz="1600" dirty="0" smtClean="0"/>
              <a:t> </a:t>
            </a:r>
            <a:r>
              <a:rPr lang="de-CH" sz="1600" dirty="0" err="1" smtClean="0"/>
              <a:t>middle</a:t>
            </a:r>
            <a:r>
              <a:rPr lang="de-CH" sz="1600" dirty="0" smtClean="0"/>
              <a:t> </a:t>
            </a:r>
            <a:r>
              <a:rPr lang="de-CH" sz="1600" dirty="0" err="1" smtClean="0"/>
              <a:t>of</a:t>
            </a:r>
            <a:r>
              <a:rPr lang="de-CH" sz="1600" dirty="0" smtClean="0"/>
              <a:t> </a:t>
            </a:r>
            <a:r>
              <a:rPr lang="de-CH" sz="1600" dirty="0" err="1" smtClean="0"/>
              <a:t>the</a:t>
            </a:r>
            <a:r>
              <a:rPr lang="de-CH" sz="1600" dirty="0" smtClean="0"/>
              <a:t> </a:t>
            </a:r>
            <a:r>
              <a:rPr lang="de-CH" sz="1600" dirty="0" err="1" smtClean="0"/>
              <a:t>profile</a:t>
            </a:r>
            <a:r>
              <a:rPr lang="de-CH" sz="1600" dirty="0" smtClean="0"/>
              <a:t> </a:t>
            </a:r>
            <a:r>
              <a:rPr lang="de-CH" sz="1600" dirty="0" err="1" smtClean="0"/>
              <a:t>does</a:t>
            </a:r>
            <a:r>
              <a:rPr lang="de-CH" sz="1600" dirty="0" smtClean="0"/>
              <a:t> not </a:t>
            </a:r>
            <a:r>
              <a:rPr lang="de-CH" sz="1600" dirty="0" err="1" smtClean="0"/>
              <a:t>contribute</a:t>
            </a:r>
            <a:r>
              <a:rPr lang="de-CH" sz="1600" dirty="0" smtClean="0"/>
              <a:t> </a:t>
            </a:r>
            <a:r>
              <a:rPr lang="de-CH" sz="1600" dirty="0" err="1" smtClean="0"/>
              <a:t>much</a:t>
            </a:r>
            <a:r>
              <a:rPr lang="de-CH" sz="1600" dirty="0" smtClean="0"/>
              <a:t> </a:t>
            </a:r>
            <a:r>
              <a:rPr lang="de-CH" sz="1600" dirty="0" err="1" smtClean="0"/>
              <a:t>to</a:t>
            </a:r>
            <a:r>
              <a:rPr lang="de-CH" sz="1600" dirty="0" smtClean="0"/>
              <a:t> </a:t>
            </a:r>
            <a:r>
              <a:rPr lang="de-CH" sz="1600" dirty="0" err="1" smtClean="0"/>
              <a:t>the</a:t>
            </a:r>
            <a:r>
              <a:rPr lang="de-CH" sz="1600" dirty="0" smtClean="0"/>
              <a:t> </a:t>
            </a:r>
            <a:r>
              <a:rPr lang="de-CH" sz="1600" dirty="0" err="1" smtClean="0"/>
              <a:t>heat</a:t>
            </a:r>
            <a:r>
              <a:rPr lang="de-CH" sz="1600" dirty="0" smtClean="0"/>
              <a:t> </a:t>
            </a:r>
            <a:r>
              <a:rPr lang="de-CH" sz="1600" dirty="0" err="1" smtClean="0"/>
              <a:t>transfer</a:t>
            </a:r>
            <a:r>
              <a:rPr lang="de-CH" sz="1600" dirty="0" smtClean="0"/>
              <a:t>, </a:t>
            </a:r>
            <a:r>
              <a:rPr lang="de-CH" sz="1600" dirty="0" err="1" smtClean="0"/>
              <a:t>the</a:t>
            </a:r>
            <a:r>
              <a:rPr lang="de-CH" sz="1600" dirty="0" smtClean="0"/>
              <a:t> </a:t>
            </a:r>
            <a:r>
              <a:rPr lang="de-CH" sz="1600" dirty="0" err="1" smtClean="0"/>
              <a:t>error</a:t>
            </a:r>
            <a:r>
              <a:rPr lang="de-CH" sz="1600" dirty="0" smtClean="0"/>
              <a:t> </a:t>
            </a:r>
            <a:r>
              <a:rPr lang="de-CH" sz="1600" dirty="0" err="1" smtClean="0"/>
              <a:t>introduced</a:t>
            </a:r>
            <a:r>
              <a:rPr lang="de-CH" sz="1600" dirty="0" smtClean="0"/>
              <a:t> </a:t>
            </a:r>
            <a:r>
              <a:rPr lang="de-CH" sz="1600" dirty="0" err="1" smtClean="0"/>
              <a:t>by</a:t>
            </a:r>
            <a:r>
              <a:rPr lang="de-CH" sz="1600" dirty="0" smtClean="0"/>
              <a:t> </a:t>
            </a:r>
            <a:r>
              <a:rPr lang="de-CH" sz="1600" dirty="0" err="1" smtClean="0"/>
              <a:t>this</a:t>
            </a:r>
            <a:r>
              <a:rPr lang="de-CH" sz="1600" dirty="0" smtClean="0"/>
              <a:t> </a:t>
            </a:r>
            <a:r>
              <a:rPr lang="de-CH" sz="1600" dirty="0" err="1" smtClean="0"/>
              <a:t>can</a:t>
            </a:r>
            <a:r>
              <a:rPr lang="de-CH" sz="1600" dirty="0" smtClean="0"/>
              <a:t> </a:t>
            </a:r>
            <a:r>
              <a:rPr lang="de-CH" sz="1600" dirty="0" err="1" smtClean="0"/>
              <a:t>be</a:t>
            </a:r>
            <a:r>
              <a:rPr lang="de-CH" sz="1600" dirty="0" smtClean="0"/>
              <a:t> </a:t>
            </a:r>
            <a:r>
              <a:rPr lang="de-CH" sz="1600" dirty="0" err="1" smtClean="0"/>
              <a:t>assumed</a:t>
            </a:r>
            <a:r>
              <a:rPr lang="de-CH" sz="1600" dirty="0" smtClean="0"/>
              <a:t> </a:t>
            </a:r>
            <a:r>
              <a:rPr lang="de-CH" sz="1600" dirty="0" err="1" smtClean="0"/>
              <a:t>to</a:t>
            </a:r>
            <a:r>
              <a:rPr lang="de-CH" sz="1600" dirty="0" smtClean="0"/>
              <a:t> </a:t>
            </a:r>
            <a:r>
              <a:rPr lang="de-CH" sz="1600" dirty="0" err="1" smtClean="0"/>
              <a:t>be</a:t>
            </a:r>
            <a:r>
              <a:rPr lang="de-CH" sz="1600" dirty="0" smtClean="0"/>
              <a:t> </a:t>
            </a:r>
            <a:r>
              <a:rPr lang="de-CH" sz="1600" dirty="0" err="1" smtClean="0"/>
              <a:t>small</a:t>
            </a:r>
            <a:r>
              <a:rPr lang="de-CH" sz="1600" dirty="0" smtClean="0"/>
              <a:t>.</a:t>
            </a:r>
            <a:endParaRPr lang="de-CH" sz="1600" dirty="0"/>
          </a:p>
        </p:txBody>
      </p:sp>
    </p:spTree>
    <p:extLst>
      <p:ext uri="{BB962C8B-B14F-4D97-AF65-F5344CB8AC3E}">
        <p14:creationId xmlns:p14="http://schemas.microsoft.com/office/powerpoint/2010/main" val="33098403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W:\Technology\Functions\Thermal\Optimizer\extrudedProfile\arangem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30" y="3952034"/>
            <a:ext cx="5528464" cy="623217"/>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title"/>
          </p:nvPr>
        </p:nvSpPr>
        <p:spPr/>
        <p:txBody>
          <a:bodyPr/>
          <a:lstStyle/>
          <a:p>
            <a:r>
              <a:rPr lang="de-CH" dirty="0" err="1" smtClean="0"/>
              <a:t>Heating</a:t>
            </a:r>
            <a:r>
              <a:rPr lang="de-CH" dirty="0" smtClean="0"/>
              <a:t> </a:t>
            </a:r>
            <a:r>
              <a:rPr lang="de-CH" dirty="0" err="1" smtClean="0"/>
              <a:t>arrangement</a:t>
            </a:r>
            <a:endParaRPr lang="de-CH"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5</a:t>
            </a:fld>
            <a:r>
              <a:rPr lang="de-CH" smtClean="0"/>
              <a:t> </a:t>
            </a:r>
            <a:endParaRPr lang="de-CH" dirty="0"/>
          </a:p>
        </p:txBody>
      </p:sp>
      <p:sp>
        <p:nvSpPr>
          <p:cNvPr id="7" name="Inhaltsplatzhalter 6"/>
          <p:cNvSpPr>
            <a:spLocks noGrp="1"/>
          </p:cNvSpPr>
          <p:nvPr>
            <p:ph idx="1"/>
          </p:nvPr>
        </p:nvSpPr>
        <p:spPr>
          <a:xfrm>
            <a:off x="485774" y="1331913"/>
            <a:ext cx="5653014" cy="5110161"/>
          </a:xfrm>
        </p:spPr>
        <p:txBody>
          <a:bodyPr>
            <a:normAutofit/>
          </a:bodyPr>
          <a:lstStyle/>
          <a:p>
            <a:r>
              <a:rPr lang="de-CH" sz="1800" dirty="0" smtClean="0"/>
              <a:t>TO-247 </a:t>
            </a:r>
            <a:r>
              <a:rPr lang="de-CH" sz="1800" dirty="0" err="1" smtClean="0"/>
              <a:t>geometry</a:t>
            </a:r>
            <a:endParaRPr lang="de-CH" sz="1800" dirty="0" smtClean="0"/>
          </a:p>
          <a:p>
            <a:pPr lvl="1">
              <a:lnSpc>
                <a:spcPct val="100000"/>
              </a:lnSpc>
            </a:pPr>
            <a:r>
              <a:rPr lang="de-CH" sz="1600" dirty="0" smtClean="0"/>
              <a:t>E = 16mm</a:t>
            </a:r>
          </a:p>
          <a:p>
            <a:pPr lvl="1">
              <a:lnSpc>
                <a:spcPct val="100000"/>
              </a:lnSpc>
            </a:pPr>
            <a:r>
              <a:rPr lang="de-CH" sz="1600" dirty="0" smtClean="0"/>
              <a:t>E1 = 13.7mm</a:t>
            </a:r>
          </a:p>
          <a:p>
            <a:pPr lvl="1">
              <a:lnSpc>
                <a:spcPct val="100000"/>
              </a:lnSpc>
            </a:pPr>
            <a:r>
              <a:rPr lang="de-CH" sz="1600" dirty="0" smtClean="0"/>
              <a:t>D = 21mm</a:t>
            </a:r>
          </a:p>
          <a:p>
            <a:pPr lvl="1">
              <a:lnSpc>
                <a:spcPct val="100000"/>
              </a:lnSpc>
            </a:pPr>
            <a:r>
              <a:rPr lang="de-CH" sz="1600" dirty="0" smtClean="0"/>
              <a:t>D1 = 16.9mm</a:t>
            </a:r>
          </a:p>
          <a:p>
            <a:pPr>
              <a:lnSpc>
                <a:spcPct val="100000"/>
              </a:lnSpc>
            </a:pPr>
            <a:r>
              <a:rPr lang="de-CH" sz="1800" dirty="0" smtClean="0"/>
              <a:t>9 TO-247 in </a:t>
            </a:r>
            <a:r>
              <a:rPr lang="de-CH" sz="1800" dirty="0" err="1" smtClean="0"/>
              <a:t>series</a:t>
            </a:r>
            <a:r>
              <a:rPr lang="de-CH" sz="1800" dirty="0" smtClean="0"/>
              <a:t>, 16.5 mm </a:t>
            </a:r>
            <a:r>
              <a:rPr lang="de-CH" sz="1800" dirty="0" err="1" smtClean="0"/>
              <a:t>from</a:t>
            </a:r>
            <a:r>
              <a:rPr lang="de-CH" sz="1800" dirty="0" smtClean="0"/>
              <a:t> </a:t>
            </a:r>
            <a:r>
              <a:rPr lang="de-CH" sz="1800" dirty="0" err="1" smtClean="0"/>
              <a:t>center</a:t>
            </a:r>
            <a:r>
              <a:rPr lang="de-CH" sz="1800" dirty="0" smtClean="0"/>
              <a:t> </a:t>
            </a:r>
            <a:r>
              <a:rPr lang="de-CH" sz="1800" dirty="0" err="1" smtClean="0"/>
              <a:t>to</a:t>
            </a:r>
            <a:r>
              <a:rPr lang="de-CH" sz="1800" dirty="0" smtClean="0"/>
              <a:t> </a:t>
            </a:r>
            <a:r>
              <a:rPr lang="de-CH" sz="1800" dirty="0" err="1" smtClean="0"/>
              <a:t>center</a:t>
            </a:r>
            <a:endParaRPr lang="de-CH" sz="1800" dirty="0" smtClean="0"/>
          </a:p>
          <a:p>
            <a:pPr>
              <a:lnSpc>
                <a:spcPct val="100000"/>
              </a:lnSpc>
            </a:pPr>
            <a:r>
              <a:rPr lang="de-CH" sz="1800" dirty="0" err="1" smtClean="0"/>
              <a:t>Symmetrical</a:t>
            </a:r>
            <a:r>
              <a:rPr lang="de-CH" sz="1800" dirty="0" smtClean="0"/>
              <a:t> </a:t>
            </a:r>
            <a:r>
              <a:rPr lang="de-CH" sz="1800" dirty="0" err="1" smtClean="0"/>
              <a:t>arrangement</a:t>
            </a:r>
            <a:r>
              <a:rPr lang="de-CH" sz="1800" dirty="0" smtClean="0"/>
              <a:t>, TO-247 on </a:t>
            </a:r>
            <a:r>
              <a:rPr lang="de-CH" sz="1800" dirty="0" err="1" smtClean="0"/>
              <a:t>both</a:t>
            </a:r>
            <a:r>
              <a:rPr lang="de-CH" sz="1800" dirty="0" smtClean="0"/>
              <a:t> </a:t>
            </a:r>
            <a:r>
              <a:rPr lang="de-CH" sz="1800" dirty="0" err="1" smtClean="0"/>
              <a:t>sides</a:t>
            </a:r>
            <a:r>
              <a:rPr lang="de-CH" sz="1800" dirty="0" smtClean="0"/>
              <a:t> </a:t>
            </a:r>
            <a:r>
              <a:rPr lang="de-CH" sz="1800" dirty="0" err="1" smtClean="0"/>
              <a:t>of</a:t>
            </a:r>
            <a:r>
              <a:rPr lang="de-CH" sz="1800" dirty="0" smtClean="0"/>
              <a:t> </a:t>
            </a:r>
            <a:r>
              <a:rPr lang="de-CH" sz="1800" dirty="0" err="1" smtClean="0"/>
              <a:t>profile</a:t>
            </a:r>
            <a:endParaRPr lang="de-CH" sz="1800" dirty="0" smtClean="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7058" y="1104999"/>
            <a:ext cx="4057925" cy="5843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W:\Technology\Functions\Thermal\Optimizer\extrudedProfile\crossectionDrawin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1123" y="4428703"/>
            <a:ext cx="1470327" cy="268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4332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of</a:t>
            </a:r>
            <a:r>
              <a:rPr lang="de-CH" dirty="0" smtClean="0"/>
              <a:t> </a:t>
            </a:r>
            <a:r>
              <a:rPr lang="de-CH" dirty="0" err="1" smtClean="0"/>
              <a:t>optimization</a:t>
            </a:r>
            <a:r>
              <a:rPr lang="de-CH" dirty="0" smtClean="0"/>
              <a:t>, </a:t>
            </a:r>
            <a:r>
              <a:rPr lang="de-CH" dirty="0" err="1" smtClean="0"/>
              <a:t>considerations</a:t>
            </a:r>
            <a:endParaRPr lang="de-CH" dirty="0"/>
          </a:p>
        </p:txBody>
      </p:sp>
      <p:sp>
        <p:nvSpPr>
          <p:cNvPr id="3" name="Inhaltsplatzhalter 2"/>
          <p:cNvSpPr>
            <a:spLocks noGrp="1"/>
          </p:cNvSpPr>
          <p:nvPr>
            <p:ph idx="1"/>
          </p:nvPr>
        </p:nvSpPr>
        <p:spPr/>
        <p:txBody>
          <a:bodyPr>
            <a:normAutofit/>
          </a:bodyPr>
          <a:lstStyle/>
          <a:p>
            <a:r>
              <a:rPr lang="de-CH" sz="1400" dirty="0" smtClean="0"/>
              <a:t>Thermal </a:t>
            </a:r>
            <a:r>
              <a:rPr lang="de-CH" sz="1400" dirty="0" err="1" smtClean="0"/>
              <a:t>resistances</a:t>
            </a:r>
            <a:r>
              <a:rPr lang="de-CH" sz="1400" dirty="0" smtClean="0"/>
              <a:t> </a:t>
            </a:r>
            <a:r>
              <a:rPr lang="de-CH" sz="1400" dirty="0" err="1" smtClean="0"/>
              <a:t>are</a:t>
            </a:r>
            <a:r>
              <a:rPr lang="de-CH" sz="1400" dirty="0" smtClean="0"/>
              <a:t> </a:t>
            </a:r>
            <a:r>
              <a:rPr lang="de-CH" sz="1400" dirty="0" err="1" smtClean="0"/>
              <a:t>given</a:t>
            </a:r>
            <a:r>
              <a:rPr lang="de-CH" sz="1400" dirty="0" smtClean="0"/>
              <a:t> </a:t>
            </a:r>
            <a:r>
              <a:rPr lang="de-CH" sz="1400" dirty="0" err="1" smtClean="0"/>
              <a:t>with</a:t>
            </a:r>
            <a:r>
              <a:rPr lang="de-CH" sz="1400" dirty="0" smtClean="0"/>
              <a:t> </a:t>
            </a:r>
            <a:r>
              <a:rPr lang="de-CH" sz="1400" dirty="0" err="1" smtClean="0"/>
              <a:t>regard</a:t>
            </a:r>
            <a:r>
              <a:rPr lang="de-CH" sz="1400" dirty="0" smtClean="0"/>
              <a:t> </a:t>
            </a:r>
            <a:r>
              <a:rPr lang="de-CH" sz="1400" dirty="0" err="1" smtClean="0"/>
              <a:t>to</a:t>
            </a:r>
            <a:r>
              <a:rPr lang="de-CH" sz="1400" dirty="0" smtClean="0"/>
              <a:t> </a:t>
            </a:r>
            <a:r>
              <a:rPr lang="de-CH" sz="1400" dirty="0" err="1" smtClean="0"/>
              <a:t>the</a:t>
            </a:r>
            <a:r>
              <a:rPr lang="de-CH" sz="1400" dirty="0" smtClean="0"/>
              <a:t> fluid </a:t>
            </a:r>
            <a:r>
              <a:rPr lang="de-CH" sz="1400" dirty="0" err="1" smtClean="0"/>
              <a:t>inlet</a:t>
            </a:r>
            <a:r>
              <a:rPr lang="de-CH" sz="1400" dirty="0" smtClean="0"/>
              <a:t> </a:t>
            </a:r>
            <a:r>
              <a:rPr lang="de-CH" sz="1400" dirty="0" err="1" smtClean="0"/>
              <a:t>for</a:t>
            </a:r>
            <a:r>
              <a:rPr lang="de-CH" sz="1400" dirty="0" smtClean="0"/>
              <a:t> all TO-247 (</a:t>
            </a:r>
            <a:r>
              <a:rPr lang="de-CH" sz="1400" dirty="0" err="1" smtClean="0"/>
              <a:t>temperature</a:t>
            </a:r>
            <a:r>
              <a:rPr lang="de-CH" sz="1400" dirty="0" smtClean="0"/>
              <a:t> </a:t>
            </a:r>
            <a:r>
              <a:rPr lang="de-CH" sz="1400" dirty="0" err="1" smtClean="0"/>
              <a:t>increase</a:t>
            </a:r>
            <a:r>
              <a:rPr lang="de-CH" sz="1400" dirty="0" smtClean="0"/>
              <a:t> </a:t>
            </a:r>
            <a:r>
              <a:rPr lang="de-CH" sz="1400" dirty="0" err="1" smtClean="0"/>
              <a:t>of</a:t>
            </a:r>
            <a:r>
              <a:rPr lang="de-CH" sz="1400" dirty="0" smtClean="0"/>
              <a:t> fluid </a:t>
            </a:r>
            <a:r>
              <a:rPr lang="de-CH" sz="1400" dirty="0" err="1" smtClean="0"/>
              <a:t>already</a:t>
            </a:r>
            <a:r>
              <a:rPr lang="de-CH" sz="1400" dirty="0" smtClean="0"/>
              <a:t> </a:t>
            </a:r>
            <a:r>
              <a:rPr lang="de-CH" sz="1400" dirty="0" err="1" smtClean="0"/>
              <a:t>included</a:t>
            </a:r>
            <a:r>
              <a:rPr lang="de-CH" sz="1400" dirty="0" smtClean="0"/>
              <a:t> in </a:t>
            </a:r>
            <a:r>
              <a:rPr lang="de-CH" sz="1400" dirty="0" err="1" smtClean="0"/>
              <a:t>the</a:t>
            </a:r>
            <a:r>
              <a:rPr lang="de-CH" sz="1400" dirty="0" smtClean="0"/>
              <a:t> </a:t>
            </a:r>
            <a:r>
              <a:rPr lang="de-CH" sz="1400" dirty="0" err="1" smtClean="0"/>
              <a:t>Rth</a:t>
            </a:r>
            <a:r>
              <a:rPr lang="de-CH" sz="1400" dirty="0" smtClean="0"/>
              <a:t>)</a:t>
            </a:r>
          </a:p>
          <a:p>
            <a:r>
              <a:rPr lang="de-CH" sz="1400" dirty="0" smtClean="0"/>
              <a:t>Thermal </a:t>
            </a:r>
            <a:r>
              <a:rPr lang="de-CH" sz="1400" dirty="0" err="1" smtClean="0"/>
              <a:t>resistance</a:t>
            </a:r>
            <a:r>
              <a:rPr lang="de-CH" sz="1400" dirty="0" smtClean="0"/>
              <a:t> </a:t>
            </a:r>
            <a:r>
              <a:rPr lang="de-CH" sz="1400" dirty="0" err="1" smtClean="0"/>
              <a:t>values</a:t>
            </a:r>
            <a:r>
              <a:rPr lang="de-CH" sz="1400" dirty="0" smtClean="0"/>
              <a:t> </a:t>
            </a:r>
            <a:r>
              <a:rPr lang="de-CH" sz="1400" dirty="0" err="1" smtClean="0"/>
              <a:t>are</a:t>
            </a:r>
            <a:r>
              <a:rPr lang="de-CH" sz="1400" dirty="0" smtClean="0"/>
              <a:t> </a:t>
            </a:r>
            <a:r>
              <a:rPr lang="de-CH" sz="1400" dirty="0" err="1" smtClean="0"/>
              <a:t>from</a:t>
            </a:r>
            <a:r>
              <a:rPr lang="de-CH" sz="1400" dirty="0" smtClean="0"/>
              <a:t> </a:t>
            </a:r>
            <a:r>
              <a:rPr lang="de-CH" sz="1400" dirty="0" err="1" smtClean="0"/>
              <a:t>the</a:t>
            </a:r>
            <a:r>
              <a:rPr lang="de-CH" sz="1400" dirty="0" smtClean="0"/>
              <a:t> </a:t>
            </a:r>
            <a:r>
              <a:rPr lang="de-CH" sz="1400" dirty="0" err="1" smtClean="0"/>
              <a:t>aluminum</a:t>
            </a:r>
            <a:r>
              <a:rPr lang="de-CH" sz="1400" dirty="0"/>
              <a:t> </a:t>
            </a:r>
            <a:r>
              <a:rPr lang="de-CH" sz="1400" dirty="0" err="1" smtClean="0"/>
              <a:t>surface</a:t>
            </a:r>
            <a:r>
              <a:rPr lang="de-CH" sz="1400" dirty="0" smtClean="0"/>
              <a:t> in </a:t>
            </a:r>
            <a:r>
              <a:rPr lang="de-CH" sz="1400" dirty="0" err="1" smtClean="0"/>
              <a:t>contact</a:t>
            </a:r>
            <a:r>
              <a:rPr lang="de-CH" sz="1400" dirty="0" smtClean="0"/>
              <a:t> </a:t>
            </a:r>
            <a:r>
              <a:rPr lang="de-CH" sz="1400" dirty="0" err="1" smtClean="0"/>
              <a:t>with</a:t>
            </a:r>
            <a:r>
              <a:rPr lang="de-CH" sz="1400" dirty="0" smtClean="0"/>
              <a:t> </a:t>
            </a:r>
            <a:r>
              <a:rPr lang="de-CH" sz="1400" dirty="0" err="1" smtClean="0"/>
              <a:t>the</a:t>
            </a:r>
            <a:r>
              <a:rPr lang="de-CH" sz="1400" dirty="0" smtClean="0"/>
              <a:t> thermal pad </a:t>
            </a:r>
            <a:r>
              <a:rPr lang="de-CH" sz="1400" dirty="0" err="1" smtClean="0"/>
              <a:t>to</a:t>
            </a:r>
            <a:r>
              <a:rPr lang="de-CH" sz="1400" dirty="0" smtClean="0"/>
              <a:t> </a:t>
            </a:r>
            <a:r>
              <a:rPr lang="de-CH" sz="1400" dirty="0" err="1" smtClean="0"/>
              <a:t>the</a:t>
            </a:r>
            <a:r>
              <a:rPr lang="de-CH" sz="1400" dirty="0" smtClean="0"/>
              <a:t> fluid </a:t>
            </a:r>
            <a:r>
              <a:rPr lang="de-CH" sz="1400" dirty="0" err="1" smtClean="0"/>
              <a:t>inlet</a:t>
            </a:r>
            <a:r>
              <a:rPr lang="de-CH" sz="1400" dirty="0" smtClean="0"/>
              <a:t> </a:t>
            </a:r>
            <a:r>
              <a:rPr lang="de-CH" sz="1400" dirty="0" err="1" smtClean="0"/>
              <a:t>temperature</a:t>
            </a:r>
            <a:endParaRPr lang="de-CH" sz="1400" dirty="0"/>
          </a:p>
          <a:p>
            <a:r>
              <a:rPr lang="en-US" sz="1400" dirty="0"/>
              <a:t>The contact area is chosen to be 13.7mm x 16.9 mm as specified in the datasheet in the previous slides. The area of the hole is considered to be active for the heat dissipation into the water, due to the relatively small dimensions it can be assumed that the heat is spread over most of its area without too much loss.</a:t>
            </a:r>
          </a:p>
          <a:p>
            <a:r>
              <a:rPr lang="en-US" sz="1400" dirty="0"/>
              <a:t>For the thermal resistance through the pad however, the area reduced by the hole needs to be considered</a:t>
            </a:r>
            <a:r>
              <a:rPr lang="en-US" sz="1400" dirty="0" smtClean="0"/>
              <a:t>.</a:t>
            </a:r>
            <a:endParaRPr lang="de-CH" sz="1400" dirty="0" smtClean="0"/>
          </a:p>
          <a:p>
            <a:r>
              <a:rPr lang="de-CH" sz="1400" dirty="0" smtClean="0"/>
              <a:t>The </a:t>
            </a:r>
            <a:r>
              <a:rPr lang="de-CH" sz="1400" dirty="0" err="1" smtClean="0"/>
              <a:t>resistances</a:t>
            </a:r>
            <a:r>
              <a:rPr lang="de-CH" sz="1400" dirty="0" smtClean="0"/>
              <a:t> </a:t>
            </a:r>
            <a:r>
              <a:rPr lang="de-CH" sz="1400" dirty="0" err="1" smtClean="0"/>
              <a:t>are</a:t>
            </a:r>
            <a:r>
              <a:rPr lang="de-CH" sz="1400" dirty="0" smtClean="0"/>
              <a:t> </a:t>
            </a:r>
            <a:r>
              <a:rPr lang="de-CH" sz="1400" dirty="0" err="1" smtClean="0"/>
              <a:t>calculated</a:t>
            </a:r>
            <a:r>
              <a:rPr lang="de-CH" sz="1400" dirty="0" smtClean="0"/>
              <a:t> </a:t>
            </a:r>
            <a:r>
              <a:rPr lang="de-CH" sz="1400" dirty="0" err="1" smtClean="0"/>
              <a:t>for</a:t>
            </a:r>
            <a:r>
              <a:rPr lang="de-CH" sz="1400" dirty="0" smtClean="0"/>
              <a:t> </a:t>
            </a:r>
            <a:r>
              <a:rPr lang="de-CH" sz="1400" dirty="0" err="1" smtClean="0"/>
              <a:t>the</a:t>
            </a:r>
            <a:r>
              <a:rPr lang="de-CH" sz="1400" dirty="0"/>
              <a:t> </a:t>
            </a:r>
            <a:r>
              <a:rPr lang="de-CH" sz="1400" dirty="0" smtClean="0"/>
              <a:t>fluid </a:t>
            </a:r>
            <a:r>
              <a:rPr lang="de-CH" sz="1400" dirty="0" err="1" smtClean="0"/>
              <a:t>properties</a:t>
            </a:r>
            <a:r>
              <a:rPr lang="de-CH" sz="1400" dirty="0" smtClean="0"/>
              <a:t> </a:t>
            </a:r>
            <a:r>
              <a:rPr lang="de-CH" sz="1400" dirty="0" err="1" smtClean="0"/>
              <a:t>resulting</a:t>
            </a:r>
            <a:r>
              <a:rPr lang="de-CH" sz="1400" dirty="0" smtClean="0"/>
              <a:t> </a:t>
            </a:r>
            <a:r>
              <a:rPr lang="de-CH" sz="1400" dirty="0" err="1" smtClean="0"/>
              <a:t>from</a:t>
            </a:r>
            <a:r>
              <a:rPr lang="de-CH" sz="1400" dirty="0" smtClean="0"/>
              <a:t> 72°C </a:t>
            </a:r>
            <a:r>
              <a:rPr lang="de-CH" sz="1400" dirty="0" err="1" smtClean="0"/>
              <a:t>inlet</a:t>
            </a:r>
            <a:r>
              <a:rPr lang="de-CH" sz="1400" dirty="0" smtClean="0"/>
              <a:t> </a:t>
            </a:r>
            <a:r>
              <a:rPr lang="de-CH" sz="1400" dirty="0" err="1" smtClean="0"/>
              <a:t>temperature</a:t>
            </a:r>
            <a:r>
              <a:rPr lang="de-CH" sz="1400" dirty="0" smtClean="0"/>
              <a:t> </a:t>
            </a:r>
            <a:r>
              <a:rPr lang="de-CH" sz="1400" dirty="0" err="1" smtClean="0"/>
              <a:t>and</a:t>
            </a:r>
            <a:r>
              <a:rPr lang="de-CH" sz="1400" dirty="0" smtClean="0"/>
              <a:t> 40W </a:t>
            </a:r>
            <a:r>
              <a:rPr lang="de-CH" sz="1400" dirty="0" err="1" smtClean="0"/>
              <a:t>loss</a:t>
            </a:r>
            <a:r>
              <a:rPr lang="de-CH" sz="1400" dirty="0" smtClean="0"/>
              <a:t> per TO-247, </a:t>
            </a:r>
            <a:r>
              <a:rPr lang="de-CH" sz="1400" dirty="0" err="1" smtClean="0"/>
              <a:t>for</a:t>
            </a:r>
            <a:r>
              <a:rPr lang="de-CH" sz="1400" dirty="0" smtClean="0"/>
              <a:t> different </a:t>
            </a:r>
            <a:r>
              <a:rPr lang="de-CH" sz="1400" dirty="0" err="1" smtClean="0"/>
              <a:t>operating</a:t>
            </a:r>
            <a:r>
              <a:rPr lang="de-CH" sz="1400" dirty="0" smtClean="0"/>
              <a:t> </a:t>
            </a:r>
            <a:r>
              <a:rPr lang="de-CH" sz="1400" dirty="0" err="1" smtClean="0"/>
              <a:t>conditions</a:t>
            </a:r>
            <a:r>
              <a:rPr lang="de-CH" sz="1400" dirty="0" smtClean="0"/>
              <a:t>, different thermal </a:t>
            </a:r>
            <a:r>
              <a:rPr lang="de-CH" sz="1400" dirty="0" err="1" smtClean="0"/>
              <a:t>resistances</a:t>
            </a:r>
            <a:r>
              <a:rPr lang="de-CH" sz="1400" dirty="0" smtClean="0"/>
              <a:t> will </a:t>
            </a:r>
            <a:r>
              <a:rPr lang="de-CH" sz="1400" dirty="0" err="1" smtClean="0"/>
              <a:t>result</a:t>
            </a:r>
            <a:r>
              <a:rPr lang="de-CH" sz="1400" dirty="0" smtClean="0"/>
              <a:t> due </a:t>
            </a:r>
            <a:r>
              <a:rPr lang="de-CH" sz="1400" dirty="0" err="1" smtClean="0"/>
              <a:t>to</a:t>
            </a:r>
            <a:r>
              <a:rPr lang="de-CH" sz="1400" dirty="0" smtClean="0"/>
              <a:t> </a:t>
            </a:r>
            <a:r>
              <a:rPr lang="de-CH" sz="1400" dirty="0" err="1" smtClean="0"/>
              <a:t>the</a:t>
            </a:r>
            <a:r>
              <a:rPr lang="de-CH" sz="1400" dirty="0" smtClean="0"/>
              <a:t> </a:t>
            </a:r>
            <a:r>
              <a:rPr lang="de-CH" sz="1400" dirty="0" err="1" smtClean="0"/>
              <a:t>changed</a:t>
            </a:r>
            <a:r>
              <a:rPr lang="de-CH" sz="1400" dirty="0" smtClean="0"/>
              <a:t> fluid </a:t>
            </a:r>
            <a:r>
              <a:rPr lang="de-CH" sz="1400" dirty="0" err="1" smtClean="0"/>
              <a:t>characteristics</a:t>
            </a:r>
            <a:r>
              <a:rPr lang="de-CH" sz="1400" dirty="0" smtClean="0"/>
              <a:t>, </a:t>
            </a:r>
            <a:r>
              <a:rPr lang="de-CH" sz="1400" dirty="0" err="1" smtClean="0"/>
              <a:t>however</a:t>
            </a:r>
            <a:r>
              <a:rPr lang="de-CH" sz="1400" dirty="0"/>
              <a:t> </a:t>
            </a:r>
            <a:r>
              <a:rPr lang="de-CH" sz="1400" dirty="0" err="1" smtClean="0"/>
              <a:t>the</a:t>
            </a:r>
            <a:r>
              <a:rPr lang="de-CH" sz="1400" dirty="0" smtClean="0"/>
              <a:t> </a:t>
            </a:r>
            <a:r>
              <a:rPr lang="de-CH" sz="1400" dirty="0" err="1" smtClean="0"/>
              <a:t>differences</a:t>
            </a:r>
            <a:r>
              <a:rPr lang="de-CH" sz="1400" dirty="0" smtClean="0"/>
              <a:t> </a:t>
            </a:r>
            <a:r>
              <a:rPr lang="de-CH" sz="1400" dirty="0" err="1" smtClean="0"/>
              <a:t>can</a:t>
            </a:r>
            <a:r>
              <a:rPr lang="de-CH" sz="1400" dirty="0" smtClean="0"/>
              <a:t> </a:t>
            </a:r>
            <a:r>
              <a:rPr lang="de-CH" sz="1400" dirty="0" err="1" smtClean="0"/>
              <a:t>be</a:t>
            </a:r>
            <a:r>
              <a:rPr lang="de-CH" sz="1400" dirty="0" smtClean="0"/>
              <a:t> </a:t>
            </a:r>
            <a:r>
              <a:rPr lang="de-CH" sz="1400" dirty="0" err="1" smtClean="0"/>
              <a:t>assumed</a:t>
            </a:r>
            <a:r>
              <a:rPr lang="de-CH" sz="1400" dirty="0" smtClean="0"/>
              <a:t> </a:t>
            </a:r>
            <a:r>
              <a:rPr lang="de-CH" sz="1400" dirty="0" err="1" smtClean="0"/>
              <a:t>to</a:t>
            </a:r>
            <a:r>
              <a:rPr lang="de-CH" sz="1400" dirty="0" smtClean="0"/>
              <a:t> </a:t>
            </a:r>
            <a:r>
              <a:rPr lang="de-CH" sz="1400" dirty="0" err="1" smtClean="0"/>
              <a:t>be</a:t>
            </a:r>
            <a:r>
              <a:rPr lang="de-CH" sz="1400" dirty="0" smtClean="0"/>
              <a:t> </a:t>
            </a:r>
            <a:r>
              <a:rPr lang="de-CH" sz="1400" dirty="0" err="1" smtClean="0"/>
              <a:t>small</a:t>
            </a:r>
            <a:r>
              <a:rPr lang="de-CH" sz="1400" dirty="0" smtClean="0"/>
              <a:t>, </a:t>
            </a:r>
            <a:r>
              <a:rPr lang="de-CH" sz="1400" dirty="0" err="1" smtClean="0"/>
              <a:t>if</a:t>
            </a:r>
            <a:r>
              <a:rPr lang="de-CH" sz="1400" dirty="0" smtClean="0"/>
              <a:t> </a:t>
            </a:r>
            <a:r>
              <a:rPr lang="de-CH" sz="1400" dirty="0" err="1" smtClean="0"/>
              <a:t>the</a:t>
            </a:r>
            <a:r>
              <a:rPr lang="de-CH" sz="1400" dirty="0" smtClean="0"/>
              <a:t> </a:t>
            </a:r>
            <a:r>
              <a:rPr lang="de-CH" sz="1400" dirty="0" err="1" smtClean="0"/>
              <a:t>inlet</a:t>
            </a:r>
            <a:r>
              <a:rPr lang="de-CH" sz="1400" dirty="0" smtClean="0"/>
              <a:t> </a:t>
            </a:r>
            <a:r>
              <a:rPr lang="de-CH" sz="1400" dirty="0" err="1" smtClean="0"/>
              <a:t>temperature</a:t>
            </a:r>
            <a:r>
              <a:rPr lang="de-CH" sz="1400" dirty="0" smtClean="0"/>
              <a:t> </a:t>
            </a:r>
            <a:r>
              <a:rPr lang="de-CH" sz="1400" dirty="0" err="1" smtClean="0"/>
              <a:t>and</a:t>
            </a:r>
            <a:r>
              <a:rPr lang="de-CH" sz="1400" dirty="0" smtClean="0"/>
              <a:t> </a:t>
            </a:r>
            <a:r>
              <a:rPr lang="de-CH" sz="1400" dirty="0" err="1" smtClean="0"/>
              <a:t>the</a:t>
            </a:r>
            <a:r>
              <a:rPr lang="de-CH" sz="1400" dirty="0" smtClean="0"/>
              <a:t> power </a:t>
            </a:r>
            <a:r>
              <a:rPr lang="de-CH" sz="1400" dirty="0" err="1" smtClean="0"/>
              <a:t>losses</a:t>
            </a:r>
            <a:r>
              <a:rPr lang="de-CH" sz="1400" dirty="0" smtClean="0"/>
              <a:t> </a:t>
            </a:r>
            <a:r>
              <a:rPr lang="de-CH" sz="1400" dirty="0" err="1" smtClean="0"/>
              <a:t>stay</a:t>
            </a:r>
            <a:r>
              <a:rPr lang="de-CH" sz="1400" dirty="0" smtClean="0"/>
              <a:t> in </a:t>
            </a:r>
            <a:r>
              <a:rPr lang="de-CH" sz="1400" dirty="0" err="1" smtClean="0"/>
              <a:t>the</a:t>
            </a:r>
            <a:r>
              <a:rPr lang="de-CH" sz="1400" dirty="0" smtClean="0"/>
              <a:t> same </a:t>
            </a:r>
            <a:r>
              <a:rPr lang="de-CH" sz="1400" dirty="0" err="1" smtClean="0"/>
              <a:t>order</a:t>
            </a:r>
            <a:r>
              <a:rPr lang="de-CH" sz="1400" dirty="0" smtClean="0"/>
              <a:t> </a:t>
            </a:r>
            <a:r>
              <a:rPr lang="de-CH" sz="1400" dirty="0" err="1" smtClean="0"/>
              <a:t>of</a:t>
            </a:r>
            <a:r>
              <a:rPr lang="de-CH" sz="1400" dirty="0" smtClean="0"/>
              <a:t> </a:t>
            </a:r>
            <a:r>
              <a:rPr lang="de-CH" sz="1400" dirty="0" err="1" smtClean="0"/>
              <a:t>magnitude</a:t>
            </a:r>
            <a:endParaRPr lang="de-CH" sz="1400" dirty="0" smtClean="0"/>
          </a:p>
          <a:p>
            <a:r>
              <a:rPr lang="de-CH" sz="1400" dirty="0" err="1" smtClean="0"/>
              <a:t>For</a:t>
            </a:r>
            <a:r>
              <a:rPr lang="de-CH" sz="1400" dirty="0" smtClean="0"/>
              <a:t> </a:t>
            </a:r>
            <a:r>
              <a:rPr lang="de-CH" sz="1400" dirty="0" err="1" smtClean="0"/>
              <a:t>small</a:t>
            </a:r>
            <a:r>
              <a:rPr lang="de-CH" sz="1400" dirty="0" smtClean="0"/>
              <a:t> </a:t>
            </a:r>
            <a:r>
              <a:rPr lang="de-CH" sz="1400" dirty="0" err="1" smtClean="0"/>
              <a:t>flowrates</a:t>
            </a:r>
            <a:r>
              <a:rPr lang="de-CH" sz="1400" dirty="0"/>
              <a:t> </a:t>
            </a:r>
            <a:r>
              <a:rPr lang="de-CH" sz="1400" dirty="0" err="1" smtClean="0"/>
              <a:t>below</a:t>
            </a:r>
            <a:r>
              <a:rPr lang="de-CH" sz="1400" dirty="0" smtClean="0"/>
              <a:t> 1 L/min </a:t>
            </a:r>
            <a:r>
              <a:rPr lang="de-CH" sz="1400" dirty="0" err="1" smtClean="0"/>
              <a:t>and</a:t>
            </a:r>
            <a:r>
              <a:rPr lang="de-CH" sz="1400" dirty="0" smtClean="0"/>
              <a:t> high power </a:t>
            </a:r>
            <a:r>
              <a:rPr lang="de-CH" sz="1400" dirty="0" err="1" smtClean="0"/>
              <a:t>losses</a:t>
            </a:r>
            <a:r>
              <a:rPr lang="de-CH" sz="1400" dirty="0" smtClean="0"/>
              <a:t>, </a:t>
            </a:r>
            <a:r>
              <a:rPr lang="de-CH" sz="1400" dirty="0" err="1" smtClean="0"/>
              <a:t>it</a:t>
            </a:r>
            <a:r>
              <a:rPr lang="de-CH" sz="1400" dirty="0" smtClean="0"/>
              <a:t> </a:t>
            </a:r>
            <a:r>
              <a:rPr lang="de-CH" sz="1400" dirty="0" err="1" smtClean="0"/>
              <a:t>might</a:t>
            </a:r>
            <a:r>
              <a:rPr lang="de-CH" sz="1400" dirty="0" smtClean="0"/>
              <a:t> happen, </a:t>
            </a:r>
            <a:r>
              <a:rPr lang="de-CH" sz="1400" dirty="0" err="1" smtClean="0"/>
              <a:t>that</a:t>
            </a:r>
            <a:r>
              <a:rPr lang="de-CH" sz="1400" dirty="0" smtClean="0"/>
              <a:t> </a:t>
            </a:r>
            <a:r>
              <a:rPr lang="de-CH" sz="1400" dirty="0" err="1" smtClean="0"/>
              <a:t>the</a:t>
            </a:r>
            <a:r>
              <a:rPr lang="de-CH" sz="1400" dirty="0" smtClean="0"/>
              <a:t> wall </a:t>
            </a:r>
            <a:r>
              <a:rPr lang="de-CH" sz="1400" dirty="0" err="1" smtClean="0"/>
              <a:t>temperature</a:t>
            </a:r>
            <a:r>
              <a:rPr lang="de-CH" sz="1400" dirty="0" smtClean="0"/>
              <a:t> </a:t>
            </a:r>
            <a:r>
              <a:rPr lang="de-CH" sz="1400" dirty="0" err="1" smtClean="0"/>
              <a:t>locally</a:t>
            </a:r>
            <a:r>
              <a:rPr lang="de-CH" sz="1400" dirty="0" smtClean="0"/>
              <a:t> </a:t>
            </a:r>
            <a:r>
              <a:rPr lang="de-CH" sz="1400" dirty="0" err="1" smtClean="0"/>
              <a:t>exceeds</a:t>
            </a:r>
            <a:r>
              <a:rPr lang="de-CH" sz="1400" dirty="0" smtClean="0"/>
              <a:t> </a:t>
            </a:r>
            <a:r>
              <a:rPr lang="de-CH" sz="1400" dirty="0" err="1" smtClean="0"/>
              <a:t>the</a:t>
            </a:r>
            <a:r>
              <a:rPr lang="de-CH" sz="1400" dirty="0" smtClean="0"/>
              <a:t> </a:t>
            </a:r>
            <a:r>
              <a:rPr lang="de-CH" sz="1400" dirty="0" err="1" smtClean="0"/>
              <a:t>boiling</a:t>
            </a:r>
            <a:r>
              <a:rPr lang="de-CH" sz="1400" dirty="0" smtClean="0"/>
              <a:t> </a:t>
            </a:r>
            <a:r>
              <a:rPr lang="de-CH" sz="1400" dirty="0" err="1" smtClean="0"/>
              <a:t>point</a:t>
            </a:r>
            <a:r>
              <a:rPr lang="de-CH" sz="1400" dirty="0" smtClean="0"/>
              <a:t> </a:t>
            </a:r>
            <a:r>
              <a:rPr lang="de-CH" sz="1400" dirty="0" err="1" smtClean="0"/>
              <a:t>of</a:t>
            </a:r>
            <a:r>
              <a:rPr lang="de-CH" sz="1400" dirty="0" smtClean="0"/>
              <a:t> </a:t>
            </a:r>
            <a:r>
              <a:rPr lang="de-CH" sz="1400" dirty="0" err="1" smtClean="0"/>
              <a:t>the</a:t>
            </a:r>
            <a:r>
              <a:rPr lang="de-CH" sz="1400" dirty="0" smtClean="0"/>
              <a:t> </a:t>
            </a:r>
            <a:r>
              <a:rPr lang="de-CH" sz="1400" dirty="0" err="1" smtClean="0"/>
              <a:t>water</a:t>
            </a:r>
            <a:r>
              <a:rPr lang="de-CH" sz="1400" dirty="0" smtClean="0"/>
              <a:t>/</a:t>
            </a:r>
            <a:r>
              <a:rPr lang="de-CH" sz="1400" dirty="0" err="1" smtClean="0"/>
              <a:t>glycol</a:t>
            </a:r>
            <a:r>
              <a:rPr lang="de-CH" sz="1400" dirty="0" smtClean="0"/>
              <a:t> </a:t>
            </a:r>
            <a:r>
              <a:rPr lang="de-CH" sz="1400" dirty="0" err="1" smtClean="0"/>
              <a:t>coolant</a:t>
            </a:r>
            <a:r>
              <a:rPr lang="de-CH" sz="1400" dirty="0" smtClean="0"/>
              <a:t>. In </a:t>
            </a:r>
            <a:r>
              <a:rPr lang="de-CH" sz="1400" dirty="0" err="1" smtClean="0"/>
              <a:t>that</a:t>
            </a:r>
            <a:r>
              <a:rPr lang="de-CH" sz="1400" dirty="0" smtClean="0"/>
              <a:t> </a:t>
            </a:r>
            <a:r>
              <a:rPr lang="de-CH" sz="1400" dirty="0" err="1" smtClean="0"/>
              <a:t>case</a:t>
            </a:r>
            <a:r>
              <a:rPr lang="de-CH" sz="1400" dirty="0" smtClean="0"/>
              <a:t> </a:t>
            </a:r>
            <a:r>
              <a:rPr lang="de-CH" sz="1400" dirty="0" err="1" smtClean="0"/>
              <a:t>the</a:t>
            </a:r>
            <a:r>
              <a:rPr lang="de-CH" sz="1400" dirty="0" smtClean="0"/>
              <a:t> </a:t>
            </a:r>
            <a:r>
              <a:rPr lang="de-CH" sz="1400" dirty="0" err="1" smtClean="0"/>
              <a:t>model</a:t>
            </a:r>
            <a:r>
              <a:rPr lang="de-CH" sz="1400" dirty="0" smtClean="0"/>
              <a:t> </a:t>
            </a:r>
            <a:r>
              <a:rPr lang="de-CH" sz="1400" dirty="0" err="1" smtClean="0"/>
              <a:t>is</a:t>
            </a:r>
            <a:r>
              <a:rPr lang="de-CH" sz="1400" dirty="0" smtClean="0"/>
              <a:t> </a:t>
            </a:r>
            <a:r>
              <a:rPr lang="de-CH" sz="1400" dirty="0" err="1" smtClean="0"/>
              <a:t>no</a:t>
            </a:r>
            <a:r>
              <a:rPr lang="de-CH" sz="1400" dirty="0" smtClean="0"/>
              <a:t> </a:t>
            </a:r>
            <a:r>
              <a:rPr lang="de-CH" sz="1400" dirty="0" err="1" smtClean="0"/>
              <a:t>longer</a:t>
            </a:r>
            <a:r>
              <a:rPr lang="de-CH" sz="1400" dirty="0" smtClean="0"/>
              <a:t> valid </a:t>
            </a:r>
            <a:r>
              <a:rPr lang="de-CH" sz="1400" dirty="0" err="1" smtClean="0"/>
              <a:t>and</a:t>
            </a:r>
            <a:r>
              <a:rPr lang="de-CH" sz="1400" dirty="0" smtClean="0"/>
              <a:t> </a:t>
            </a:r>
            <a:r>
              <a:rPr lang="de-CH" sz="1400" dirty="0" err="1" smtClean="0"/>
              <a:t>drastic</a:t>
            </a:r>
            <a:r>
              <a:rPr lang="de-CH" sz="1400" dirty="0" smtClean="0"/>
              <a:t> </a:t>
            </a:r>
            <a:r>
              <a:rPr lang="de-CH" sz="1400" dirty="0" err="1" smtClean="0"/>
              <a:t>changes</a:t>
            </a:r>
            <a:r>
              <a:rPr lang="de-CH" sz="1400" dirty="0" smtClean="0"/>
              <a:t> in </a:t>
            </a:r>
            <a:r>
              <a:rPr lang="de-CH" sz="1400" dirty="0" err="1" smtClean="0"/>
              <a:t>the</a:t>
            </a:r>
            <a:r>
              <a:rPr lang="de-CH" sz="1400" dirty="0" smtClean="0"/>
              <a:t> </a:t>
            </a:r>
            <a:r>
              <a:rPr lang="de-CH" sz="1400" dirty="0" err="1" smtClean="0"/>
              <a:t>heat</a:t>
            </a:r>
            <a:r>
              <a:rPr lang="de-CH" sz="1400" dirty="0" smtClean="0"/>
              <a:t> </a:t>
            </a:r>
            <a:r>
              <a:rPr lang="de-CH" sz="1400" dirty="0" err="1" smtClean="0"/>
              <a:t>transfer</a:t>
            </a:r>
            <a:r>
              <a:rPr lang="de-CH" sz="1400" dirty="0" smtClean="0"/>
              <a:t> </a:t>
            </a:r>
            <a:r>
              <a:rPr lang="de-CH" sz="1400" dirty="0" err="1" smtClean="0"/>
              <a:t>properties</a:t>
            </a:r>
            <a:r>
              <a:rPr lang="de-CH" sz="1400" dirty="0" smtClean="0"/>
              <a:t> </a:t>
            </a:r>
            <a:r>
              <a:rPr lang="de-CH" sz="1400" dirty="0" err="1" smtClean="0"/>
              <a:t>might</a:t>
            </a:r>
            <a:r>
              <a:rPr lang="de-CH" sz="1400" dirty="0" smtClean="0"/>
              <a:t> </a:t>
            </a:r>
            <a:r>
              <a:rPr lang="de-CH" sz="1400" dirty="0" err="1" smtClean="0"/>
              <a:t>occur</a:t>
            </a:r>
            <a:r>
              <a:rPr lang="de-CH" sz="1400" dirty="0" smtClean="0"/>
              <a:t>.</a:t>
            </a:r>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6</a:t>
            </a:fld>
            <a:r>
              <a:rPr lang="de-CH" smtClean="0"/>
              <a:t> </a:t>
            </a:r>
            <a:endParaRPr lang="de-CH" dirty="0"/>
          </a:p>
        </p:txBody>
      </p:sp>
    </p:spTree>
    <p:extLst>
      <p:ext uri="{BB962C8B-B14F-4D97-AF65-F5344CB8AC3E}">
        <p14:creationId xmlns:p14="http://schemas.microsoft.com/office/powerpoint/2010/main" val="11773620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extLst>
              <p:ext uri="{D42A27DB-BD31-4B8C-83A1-F6EECF244321}">
                <p14:modId xmlns:p14="http://schemas.microsoft.com/office/powerpoint/2010/main" val="38597519"/>
              </p:ext>
            </p:extLst>
          </p:nvPr>
        </p:nvGraphicFramePr>
        <p:xfrm>
          <a:off x="506096" y="612353"/>
          <a:ext cx="9721852" cy="6552654"/>
        </p:xfrm>
        <a:graphic>
          <a:graphicData uri="http://schemas.openxmlformats.org/drawingml/2006/table">
            <a:tbl>
              <a:tblPr firstRow="1" bandRow="1">
                <a:tableStyleId>{5C22544A-7EE6-4342-B048-85BDC9FD1C3A}</a:tableStyleId>
              </a:tblPr>
              <a:tblGrid>
                <a:gridCol w="1250448"/>
                <a:gridCol w="2808312"/>
                <a:gridCol w="2808312"/>
                <a:gridCol w="2854780"/>
              </a:tblGrid>
              <a:tr h="511041">
                <a:tc>
                  <a:txBody>
                    <a:bodyPr/>
                    <a:lstStyle/>
                    <a:p>
                      <a:endParaRPr lang="de-CH" dirty="0"/>
                    </a:p>
                  </a:txBody>
                  <a:tcPr/>
                </a:tc>
                <a:tc>
                  <a:txBody>
                    <a:bodyPr/>
                    <a:lstStyle/>
                    <a:p>
                      <a:r>
                        <a:rPr lang="de-CH" dirty="0" smtClean="0"/>
                        <a:t>First TO-247</a:t>
                      </a:r>
                      <a:endParaRPr lang="de-CH" dirty="0"/>
                    </a:p>
                  </a:txBody>
                  <a:tcPr/>
                </a:tc>
                <a:tc>
                  <a:txBody>
                    <a:bodyPr/>
                    <a:lstStyle/>
                    <a:p>
                      <a:r>
                        <a:rPr lang="de-CH" dirty="0" smtClean="0"/>
                        <a:t>2nd TO-247</a:t>
                      </a:r>
                      <a:endParaRPr lang="de-CH" dirty="0"/>
                    </a:p>
                  </a:txBody>
                  <a:tcPr/>
                </a:tc>
                <a:tc>
                  <a:txBody>
                    <a:bodyPr/>
                    <a:lstStyle/>
                    <a:p>
                      <a:r>
                        <a:rPr lang="de-CH" dirty="0" smtClean="0"/>
                        <a:t>9th TO-247</a:t>
                      </a:r>
                      <a:endParaRPr lang="de-CH" dirty="0"/>
                    </a:p>
                  </a:txBody>
                  <a:tcPr/>
                </a:tc>
              </a:tr>
              <a:tr h="2013871">
                <a:tc>
                  <a:txBody>
                    <a:bodyPr/>
                    <a:lstStyle/>
                    <a:p>
                      <a:r>
                        <a:rPr lang="de-CH" dirty="0" smtClean="0"/>
                        <a:t>1.0 L/min</a:t>
                      </a:r>
                      <a:endParaRPr lang="de-CH" dirty="0"/>
                    </a:p>
                  </a:txBody>
                  <a:tcPr/>
                </a:tc>
                <a:tc>
                  <a:txBody>
                    <a:bodyPr/>
                    <a:lstStyle/>
                    <a:p>
                      <a:endParaRPr lang="de-CH" dirty="0"/>
                    </a:p>
                  </a:txBody>
                  <a:tcPr/>
                </a:tc>
                <a:tc>
                  <a:txBody>
                    <a:bodyPr/>
                    <a:lstStyle/>
                    <a:p>
                      <a:endParaRPr lang="de-CH" dirty="0"/>
                    </a:p>
                  </a:txBody>
                  <a:tcPr/>
                </a:tc>
                <a:tc>
                  <a:txBody>
                    <a:bodyPr/>
                    <a:lstStyle/>
                    <a:p>
                      <a:endParaRPr lang="de-CH" dirty="0"/>
                    </a:p>
                  </a:txBody>
                  <a:tcPr/>
                </a:tc>
              </a:tr>
              <a:tr h="2013871">
                <a:tc>
                  <a:txBody>
                    <a:bodyPr/>
                    <a:lstStyle/>
                    <a:p>
                      <a:r>
                        <a:rPr lang="de-CH" dirty="0" smtClean="0"/>
                        <a:t>1.5 L/min</a:t>
                      </a:r>
                      <a:endParaRPr lang="de-CH" dirty="0"/>
                    </a:p>
                  </a:txBody>
                  <a:tcPr/>
                </a:tc>
                <a:tc>
                  <a:txBody>
                    <a:bodyPr/>
                    <a:lstStyle/>
                    <a:p>
                      <a:endParaRPr lang="de-CH" dirty="0"/>
                    </a:p>
                  </a:txBody>
                  <a:tcPr/>
                </a:tc>
                <a:tc>
                  <a:txBody>
                    <a:bodyPr/>
                    <a:lstStyle/>
                    <a:p>
                      <a:endParaRPr lang="de-CH" dirty="0"/>
                    </a:p>
                  </a:txBody>
                  <a:tcPr/>
                </a:tc>
                <a:tc>
                  <a:txBody>
                    <a:bodyPr/>
                    <a:lstStyle/>
                    <a:p>
                      <a:endParaRPr lang="de-CH" dirty="0"/>
                    </a:p>
                  </a:txBody>
                  <a:tcPr/>
                </a:tc>
              </a:tr>
              <a:tr h="20138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dirty="0" smtClean="0"/>
                        <a:t>2.5 L/min</a:t>
                      </a:r>
                    </a:p>
                  </a:txBody>
                  <a:tcPr/>
                </a:tc>
                <a:tc>
                  <a:txBody>
                    <a:bodyPr/>
                    <a:lstStyle/>
                    <a:p>
                      <a:endParaRPr lang="de-CH" dirty="0"/>
                    </a:p>
                  </a:txBody>
                  <a:tcPr/>
                </a:tc>
                <a:tc>
                  <a:txBody>
                    <a:bodyPr/>
                    <a:lstStyle/>
                    <a:p>
                      <a:endParaRPr lang="de-CH" dirty="0"/>
                    </a:p>
                  </a:txBody>
                  <a:tcPr/>
                </a:tc>
                <a:tc>
                  <a:txBody>
                    <a:bodyPr/>
                    <a:lstStyle/>
                    <a:p>
                      <a:endParaRPr lang="de-CH" dirty="0"/>
                    </a:p>
                  </a:txBody>
                  <a:tcPr/>
                </a:tc>
              </a:tr>
            </a:tbl>
          </a:graphicData>
        </a:graphic>
      </p:graphicFrame>
      <p:sp>
        <p:nvSpPr>
          <p:cNvPr id="2" name="Titel 1"/>
          <p:cNvSpPr>
            <a:spLocks noGrp="1"/>
          </p:cNvSpPr>
          <p:nvPr>
            <p:ph type="title"/>
          </p:nvPr>
        </p:nvSpPr>
        <p:spPr>
          <a:xfrm>
            <a:off x="485774" y="-179809"/>
            <a:ext cx="7915275" cy="792162"/>
          </a:xfrm>
        </p:spPr>
        <p:txBody>
          <a:bodyPr/>
          <a:lstStyle/>
          <a:p>
            <a:r>
              <a:rPr lang="de-CH" dirty="0" err="1" smtClean="0"/>
              <a:t>Results</a:t>
            </a:r>
            <a:r>
              <a:rPr lang="de-CH" dirty="0" smtClean="0"/>
              <a:t> </a:t>
            </a:r>
            <a:r>
              <a:rPr lang="de-CH" dirty="0" err="1" smtClean="0"/>
              <a:t>of</a:t>
            </a:r>
            <a:r>
              <a:rPr lang="de-CH" dirty="0" smtClean="0"/>
              <a:t> </a:t>
            </a:r>
            <a:r>
              <a:rPr lang="de-CH" dirty="0" err="1" smtClean="0"/>
              <a:t>optimization</a:t>
            </a:r>
            <a:r>
              <a:rPr lang="de-CH" dirty="0" smtClean="0"/>
              <a:t> </a:t>
            </a:r>
            <a:r>
              <a:rPr lang="de-CH" dirty="0" err="1" smtClean="0"/>
              <a:t>for</a:t>
            </a:r>
            <a:r>
              <a:rPr lang="de-CH" dirty="0" smtClean="0"/>
              <a:t> different </a:t>
            </a:r>
            <a:r>
              <a:rPr lang="de-CH" dirty="0" err="1" smtClean="0"/>
              <a:t>conditions</a:t>
            </a:r>
            <a:endParaRPr lang="de-CH"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7</a:t>
            </a:fld>
            <a:r>
              <a:rPr lang="de-CH" smtClean="0"/>
              <a:t> </a:t>
            </a:r>
            <a:endParaRPr lang="de-CH" dirty="0"/>
          </a:p>
        </p:txBody>
      </p:sp>
      <p:pic>
        <p:nvPicPr>
          <p:cNvPr id="2050" name="Picture 2" descr="W:\Technology\Functions\Thermal\Optimizer\extrudedProfile\1At1_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371" y="3216012"/>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Technology\Functions\Thermal\Optimizer\extrudedProfile\9At1_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7829" y="3204567"/>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W:\Technology\Functions\Thermal\Optimizer\extrudedProfile\2At1_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0683" y="3204567"/>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W:\Technology\Functions\Thermal\Optimizer\extrudedProfile\1At2_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0596" y="5183637"/>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W:\Technology\Functions\Thermal\Optimizer\extrudedProfile\2At2_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8908" y="5183637"/>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Technology\Functions\Thermal\Optimizer\extrudedProfile\9At2_5.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9228" y="5183637"/>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W:\Technology\Functions\Thermal\Optimizer\extrudedProfile\1At1_0.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2371" y="1188343"/>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Technology\Functions\Thermal\Optimizer\extrudedProfile\2At1_0.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8908" y="1188343"/>
            <a:ext cx="2560000" cy="1920000"/>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W:\Technology\Functions\Thermal\Optimizer\extrudedProfile\9At1_0.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27829" y="1188343"/>
            <a:ext cx="2560000" cy="19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59730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8</a:t>
            </a:fld>
            <a:r>
              <a:rPr lang="de-CH" smtClean="0"/>
              <a:t> </a:t>
            </a:r>
            <a:endParaRPr lang="de-CH" dirty="0"/>
          </a:p>
        </p:txBody>
      </p:sp>
      <p:sp>
        <p:nvSpPr>
          <p:cNvPr id="8" name="Inhaltsplatzhalter 2"/>
          <p:cNvSpPr txBox="1">
            <a:spLocks/>
          </p:cNvSpPr>
          <p:nvPr/>
        </p:nvSpPr>
        <p:spPr bwMode="auto">
          <a:xfrm>
            <a:off x="523915" y="1484312"/>
            <a:ext cx="9721852" cy="511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spcCol="180000" anchor="t" anchorCtr="0" compatLnSpc="1">
            <a:prstTxWarp prst="textNoShape">
              <a:avLst/>
            </a:prstTxWarp>
            <a:normAutofit/>
          </a:bodyPr>
          <a:lstStyle>
            <a:lvl1pPr marL="342900" indent="-34290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lang="de-CH" sz="2400">
                <a:solidFill>
                  <a:schemeClr val="tx1"/>
                </a:solidFill>
                <a:latin typeface="+mn-lt"/>
                <a:ea typeface="+mn-ea"/>
                <a:cs typeface="+mn-cs"/>
              </a:defRPr>
            </a:lvl1pPr>
            <a:lvl2pPr marL="788987" indent="-2857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2000">
                <a:solidFill>
                  <a:schemeClr val="tx1"/>
                </a:solidFill>
                <a:latin typeface="+mn-lt"/>
              </a:defRPr>
            </a:lvl2pPr>
            <a:lvl3pPr marL="1179512"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600">
                <a:solidFill>
                  <a:schemeClr val="tx1"/>
                </a:solidFill>
                <a:latin typeface="+mn-lt"/>
              </a:defRPr>
            </a:lvl3pPr>
            <a:lvl4pPr marL="1681163"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400">
                <a:solidFill>
                  <a:schemeClr val="tx1"/>
                </a:solidFill>
                <a:latin typeface="+mn-lt"/>
              </a:defRPr>
            </a:lvl4pPr>
            <a:lvl5pPr marL="2187575" indent="-171450" algn="l" defTabSz="1008063" rtl="0" eaLnBrk="1" fontAlgn="base" hangingPunct="1">
              <a:lnSpc>
                <a:spcPct val="120000"/>
              </a:lnSpc>
              <a:spcBef>
                <a:spcPts val="500"/>
              </a:spcBef>
              <a:spcAft>
                <a:spcPct val="0"/>
              </a:spcAft>
              <a:buClr>
                <a:srgbClr val="BE0000"/>
              </a:buClr>
              <a:buFont typeface="Arial" panose="020B0604020202020204" pitchFamily="34" charset="0"/>
              <a:buChar char="■"/>
              <a:defRPr sz="1200">
                <a:solidFill>
                  <a:schemeClr val="tx1"/>
                </a:solidFill>
                <a:latin typeface="+mn-lt"/>
              </a:defRPr>
            </a:lvl5pPr>
            <a:lvl6pPr marL="2725738" indent="-252413" algn="l" defTabSz="1008063" rtl="0" eaLnBrk="1" fontAlgn="base" hangingPunct="1">
              <a:spcBef>
                <a:spcPct val="20000"/>
              </a:spcBef>
              <a:spcAft>
                <a:spcPct val="0"/>
              </a:spcAft>
              <a:buChar char="»"/>
              <a:defRPr sz="1400">
                <a:solidFill>
                  <a:schemeClr val="tx1"/>
                </a:solidFill>
                <a:latin typeface="+mn-lt"/>
              </a:defRPr>
            </a:lvl6pPr>
            <a:lvl7pPr marL="3182938" indent="-252413" algn="l" defTabSz="1008063" rtl="0" eaLnBrk="1" fontAlgn="base" hangingPunct="1">
              <a:spcBef>
                <a:spcPct val="20000"/>
              </a:spcBef>
              <a:spcAft>
                <a:spcPct val="0"/>
              </a:spcAft>
              <a:buChar char="»"/>
              <a:defRPr sz="1400">
                <a:solidFill>
                  <a:schemeClr val="tx1"/>
                </a:solidFill>
                <a:latin typeface="+mn-lt"/>
              </a:defRPr>
            </a:lvl7pPr>
            <a:lvl8pPr marL="3640138" indent="-252413" algn="l" defTabSz="1008063" rtl="0" eaLnBrk="1" fontAlgn="base" hangingPunct="1">
              <a:spcBef>
                <a:spcPct val="20000"/>
              </a:spcBef>
              <a:spcAft>
                <a:spcPct val="0"/>
              </a:spcAft>
              <a:buChar char="»"/>
              <a:defRPr sz="1400">
                <a:solidFill>
                  <a:schemeClr val="tx1"/>
                </a:solidFill>
                <a:latin typeface="+mn-lt"/>
              </a:defRPr>
            </a:lvl8pPr>
            <a:lvl9pPr marL="4097338" indent="-252413" algn="l" defTabSz="1008063" rtl="0" eaLnBrk="1" fontAlgn="base" hangingPunct="1">
              <a:spcBef>
                <a:spcPct val="20000"/>
              </a:spcBef>
              <a:spcAft>
                <a:spcPct val="0"/>
              </a:spcAft>
              <a:buChar char="»"/>
              <a:defRPr sz="1400">
                <a:solidFill>
                  <a:schemeClr val="tx1"/>
                </a:solidFill>
                <a:latin typeface="+mn-lt"/>
              </a:defRPr>
            </a:lvl9pPr>
          </a:lstStyle>
          <a:p>
            <a:r>
              <a:rPr lang="en-US" sz="1400" dirty="0" smtClean="0"/>
              <a:t>As expected, the most critical is the last TO-247 at lowest </a:t>
            </a:r>
            <a:r>
              <a:rPr lang="en-US" sz="1400" dirty="0" err="1" smtClean="0"/>
              <a:t>flowrate</a:t>
            </a:r>
            <a:endParaRPr lang="en-US" sz="1400" dirty="0" smtClean="0"/>
          </a:p>
          <a:p>
            <a:r>
              <a:rPr lang="de-CH" sz="1400" dirty="0" err="1" smtClean="0"/>
              <a:t>At</a:t>
            </a:r>
            <a:r>
              <a:rPr lang="de-CH" sz="1400" dirty="0" smtClean="0"/>
              <a:t> 1 L/min a </a:t>
            </a:r>
            <a:r>
              <a:rPr lang="de-CH" sz="1400" dirty="0" err="1" smtClean="0"/>
              <a:t>profile</a:t>
            </a:r>
            <a:r>
              <a:rPr lang="de-CH" sz="1400" dirty="0" smtClean="0"/>
              <a:t> </a:t>
            </a:r>
            <a:r>
              <a:rPr lang="de-CH" sz="1400" dirty="0" err="1" smtClean="0"/>
              <a:t>thickness</a:t>
            </a:r>
            <a:r>
              <a:rPr lang="de-CH" sz="1400" dirty="0" smtClean="0"/>
              <a:t> </a:t>
            </a:r>
            <a:r>
              <a:rPr lang="de-CH" sz="1400" dirty="0" err="1" smtClean="0"/>
              <a:t>of</a:t>
            </a:r>
            <a:r>
              <a:rPr lang="de-CH" sz="1400" dirty="0" smtClean="0"/>
              <a:t>  10mm </a:t>
            </a:r>
            <a:r>
              <a:rPr lang="de-CH" sz="1400" dirty="0" err="1" smtClean="0"/>
              <a:t>seems</a:t>
            </a:r>
            <a:r>
              <a:rPr lang="de-CH" sz="1400" dirty="0" smtClean="0"/>
              <a:t> </a:t>
            </a:r>
            <a:r>
              <a:rPr lang="de-CH" sz="1400" dirty="0" err="1" smtClean="0"/>
              <a:t>to</a:t>
            </a:r>
            <a:r>
              <a:rPr lang="de-CH" sz="1400" dirty="0" smtClean="0"/>
              <a:t> </a:t>
            </a:r>
            <a:r>
              <a:rPr lang="de-CH" sz="1400" dirty="0" err="1" smtClean="0"/>
              <a:t>be</a:t>
            </a:r>
            <a:r>
              <a:rPr lang="de-CH" sz="1400" dirty="0" smtClean="0"/>
              <a:t> a </a:t>
            </a:r>
            <a:r>
              <a:rPr lang="de-CH" sz="1400" dirty="0" err="1" smtClean="0"/>
              <a:t>good</a:t>
            </a:r>
            <a:r>
              <a:rPr lang="de-CH" sz="1400" dirty="0" smtClean="0"/>
              <a:t> </a:t>
            </a:r>
            <a:r>
              <a:rPr lang="de-CH" sz="1400" dirty="0" err="1" smtClean="0"/>
              <a:t>compromise</a:t>
            </a:r>
            <a:r>
              <a:rPr lang="de-CH" sz="1400" dirty="0" smtClean="0"/>
              <a:t> </a:t>
            </a:r>
            <a:r>
              <a:rPr lang="de-CH" sz="1400" dirty="0" err="1" smtClean="0"/>
              <a:t>between</a:t>
            </a:r>
            <a:r>
              <a:rPr lang="de-CH" sz="1400" dirty="0" smtClean="0"/>
              <a:t> thermal </a:t>
            </a:r>
            <a:r>
              <a:rPr lang="de-CH" sz="1400" dirty="0" err="1" smtClean="0"/>
              <a:t>resistance</a:t>
            </a:r>
            <a:r>
              <a:rPr lang="de-CH" sz="1400" dirty="0" smtClean="0"/>
              <a:t> </a:t>
            </a:r>
            <a:r>
              <a:rPr lang="de-CH" sz="1400" dirty="0" err="1" smtClean="0"/>
              <a:t>and</a:t>
            </a:r>
            <a:r>
              <a:rPr lang="de-CH" sz="1400" dirty="0" smtClean="0"/>
              <a:t> </a:t>
            </a:r>
            <a:r>
              <a:rPr lang="de-CH" sz="1400" dirty="0" err="1" smtClean="0"/>
              <a:t>required</a:t>
            </a:r>
            <a:r>
              <a:rPr lang="de-CH" sz="1400" dirty="0" smtClean="0"/>
              <a:t> </a:t>
            </a:r>
            <a:r>
              <a:rPr lang="de-CH" sz="1400" dirty="0" err="1" smtClean="0"/>
              <a:t>space</a:t>
            </a:r>
            <a:r>
              <a:rPr lang="de-CH" sz="1400" dirty="0" smtClean="0"/>
              <a:t>, </a:t>
            </a:r>
            <a:r>
              <a:rPr lang="de-CH" sz="1400" dirty="0" err="1" smtClean="0"/>
              <a:t>further</a:t>
            </a:r>
            <a:r>
              <a:rPr lang="de-CH" sz="1400" dirty="0" smtClean="0"/>
              <a:t> </a:t>
            </a:r>
            <a:r>
              <a:rPr lang="de-CH" sz="1400" dirty="0" err="1" smtClean="0"/>
              <a:t>increase</a:t>
            </a:r>
            <a:r>
              <a:rPr lang="de-CH" sz="1400" dirty="0" smtClean="0"/>
              <a:t> </a:t>
            </a:r>
            <a:r>
              <a:rPr lang="de-CH" sz="1400" dirty="0" err="1" smtClean="0"/>
              <a:t>of</a:t>
            </a:r>
            <a:r>
              <a:rPr lang="de-CH" sz="1400" dirty="0" smtClean="0"/>
              <a:t> </a:t>
            </a:r>
            <a:r>
              <a:rPr lang="de-CH" sz="1400" dirty="0" err="1" smtClean="0"/>
              <a:t>the</a:t>
            </a:r>
            <a:r>
              <a:rPr lang="de-CH" sz="1400" dirty="0" smtClean="0"/>
              <a:t> </a:t>
            </a:r>
            <a:r>
              <a:rPr lang="de-CH" sz="1400" dirty="0" err="1" smtClean="0"/>
              <a:t>thickness</a:t>
            </a:r>
            <a:r>
              <a:rPr lang="de-CH" sz="1400" dirty="0" smtClean="0"/>
              <a:t> </a:t>
            </a:r>
            <a:r>
              <a:rPr lang="de-CH" sz="1400" dirty="0" err="1" smtClean="0"/>
              <a:t>has</a:t>
            </a:r>
            <a:r>
              <a:rPr lang="de-CH" sz="1400" dirty="0" smtClean="0"/>
              <a:t> </a:t>
            </a:r>
            <a:r>
              <a:rPr lang="de-CH" sz="1400" dirty="0" err="1" smtClean="0"/>
              <a:t>little</a:t>
            </a:r>
            <a:r>
              <a:rPr lang="de-CH" sz="1400" dirty="0" smtClean="0"/>
              <a:t> </a:t>
            </a:r>
            <a:r>
              <a:rPr lang="de-CH" sz="1400" dirty="0" err="1" smtClean="0"/>
              <a:t>influence</a:t>
            </a:r>
            <a:endParaRPr lang="de-CH" sz="1400" dirty="0" smtClean="0"/>
          </a:p>
          <a:p>
            <a:r>
              <a:rPr lang="de-CH" sz="1400" dirty="0" err="1" smtClean="0"/>
              <a:t>With</a:t>
            </a:r>
            <a:r>
              <a:rPr lang="de-CH" sz="1400" dirty="0" smtClean="0"/>
              <a:t> </a:t>
            </a:r>
            <a:r>
              <a:rPr lang="de-CH" sz="1400" dirty="0" err="1" smtClean="0"/>
              <a:t>decreasing</a:t>
            </a:r>
            <a:r>
              <a:rPr lang="de-CH" sz="1400" dirty="0" smtClean="0"/>
              <a:t> </a:t>
            </a:r>
            <a:r>
              <a:rPr lang="de-CH" sz="1400" dirty="0" err="1" smtClean="0"/>
              <a:t>flowrate</a:t>
            </a:r>
            <a:r>
              <a:rPr lang="de-CH" sz="1400" dirty="0" smtClean="0"/>
              <a:t> </a:t>
            </a:r>
            <a:r>
              <a:rPr lang="de-CH" sz="1400" dirty="0" err="1" smtClean="0"/>
              <a:t>the</a:t>
            </a:r>
            <a:r>
              <a:rPr lang="de-CH" sz="1400" dirty="0" smtClean="0"/>
              <a:t> ideal wall </a:t>
            </a:r>
            <a:r>
              <a:rPr lang="de-CH" sz="1400" dirty="0" err="1" smtClean="0"/>
              <a:t>thickness</a:t>
            </a:r>
            <a:r>
              <a:rPr lang="de-CH" sz="1400" dirty="0" smtClean="0"/>
              <a:t> </a:t>
            </a:r>
            <a:r>
              <a:rPr lang="de-CH" sz="1400" dirty="0" err="1" smtClean="0"/>
              <a:t>decreases</a:t>
            </a:r>
            <a:r>
              <a:rPr lang="de-CH" sz="1400" dirty="0" smtClean="0"/>
              <a:t> </a:t>
            </a:r>
            <a:r>
              <a:rPr lang="de-CH" sz="1400" dirty="0" err="1" smtClean="0"/>
              <a:t>as</a:t>
            </a:r>
            <a:r>
              <a:rPr lang="de-CH" sz="1400" dirty="0" smtClean="0"/>
              <a:t> </a:t>
            </a:r>
            <a:r>
              <a:rPr lang="de-CH" sz="1400" dirty="0" err="1" smtClean="0"/>
              <a:t>well</a:t>
            </a:r>
            <a:endParaRPr lang="de-CH" sz="1400" dirty="0" smtClean="0"/>
          </a:p>
          <a:p>
            <a:r>
              <a:rPr lang="de-CH" sz="1400" dirty="0" err="1" smtClean="0"/>
              <a:t>With</a:t>
            </a:r>
            <a:r>
              <a:rPr lang="de-CH" sz="1400" dirty="0" smtClean="0"/>
              <a:t> </a:t>
            </a:r>
            <a:r>
              <a:rPr lang="de-CH" sz="1400" dirty="0" err="1" smtClean="0"/>
              <a:t>increasing</a:t>
            </a:r>
            <a:r>
              <a:rPr lang="de-CH" sz="1400" dirty="0" smtClean="0"/>
              <a:t> </a:t>
            </a:r>
            <a:r>
              <a:rPr lang="de-CH" sz="1400" dirty="0" err="1" smtClean="0"/>
              <a:t>profile</a:t>
            </a:r>
            <a:r>
              <a:rPr lang="de-CH" sz="1400" dirty="0" smtClean="0"/>
              <a:t> </a:t>
            </a:r>
            <a:r>
              <a:rPr lang="de-CH" sz="1400" dirty="0" err="1" smtClean="0"/>
              <a:t>thickness</a:t>
            </a:r>
            <a:r>
              <a:rPr lang="de-CH" sz="1400" dirty="0" smtClean="0"/>
              <a:t>, </a:t>
            </a:r>
            <a:r>
              <a:rPr lang="de-CH" sz="1400" dirty="0" err="1" smtClean="0"/>
              <a:t>the</a:t>
            </a:r>
            <a:r>
              <a:rPr lang="de-CH" sz="1400" dirty="0" smtClean="0"/>
              <a:t> ideal wall </a:t>
            </a:r>
            <a:r>
              <a:rPr lang="de-CH" sz="1400" dirty="0" err="1" smtClean="0"/>
              <a:t>thickness</a:t>
            </a:r>
            <a:r>
              <a:rPr lang="de-CH" sz="1400" dirty="0" smtClean="0"/>
              <a:t> </a:t>
            </a:r>
            <a:r>
              <a:rPr lang="de-CH" sz="1400" dirty="0" err="1" smtClean="0"/>
              <a:t>increases</a:t>
            </a:r>
            <a:r>
              <a:rPr lang="de-CH" sz="1400" dirty="0" smtClean="0"/>
              <a:t> </a:t>
            </a:r>
            <a:r>
              <a:rPr lang="de-CH" sz="1400" dirty="0" err="1" smtClean="0"/>
              <a:t>as</a:t>
            </a:r>
            <a:r>
              <a:rPr lang="de-CH" sz="1400" dirty="0" smtClean="0"/>
              <a:t> </a:t>
            </a:r>
            <a:r>
              <a:rPr lang="de-CH" sz="1400" dirty="0" err="1" smtClean="0"/>
              <a:t>well</a:t>
            </a:r>
            <a:endParaRPr lang="de-CH" sz="1400" dirty="0" smtClean="0"/>
          </a:p>
          <a:p>
            <a:r>
              <a:rPr lang="de-CH" sz="1400" dirty="0" err="1" smtClean="0"/>
              <a:t>For</a:t>
            </a:r>
            <a:r>
              <a:rPr lang="de-CH" sz="1400" dirty="0" smtClean="0"/>
              <a:t> </a:t>
            </a:r>
            <a:r>
              <a:rPr lang="de-CH" sz="1400" dirty="0" err="1" smtClean="0"/>
              <a:t>the</a:t>
            </a:r>
            <a:r>
              <a:rPr lang="de-CH" sz="1400" dirty="0" smtClean="0"/>
              <a:t> </a:t>
            </a:r>
            <a:r>
              <a:rPr lang="de-CH" sz="1400" dirty="0" err="1" smtClean="0"/>
              <a:t>later</a:t>
            </a:r>
            <a:r>
              <a:rPr lang="de-CH" sz="1400" dirty="0" smtClean="0"/>
              <a:t> TO-247, </a:t>
            </a:r>
            <a:r>
              <a:rPr lang="de-CH" sz="1400" dirty="0" err="1" smtClean="0"/>
              <a:t>the</a:t>
            </a:r>
            <a:r>
              <a:rPr lang="de-CH" sz="1400" dirty="0" smtClean="0"/>
              <a:t> ideal wall </a:t>
            </a:r>
            <a:r>
              <a:rPr lang="de-CH" sz="1400" dirty="0" err="1" smtClean="0"/>
              <a:t>thickness</a:t>
            </a:r>
            <a:r>
              <a:rPr lang="de-CH" sz="1400" dirty="0" smtClean="0"/>
              <a:t> </a:t>
            </a:r>
            <a:r>
              <a:rPr lang="de-CH" sz="1400" dirty="0" err="1" smtClean="0"/>
              <a:t>decreases</a:t>
            </a:r>
            <a:r>
              <a:rPr lang="de-CH" sz="1400" dirty="0" smtClean="0"/>
              <a:t> </a:t>
            </a:r>
            <a:r>
              <a:rPr lang="de-CH" sz="1400" dirty="0" err="1" smtClean="0"/>
              <a:t>compared</a:t>
            </a:r>
            <a:r>
              <a:rPr lang="de-CH" sz="1400" dirty="0" smtClean="0"/>
              <a:t> </a:t>
            </a:r>
            <a:r>
              <a:rPr lang="de-CH" sz="1400" dirty="0" err="1" smtClean="0"/>
              <a:t>to</a:t>
            </a:r>
            <a:r>
              <a:rPr lang="de-CH" sz="1400" dirty="0" smtClean="0"/>
              <a:t> </a:t>
            </a:r>
            <a:r>
              <a:rPr lang="de-CH" sz="1400" dirty="0" err="1" smtClean="0"/>
              <a:t>the</a:t>
            </a:r>
            <a:r>
              <a:rPr lang="de-CH" sz="1400" dirty="0" smtClean="0"/>
              <a:t> </a:t>
            </a:r>
            <a:r>
              <a:rPr lang="de-CH" sz="1400" dirty="0" err="1" smtClean="0"/>
              <a:t>previous</a:t>
            </a:r>
            <a:r>
              <a:rPr lang="de-CH" sz="1400" dirty="0" smtClean="0"/>
              <a:t> TO-247</a:t>
            </a:r>
          </a:p>
          <a:p>
            <a:r>
              <a:rPr lang="de-CH" sz="1400" dirty="0" smtClean="0"/>
              <a:t>These </a:t>
            </a:r>
            <a:r>
              <a:rPr lang="de-CH" sz="1400" dirty="0" err="1" smtClean="0"/>
              <a:t>effects</a:t>
            </a:r>
            <a:r>
              <a:rPr lang="de-CH" sz="1400" dirty="0" smtClean="0"/>
              <a:t> </a:t>
            </a:r>
            <a:r>
              <a:rPr lang="de-CH" sz="1400" dirty="0" err="1" smtClean="0"/>
              <a:t>are</a:t>
            </a:r>
            <a:r>
              <a:rPr lang="de-CH" sz="1400" dirty="0" smtClean="0"/>
              <a:t> due </a:t>
            </a:r>
            <a:r>
              <a:rPr lang="de-CH" sz="1400" dirty="0" err="1" smtClean="0"/>
              <a:t>to</a:t>
            </a:r>
            <a:r>
              <a:rPr lang="de-CH" sz="1400" dirty="0" smtClean="0"/>
              <a:t> </a:t>
            </a:r>
            <a:r>
              <a:rPr lang="de-CH" sz="1400" dirty="0" err="1" smtClean="0"/>
              <a:t>reduced</a:t>
            </a:r>
            <a:r>
              <a:rPr lang="de-CH" sz="1400" dirty="0" smtClean="0"/>
              <a:t> </a:t>
            </a:r>
            <a:r>
              <a:rPr lang="de-CH" sz="1400" dirty="0" err="1" smtClean="0"/>
              <a:t>heat</a:t>
            </a:r>
            <a:r>
              <a:rPr lang="de-CH" sz="1400" dirty="0" smtClean="0"/>
              <a:t> </a:t>
            </a:r>
            <a:r>
              <a:rPr lang="de-CH" sz="1400" dirty="0" err="1" smtClean="0"/>
              <a:t>transfer</a:t>
            </a:r>
            <a:r>
              <a:rPr lang="de-CH" sz="1400" dirty="0" smtClean="0"/>
              <a:t> rate </a:t>
            </a:r>
            <a:r>
              <a:rPr lang="de-CH" sz="1400" dirty="0" err="1" smtClean="0"/>
              <a:t>into</a:t>
            </a:r>
            <a:r>
              <a:rPr lang="de-CH" sz="1400" dirty="0" smtClean="0"/>
              <a:t> </a:t>
            </a:r>
            <a:r>
              <a:rPr lang="de-CH" sz="1400" dirty="0" err="1" smtClean="0"/>
              <a:t>the</a:t>
            </a:r>
            <a:r>
              <a:rPr lang="de-CH" sz="1400" dirty="0" smtClean="0"/>
              <a:t> fluid, </a:t>
            </a:r>
            <a:r>
              <a:rPr lang="de-CH" sz="1400" dirty="0" err="1" smtClean="0"/>
              <a:t>which</a:t>
            </a:r>
            <a:r>
              <a:rPr lang="de-CH" sz="1400" dirty="0" smtClean="0"/>
              <a:t> </a:t>
            </a:r>
            <a:r>
              <a:rPr lang="de-CH" sz="1400" dirty="0" err="1" smtClean="0"/>
              <a:t>increases</a:t>
            </a:r>
            <a:r>
              <a:rPr lang="de-CH" sz="1400" dirty="0" smtClean="0"/>
              <a:t> </a:t>
            </a:r>
            <a:r>
              <a:rPr lang="de-CH" sz="1400" dirty="0" err="1" smtClean="0"/>
              <a:t>the</a:t>
            </a:r>
            <a:r>
              <a:rPr lang="de-CH" sz="1400" dirty="0" smtClean="0"/>
              <a:t> </a:t>
            </a:r>
            <a:r>
              <a:rPr lang="de-CH" sz="1400" dirty="0" err="1" smtClean="0"/>
              <a:t>fin</a:t>
            </a:r>
            <a:r>
              <a:rPr lang="de-CH" sz="1400" dirty="0" smtClean="0"/>
              <a:t> </a:t>
            </a:r>
            <a:r>
              <a:rPr lang="de-CH" sz="1400" dirty="0" err="1" smtClean="0"/>
              <a:t>efficiency</a:t>
            </a:r>
            <a:endParaRPr lang="de-CH" sz="1400" dirty="0" smtClean="0"/>
          </a:p>
          <a:p>
            <a:r>
              <a:rPr lang="de-CH" sz="1400" dirty="0" err="1" smtClean="0"/>
              <a:t>Since</a:t>
            </a:r>
            <a:r>
              <a:rPr lang="de-CH" sz="1400" dirty="0" smtClean="0"/>
              <a:t> </a:t>
            </a:r>
            <a:r>
              <a:rPr lang="de-CH" sz="1400" dirty="0" err="1" smtClean="0"/>
              <a:t>the</a:t>
            </a:r>
            <a:r>
              <a:rPr lang="de-CH" sz="1400" dirty="0" smtClean="0"/>
              <a:t> last TO-247’s </a:t>
            </a:r>
            <a:r>
              <a:rPr lang="de-CH" sz="1400" dirty="0" err="1" smtClean="0"/>
              <a:t>are</a:t>
            </a:r>
            <a:r>
              <a:rPr lang="de-CH" sz="1400" dirty="0" smtClean="0"/>
              <a:t> </a:t>
            </a:r>
            <a:r>
              <a:rPr lang="de-CH" sz="1400" dirty="0" err="1" smtClean="0"/>
              <a:t>the</a:t>
            </a:r>
            <a:r>
              <a:rPr lang="de-CH" sz="1400" dirty="0" smtClean="0"/>
              <a:t> </a:t>
            </a:r>
            <a:r>
              <a:rPr lang="de-CH" sz="1400" dirty="0" err="1" smtClean="0"/>
              <a:t>most</a:t>
            </a:r>
            <a:r>
              <a:rPr lang="de-CH" sz="1400" dirty="0" smtClean="0"/>
              <a:t> </a:t>
            </a:r>
            <a:r>
              <a:rPr lang="de-CH" sz="1400" dirty="0" err="1" smtClean="0"/>
              <a:t>critical</a:t>
            </a:r>
            <a:r>
              <a:rPr lang="de-CH" sz="1400" dirty="0" smtClean="0"/>
              <a:t>, </a:t>
            </a:r>
            <a:r>
              <a:rPr lang="de-CH" sz="1400" dirty="0" err="1" smtClean="0"/>
              <a:t>the</a:t>
            </a:r>
            <a:r>
              <a:rPr lang="de-CH" sz="1400" dirty="0" smtClean="0"/>
              <a:t> wall </a:t>
            </a:r>
            <a:r>
              <a:rPr lang="de-CH" sz="1400" dirty="0" err="1" smtClean="0"/>
              <a:t>thickness</a:t>
            </a:r>
            <a:r>
              <a:rPr lang="de-CH" sz="1400" dirty="0" smtClean="0"/>
              <a:t> </a:t>
            </a:r>
            <a:r>
              <a:rPr lang="de-CH" sz="1400" dirty="0" err="1" smtClean="0"/>
              <a:t>should</a:t>
            </a:r>
            <a:r>
              <a:rPr lang="de-CH" sz="1400" dirty="0" smtClean="0"/>
              <a:t> </a:t>
            </a:r>
            <a:r>
              <a:rPr lang="de-CH" sz="1400" dirty="0" err="1" smtClean="0"/>
              <a:t>be</a:t>
            </a:r>
            <a:r>
              <a:rPr lang="de-CH" sz="1400" dirty="0" smtClean="0"/>
              <a:t> </a:t>
            </a:r>
            <a:r>
              <a:rPr lang="de-CH" sz="1400" dirty="0" err="1" smtClean="0"/>
              <a:t>chosen</a:t>
            </a:r>
            <a:r>
              <a:rPr lang="de-CH" sz="1400" dirty="0" smtClean="0"/>
              <a:t> </a:t>
            </a:r>
            <a:r>
              <a:rPr lang="de-CH" sz="1400" dirty="0" err="1" smtClean="0"/>
              <a:t>to</a:t>
            </a:r>
            <a:r>
              <a:rPr lang="de-CH" sz="1400" dirty="0" smtClean="0"/>
              <a:t> </a:t>
            </a:r>
            <a:r>
              <a:rPr lang="de-CH" sz="1400" dirty="0" err="1" smtClean="0"/>
              <a:t>be</a:t>
            </a:r>
            <a:r>
              <a:rPr lang="de-CH" sz="1400" dirty="0" smtClean="0"/>
              <a:t> ideal </a:t>
            </a:r>
            <a:r>
              <a:rPr lang="de-CH" sz="1400" dirty="0" err="1" smtClean="0"/>
              <a:t>for</a:t>
            </a:r>
            <a:r>
              <a:rPr lang="de-CH" sz="1400" dirty="0" smtClean="0"/>
              <a:t> </a:t>
            </a:r>
            <a:r>
              <a:rPr lang="de-CH" sz="1400" dirty="0" err="1" smtClean="0"/>
              <a:t>them</a:t>
            </a:r>
            <a:r>
              <a:rPr lang="de-CH" sz="1400" dirty="0" smtClean="0"/>
              <a:t> </a:t>
            </a:r>
            <a:r>
              <a:rPr lang="de-CH" sz="1400" dirty="0" err="1" smtClean="0"/>
              <a:t>rather</a:t>
            </a:r>
            <a:r>
              <a:rPr lang="de-CH" sz="1400" dirty="0" smtClean="0"/>
              <a:t> </a:t>
            </a:r>
            <a:r>
              <a:rPr lang="de-CH" sz="1400" dirty="0" err="1" smtClean="0"/>
              <a:t>then</a:t>
            </a:r>
            <a:r>
              <a:rPr lang="de-CH" sz="1400" dirty="0" smtClean="0"/>
              <a:t> </a:t>
            </a:r>
            <a:r>
              <a:rPr lang="de-CH" sz="1400" dirty="0" err="1" smtClean="0"/>
              <a:t>the</a:t>
            </a:r>
            <a:r>
              <a:rPr lang="de-CH" sz="1400" dirty="0" smtClean="0"/>
              <a:t> </a:t>
            </a:r>
            <a:r>
              <a:rPr lang="de-CH" sz="1400" dirty="0" err="1" smtClean="0"/>
              <a:t>earlier</a:t>
            </a:r>
            <a:r>
              <a:rPr lang="de-CH" sz="1400" dirty="0" smtClean="0"/>
              <a:t> </a:t>
            </a:r>
            <a:r>
              <a:rPr lang="de-CH" sz="1400" dirty="0" err="1" smtClean="0"/>
              <a:t>ones</a:t>
            </a:r>
            <a:endParaRPr lang="de-CH" sz="1400" dirty="0" smtClean="0"/>
          </a:p>
          <a:p>
            <a:r>
              <a:rPr lang="de-CH" sz="1400" dirty="0" err="1" smtClean="0"/>
              <a:t>For</a:t>
            </a:r>
            <a:r>
              <a:rPr lang="de-CH" sz="1400" dirty="0" smtClean="0"/>
              <a:t> a </a:t>
            </a:r>
            <a:r>
              <a:rPr lang="de-CH" sz="1400" dirty="0" err="1" smtClean="0"/>
              <a:t>profile</a:t>
            </a:r>
            <a:r>
              <a:rPr lang="de-CH" sz="1400" dirty="0" smtClean="0"/>
              <a:t> </a:t>
            </a:r>
            <a:r>
              <a:rPr lang="de-CH" sz="1400" dirty="0" err="1" smtClean="0"/>
              <a:t>thickness</a:t>
            </a:r>
            <a:r>
              <a:rPr lang="de-CH" sz="1400" dirty="0" smtClean="0"/>
              <a:t> </a:t>
            </a:r>
            <a:r>
              <a:rPr lang="de-CH" sz="1400" dirty="0" err="1" smtClean="0"/>
              <a:t>of</a:t>
            </a:r>
            <a:r>
              <a:rPr lang="de-CH" sz="1400" dirty="0" smtClean="0"/>
              <a:t> 10 mm </a:t>
            </a:r>
            <a:r>
              <a:rPr lang="de-CH" sz="1400" dirty="0" err="1" smtClean="0"/>
              <a:t>the</a:t>
            </a:r>
            <a:r>
              <a:rPr lang="de-CH" sz="1400" dirty="0" smtClean="0"/>
              <a:t> ideal wall </a:t>
            </a:r>
            <a:r>
              <a:rPr lang="de-CH" sz="1400" dirty="0" err="1" smtClean="0"/>
              <a:t>thickness</a:t>
            </a:r>
            <a:r>
              <a:rPr lang="de-CH" sz="1400" dirty="0" smtClean="0"/>
              <a:t> </a:t>
            </a:r>
            <a:r>
              <a:rPr lang="de-CH" sz="1400" dirty="0" err="1" smtClean="0"/>
              <a:t>is</a:t>
            </a:r>
            <a:r>
              <a:rPr lang="de-CH" sz="1400" dirty="0" smtClean="0"/>
              <a:t> </a:t>
            </a:r>
            <a:r>
              <a:rPr lang="de-CH" sz="1400" dirty="0" err="1" smtClean="0"/>
              <a:t>at</a:t>
            </a:r>
            <a:r>
              <a:rPr lang="de-CH" sz="1400" dirty="0" smtClean="0"/>
              <a:t> </a:t>
            </a:r>
            <a:r>
              <a:rPr lang="de-CH" sz="1400" dirty="0" err="1" smtClean="0"/>
              <a:t>approximately</a:t>
            </a:r>
            <a:r>
              <a:rPr lang="de-CH" sz="1400" dirty="0" smtClean="0"/>
              <a:t> 0.5mm, but </a:t>
            </a:r>
            <a:r>
              <a:rPr lang="de-CH" sz="1400" dirty="0" err="1" smtClean="0"/>
              <a:t>since</a:t>
            </a:r>
            <a:r>
              <a:rPr lang="de-CH" sz="1400" dirty="0" smtClean="0"/>
              <a:t> </a:t>
            </a:r>
            <a:r>
              <a:rPr lang="de-CH" sz="1400" dirty="0" err="1" smtClean="0"/>
              <a:t>the</a:t>
            </a:r>
            <a:r>
              <a:rPr lang="de-CH" sz="1400" dirty="0" smtClean="0"/>
              <a:t> thermal </a:t>
            </a:r>
            <a:r>
              <a:rPr lang="de-CH" sz="1400" dirty="0" err="1" smtClean="0"/>
              <a:t>resistance</a:t>
            </a:r>
            <a:r>
              <a:rPr lang="de-CH" sz="1400" dirty="0" smtClean="0"/>
              <a:t> </a:t>
            </a:r>
            <a:r>
              <a:rPr lang="de-CH" sz="1400" dirty="0" err="1" smtClean="0"/>
              <a:t>is</a:t>
            </a:r>
            <a:r>
              <a:rPr lang="de-CH" sz="1400" dirty="0" smtClean="0"/>
              <a:t> </a:t>
            </a:r>
            <a:r>
              <a:rPr lang="de-CH" sz="1400" dirty="0" err="1" smtClean="0"/>
              <a:t>much</a:t>
            </a:r>
            <a:r>
              <a:rPr lang="de-CH" sz="1400" dirty="0" smtClean="0"/>
              <a:t> </a:t>
            </a:r>
            <a:r>
              <a:rPr lang="de-CH" sz="1400" dirty="0" err="1" smtClean="0"/>
              <a:t>more</a:t>
            </a:r>
            <a:r>
              <a:rPr lang="de-CH" sz="1400" dirty="0" smtClean="0"/>
              <a:t> sensitive </a:t>
            </a:r>
            <a:r>
              <a:rPr lang="de-CH" sz="1400" dirty="0" err="1" smtClean="0"/>
              <a:t>to</a:t>
            </a:r>
            <a:r>
              <a:rPr lang="de-CH" sz="1400" dirty="0" smtClean="0"/>
              <a:t> </a:t>
            </a:r>
            <a:r>
              <a:rPr lang="de-CH" sz="1400" dirty="0" err="1" smtClean="0"/>
              <a:t>too</a:t>
            </a:r>
            <a:r>
              <a:rPr lang="de-CH" sz="1400" dirty="0" smtClean="0"/>
              <a:t> </a:t>
            </a:r>
            <a:r>
              <a:rPr lang="de-CH" sz="1400" dirty="0" err="1" smtClean="0"/>
              <a:t>thin</a:t>
            </a:r>
            <a:r>
              <a:rPr lang="de-CH" sz="1400" dirty="0" smtClean="0"/>
              <a:t> </a:t>
            </a:r>
            <a:r>
              <a:rPr lang="de-CH" sz="1400" dirty="0" err="1" smtClean="0"/>
              <a:t>walls</a:t>
            </a:r>
            <a:r>
              <a:rPr lang="de-CH" sz="1400" dirty="0" smtClean="0"/>
              <a:t> </a:t>
            </a:r>
            <a:r>
              <a:rPr lang="de-CH" sz="1400" dirty="0" err="1" smtClean="0"/>
              <a:t>then</a:t>
            </a:r>
            <a:r>
              <a:rPr lang="de-CH" sz="1400" dirty="0" smtClean="0"/>
              <a:t> </a:t>
            </a:r>
            <a:r>
              <a:rPr lang="de-CH" sz="1400" dirty="0" err="1" smtClean="0"/>
              <a:t>to</a:t>
            </a:r>
            <a:r>
              <a:rPr lang="de-CH" sz="1400" dirty="0" smtClean="0"/>
              <a:t> </a:t>
            </a:r>
            <a:r>
              <a:rPr lang="de-CH" sz="1400" dirty="0" err="1" smtClean="0"/>
              <a:t>too</a:t>
            </a:r>
            <a:r>
              <a:rPr lang="de-CH" sz="1400" dirty="0" smtClean="0"/>
              <a:t> </a:t>
            </a:r>
            <a:r>
              <a:rPr lang="de-CH" sz="1400" dirty="0" err="1" smtClean="0"/>
              <a:t>thick</a:t>
            </a:r>
            <a:r>
              <a:rPr lang="de-CH" sz="1400" dirty="0" smtClean="0"/>
              <a:t> </a:t>
            </a:r>
            <a:r>
              <a:rPr lang="de-CH" sz="1400" dirty="0" err="1" smtClean="0"/>
              <a:t>walls</a:t>
            </a:r>
            <a:r>
              <a:rPr lang="de-CH" sz="1400" dirty="0" smtClean="0"/>
              <a:t>, </a:t>
            </a:r>
            <a:r>
              <a:rPr lang="de-CH" sz="1400" dirty="0" err="1" smtClean="0"/>
              <a:t>it</a:t>
            </a:r>
            <a:r>
              <a:rPr lang="de-CH" sz="1400" dirty="0" smtClean="0"/>
              <a:t> </a:t>
            </a:r>
            <a:r>
              <a:rPr lang="de-CH" sz="1400" dirty="0" err="1" smtClean="0"/>
              <a:t>is</a:t>
            </a:r>
            <a:r>
              <a:rPr lang="de-CH" sz="1400" dirty="0" smtClean="0"/>
              <a:t> </a:t>
            </a:r>
            <a:r>
              <a:rPr lang="de-CH" sz="1400" dirty="0" err="1" smtClean="0"/>
              <a:t>suggested</a:t>
            </a:r>
            <a:r>
              <a:rPr lang="de-CH" sz="1400" dirty="0" smtClean="0"/>
              <a:t> </a:t>
            </a:r>
            <a:r>
              <a:rPr lang="de-CH" sz="1400" dirty="0" err="1" smtClean="0"/>
              <a:t>to</a:t>
            </a:r>
            <a:r>
              <a:rPr lang="de-CH" sz="1400" dirty="0" smtClean="0"/>
              <a:t> </a:t>
            </a:r>
            <a:r>
              <a:rPr lang="de-CH" sz="1400" dirty="0" err="1" smtClean="0"/>
              <a:t>choose</a:t>
            </a:r>
            <a:r>
              <a:rPr lang="de-CH" sz="1400" dirty="0" smtClean="0"/>
              <a:t> </a:t>
            </a:r>
            <a:r>
              <a:rPr lang="de-CH" sz="1400" dirty="0" err="1" smtClean="0"/>
              <a:t>asomewhat</a:t>
            </a:r>
            <a:r>
              <a:rPr lang="de-CH" sz="1400" dirty="0" smtClean="0"/>
              <a:t> </a:t>
            </a:r>
            <a:r>
              <a:rPr lang="de-CH" sz="1400" dirty="0" err="1" smtClean="0"/>
              <a:t>thicker</a:t>
            </a:r>
            <a:r>
              <a:rPr lang="de-CH" sz="1400" dirty="0" smtClean="0"/>
              <a:t> wall in </a:t>
            </a:r>
            <a:r>
              <a:rPr lang="de-CH" sz="1400" dirty="0" err="1" smtClean="0"/>
              <a:t>the</a:t>
            </a:r>
            <a:r>
              <a:rPr lang="de-CH" sz="1400" dirty="0" smtClean="0"/>
              <a:t> </a:t>
            </a:r>
            <a:r>
              <a:rPr lang="de-CH" sz="1400" dirty="0" err="1" smtClean="0"/>
              <a:t>range</a:t>
            </a:r>
            <a:r>
              <a:rPr lang="de-CH" sz="1400" dirty="0" smtClean="0"/>
              <a:t> </a:t>
            </a:r>
            <a:r>
              <a:rPr lang="de-CH" sz="1400" dirty="0" err="1" smtClean="0"/>
              <a:t>of</a:t>
            </a:r>
            <a:r>
              <a:rPr lang="de-CH" sz="1400" dirty="0" smtClean="0"/>
              <a:t> 0.6 </a:t>
            </a:r>
            <a:r>
              <a:rPr lang="de-CH" sz="1400" dirty="0" err="1" smtClean="0"/>
              <a:t>to</a:t>
            </a:r>
            <a:r>
              <a:rPr lang="de-CH" sz="1400" dirty="0" smtClean="0"/>
              <a:t> 0.7 mm</a:t>
            </a:r>
            <a:endParaRPr lang="en-US" sz="1400" dirty="0" smtClean="0"/>
          </a:p>
        </p:txBody>
      </p:sp>
    </p:spTree>
    <p:extLst>
      <p:ext uri="{BB962C8B-B14F-4D97-AF65-F5344CB8AC3E}">
        <p14:creationId xmlns:p14="http://schemas.microsoft.com/office/powerpoint/2010/main" val="33529393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9</a:t>
            </a:fld>
            <a:r>
              <a:rPr lang="de-CH" smtClean="0"/>
              <a:t> </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3454368941"/>
              </p:ext>
            </p:extLst>
          </p:nvPr>
        </p:nvGraphicFramePr>
        <p:xfrm>
          <a:off x="485775" y="1403007"/>
          <a:ext cx="6373092" cy="828040"/>
        </p:xfrm>
        <a:graphic>
          <a:graphicData uri="http://schemas.openxmlformats.org/drawingml/2006/table">
            <a:tbl>
              <a:tblPr firstRow="1" bandRow="1">
                <a:tableStyleId>{5C22544A-7EE6-4342-B048-85BDC9FD1C3A}</a:tableStyleId>
              </a:tblPr>
              <a:tblGrid>
                <a:gridCol w="1062182"/>
                <a:gridCol w="1062182"/>
                <a:gridCol w="1062182"/>
                <a:gridCol w="1062182"/>
                <a:gridCol w="1062182"/>
                <a:gridCol w="1062182"/>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0.6 mm</a:t>
                      </a:r>
                      <a:endParaRPr lang="de-CH" sz="1200" dirty="0"/>
                    </a:p>
                  </a:txBody>
                  <a:tcPr/>
                </a:tc>
                <a:tc>
                  <a:txBody>
                    <a:bodyPr/>
                    <a:lstStyle/>
                    <a:p>
                      <a:r>
                        <a:rPr lang="de-CH" sz="1200" dirty="0" smtClean="0"/>
                        <a:t>10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13</a:t>
                      </a:r>
                      <a:endParaRPr lang="de-CH" sz="1200" dirty="0"/>
                    </a:p>
                  </a:txBody>
                  <a:tcPr/>
                </a:tc>
                <a:tc>
                  <a:txBody>
                    <a:bodyPr/>
                    <a:lstStyle/>
                    <a:p>
                      <a:r>
                        <a:rPr lang="de-CH" sz="1200" dirty="0" smtClean="0"/>
                        <a:t>22.05 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856080044"/>
              </p:ext>
            </p:extLst>
          </p:nvPr>
        </p:nvGraphicFramePr>
        <p:xfrm>
          <a:off x="293465" y="2412479"/>
          <a:ext cx="9877647" cy="3749040"/>
        </p:xfrm>
        <a:graphic>
          <a:graphicData uri="http://schemas.openxmlformats.org/drawingml/2006/table">
            <a:tbl>
              <a:tblPr firstRow="1" bandRow="1">
                <a:tableStyleId>{5C22544A-7EE6-4342-B048-85BDC9FD1C3A}</a:tableStyleId>
              </a:tblPr>
              <a:tblGrid>
                <a:gridCol w="759819"/>
                <a:gridCol w="759819"/>
                <a:gridCol w="759819"/>
                <a:gridCol w="759819"/>
                <a:gridCol w="759819"/>
                <a:gridCol w="759819"/>
                <a:gridCol w="759819"/>
                <a:gridCol w="759819"/>
                <a:gridCol w="759819"/>
                <a:gridCol w="759819"/>
                <a:gridCol w="759819"/>
                <a:gridCol w="759819"/>
                <a:gridCol w="759819"/>
              </a:tblGrid>
              <a:tr h="370840">
                <a:tc>
                  <a:txBody>
                    <a:bodyPr/>
                    <a:lstStyle/>
                    <a:p>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Rth_fluid_loc_to</a:t>
                      </a:r>
                      <a:r>
                        <a:rPr lang="de-CH" sz="700" baseline="0" dirty="0" err="1" smtClean="0"/>
                        <a:t>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Rth_contact_to_loc_fluid</a:t>
                      </a:r>
                      <a:r>
                        <a:rPr lang="de-CH" sz="700" baseline="0" dirty="0" smtClean="0"/>
                        <a:t> </a:t>
                      </a:r>
                      <a:r>
                        <a:rPr lang="de-CH" sz="700" dirty="0" smtClean="0"/>
                        <a:t>@1L/min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Rth_fluid_loc_to</a:t>
                      </a:r>
                      <a:r>
                        <a:rPr lang="de-CH" sz="700" baseline="0" dirty="0" err="1" smtClean="0"/>
                        <a:t>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Rth_contact_to_loc_fluid</a:t>
                      </a:r>
                      <a:r>
                        <a:rPr lang="de-CH" sz="700" baseline="0" dirty="0" smtClean="0"/>
                        <a:t> </a:t>
                      </a:r>
                      <a:r>
                        <a:rPr lang="de-CH" sz="700" dirty="0" smtClean="0"/>
                        <a:t>@2L/min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Rth_fluid_loc_to</a:t>
                      </a:r>
                      <a:r>
                        <a:rPr lang="de-CH" sz="700" baseline="0" dirty="0" err="1" smtClean="0"/>
                        <a:t>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Rth_contact_to_loc_fluid</a:t>
                      </a:r>
                      <a:r>
                        <a:rPr lang="de-CH" sz="700" baseline="0" dirty="0" smtClean="0"/>
                        <a:t> </a:t>
                      </a:r>
                      <a:r>
                        <a:rPr lang="de-CH" sz="700" dirty="0" smtClean="0"/>
                        <a:t>@3L/min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CH" sz="700" dirty="0" err="1" smtClean="0"/>
                        <a:t>Rth_contact_to_inlet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de-CH" sz="1000" dirty="0" smtClean="0"/>
                        <a:t>TO-247</a:t>
                      </a:r>
                      <a:r>
                        <a:rPr lang="de-CH" sz="1000" baseline="0" dirty="0" smtClean="0"/>
                        <a:t> </a:t>
                      </a:r>
                      <a:r>
                        <a:rPr lang="de-CH" sz="1000" dirty="0" smtClean="0"/>
                        <a:t>1</a:t>
                      </a:r>
                      <a:endParaRPr lang="de-CH"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14115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0.3224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0.0082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0.2675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16146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0.2757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0.0055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0.2472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17472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0.2527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0.3963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10899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0.4455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0.0246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0.3518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12277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0.3765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0.3259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13253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0.3423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0.0821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0.4265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10127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0.5087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0.0411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0.3853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11210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0.4263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0.0274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0.3591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12028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0.3864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0.1151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0.4433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9743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0.5584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0.0575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0.4062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10633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0.4636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0.0383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0.3808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11342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0.4191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0.1482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0.4539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9516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0.6021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0.0739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0.4207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10266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0.4947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0.3967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10888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0.4459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0.4611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9367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0.6425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0.4315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10009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0.5219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0.0602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0.4088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10565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0.4691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0.2146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0.4663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9262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0.6808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0.1069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0.4398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9821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0.5467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0.0712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0.4185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10320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0.4897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0.2479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9190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0.718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0.1235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0.4463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9678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0.5697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0.0822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0.4264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10129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0.5086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0.2814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0.4728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9135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0.7543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0.4516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9564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0.5916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a:solidFill>
                            <a:srgbClr val="000000"/>
                          </a:solidFill>
                          <a:effectLst/>
                          <a:latin typeface="Calibri"/>
                        </a:rPr>
                        <a:t>0.0932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0.4329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9977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de-CH" sz="1100" b="0" i="0" u="none" strike="noStrike" dirty="0">
                          <a:solidFill>
                            <a:srgbClr val="000000"/>
                          </a:solidFill>
                          <a:effectLst/>
                          <a:latin typeface="Calibri"/>
                        </a:rPr>
                        <a:t>0.5261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094344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10</a:t>
            </a:fld>
            <a:r>
              <a:rPr lang="de-CH" smtClean="0"/>
              <a:t> </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3665920185"/>
              </p:ext>
            </p:extLst>
          </p:nvPr>
        </p:nvGraphicFramePr>
        <p:xfrm>
          <a:off x="485774" y="1044327"/>
          <a:ext cx="6301086" cy="828040"/>
        </p:xfrm>
        <a:graphic>
          <a:graphicData uri="http://schemas.openxmlformats.org/drawingml/2006/table">
            <a:tbl>
              <a:tblPr firstRow="1" bandRow="1">
                <a:tableStyleId>{5C22544A-7EE6-4342-B048-85BDC9FD1C3A}</a:tableStyleId>
              </a:tblPr>
              <a:tblGrid>
                <a:gridCol w="1050181"/>
                <a:gridCol w="1050181"/>
                <a:gridCol w="1050181"/>
                <a:gridCol w="1050181"/>
                <a:gridCol w="1050181"/>
                <a:gridCol w="1050181"/>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0.6 mm</a:t>
                      </a:r>
                      <a:endParaRPr lang="de-CH" sz="1200" dirty="0"/>
                    </a:p>
                  </a:txBody>
                  <a:tcPr/>
                </a:tc>
                <a:tc>
                  <a:txBody>
                    <a:bodyPr/>
                    <a:lstStyle/>
                    <a:p>
                      <a:r>
                        <a:rPr lang="de-CH" sz="1200" dirty="0" smtClean="0"/>
                        <a:t>10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13</a:t>
                      </a:r>
                      <a:endParaRPr lang="de-CH" sz="1200" dirty="0"/>
                    </a:p>
                  </a:txBody>
                  <a:tcPr/>
                </a:tc>
                <a:tc>
                  <a:txBody>
                    <a:bodyPr/>
                    <a:lstStyle/>
                    <a:p>
                      <a:r>
                        <a:rPr lang="de-CH" sz="1200" dirty="0" smtClean="0"/>
                        <a:t>22.05 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9" name="Diagramm 8"/>
          <p:cNvGraphicFramePr>
            <a:graphicFrameLocks/>
          </p:cNvGraphicFramePr>
          <p:nvPr>
            <p:extLst>
              <p:ext uri="{D42A27DB-BD31-4B8C-83A1-F6EECF244321}">
                <p14:modId xmlns:p14="http://schemas.microsoft.com/office/powerpoint/2010/main" val="1025794855"/>
              </p:ext>
            </p:extLst>
          </p:nvPr>
        </p:nvGraphicFramePr>
        <p:xfrm>
          <a:off x="485776" y="4189742"/>
          <a:ext cx="5220963" cy="23529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Diagramm 10"/>
          <p:cNvGraphicFramePr>
            <a:graphicFrameLocks/>
          </p:cNvGraphicFramePr>
          <p:nvPr>
            <p:extLst>
              <p:ext uri="{D42A27DB-BD31-4B8C-83A1-F6EECF244321}">
                <p14:modId xmlns:p14="http://schemas.microsoft.com/office/powerpoint/2010/main" val="2991108544"/>
              </p:ext>
            </p:extLst>
          </p:nvPr>
        </p:nvGraphicFramePr>
        <p:xfrm>
          <a:off x="485776" y="1904626"/>
          <a:ext cx="4767462" cy="231804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feld 6"/>
          <p:cNvSpPr txBox="1"/>
          <p:nvPr/>
        </p:nvSpPr>
        <p:spPr>
          <a:xfrm>
            <a:off x="5253238" y="2052439"/>
            <a:ext cx="5400600" cy="646331"/>
          </a:xfrm>
          <a:prstGeom prst="rect">
            <a:avLst/>
          </a:prstGeom>
          <a:noFill/>
        </p:spPr>
        <p:txBody>
          <a:bodyPr wrap="square" rtlCol="0">
            <a:spAutoFit/>
          </a:bodyPr>
          <a:lstStyle/>
          <a:p>
            <a:pPr marL="171450" indent="-171450">
              <a:buFont typeface="Arial" pitchFamily="34" charset="0"/>
              <a:buChar char="•"/>
            </a:pPr>
            <a:r>
              <a:rPr lang="de-CH" sz="1200" dirty="0" smtClean="0"/>
              <a:t>The </a:t>
            </a:r>
            <a:r>
              <a:rPr lang="de-CH" sz="1200" dirty="0" err="1"/>
              <a:t>added</a:t>
            </a:r>
            <a:r>
              <a:rPr lang="de-CH" sz="1200" dirty="0"/>
              <a:t> </a:t>
            </a:r>
            <a:r>
              <a:rPr lang="de-CH" sz="1200" dirty="0" err="1"/>
              <a:t>increase</a:t>
            </a:r>
            <a:r>
              <a:rPr lang="de-CH" sz="1200" dirty="0"/>
              <a:t> in thermal </a:t>
            </a:r>
            <a:r>
              <a:rPr lang="de-CH" sz="1200" dirty="0" err="1"/>
              <a:t>resistance</a:t>
            </a:r>
            <a:r>
              <a:rPr lang="de-CH" sz="1200" dirty="0"/>
              <a:t> </a:t>
            </a:r>
            <a:r>
              <a:rPr lang="de-CH" sz="1200" dirty="0" err="1"/>
              <a:t>for</a:t>
            </a:r>
            <a:r>
              <a:rPr lang="de-CH" sz="1200" dirty="0"/>
              <a:t> </a:t>
            </a:r>
            <a:r>
              <a:rPr lang="de-CH" sz="1200" dirty="0" err="1"/>
              <a:t>the</a:t>
            </a:r>
            <a:r>
              <a:rPr lang="de-CH" sz="1200" dirty="0"/>
              <a:t> subsequent TO-247’s </a:t>
            </a:r>
            <a:r>
              <a:rPr lang="de-CH" sz="1200" dirty="0" err="1"/>
              <a:t>is</a:t>
            </a:r>
            <a:r>
              <a:rPr lang="de-CH" sz="1200" dirty="0"/>
              <a:t> due </a:t>
            </a:r>
            <a:r>
              <a:rPr lang="de-CH" sz="1200" dirty="0" err="1"/>
              <a:t>to</a:t>
            </a:r>
            <a:r>
              <a:rPr lang="de-CH" sz="1200" dirty="0"/>
              <a:t> </a:t>
            </a:r>
            <a:r>
              <a:rPr lang="de-CH" sz="1200" dirty="0" err="1"/>
              <a:t>the</a:t>
            </a:r>
            <a:r>
              <a:rPr lang="de-CH" sz="1200" dirty="0"/>
              <a:t> </a:t>
            </a:r>
            <a:r>
              <a:rPr lang="de-CH" sz="1200" dirty="0" err="1"/>
              <a:t>developing</a:t>
            </a:r>
            <a:r>
              <a:rPr lang="de-CH" sz="1200" dirty="0"/>
              <a:t> thermal </a:t>
            </a:r>
            <a:r>
              <a:rPr lang="de-CH" sz="1200" dirty="0" err="1"/>
              <a:t>boundary</a:t>
            </a:r>
            <a:r>
              <a:rPr lang="de-CH" sz="1200" dirty="0"/>
              <a:t> </a:t>
            </a:r>
            <a:r>
              <a:rPr lang="de-CH" sz="1200" dirty="0" err="1"/>
              <a:t>layer</a:t>
            </a:r>
            <a:r>
              <a:rPr lang="de-CH" sz="1200" dirty="0"/>
              <a:t>, </a:t>
            </a:r>
            <a:r>
              <a:rPr lang="de-CH" sz="1200" dirty="0" err="1"/>
              <a:t>that</a:t>
            </a:r>
            <a:r>
              <a:rPr lang="de-CH" sz="1200" dirty="0"/>
              <a:t> </a:t>
            </a:r>
            <a:r>
              <a:rPr lang="de-CH" sz="1200" dirty="0" err="1"/>
              <a:t>is</a:t>
            </a:r>
            <a:r>
              <a:rPr lang="de-CH" sz="1200" dirty="0"/>
              <a:t> not </a:t>
            </a:r>
            <a:r>
              <a:rPr lang="de-CH" sz="1200" dirty="0" err="1"/>
              <a:t>developed</a:t>
            </a:r>
            <a:r>
              <a:rPr lang="de-CH" sz="1200" dirty="0"/>
              <a:t> </a:t>
            </a:r>
            <a:r>
              <a:rPr lang="de-CH" sz="1200" dirty="0" err="1"/>
              <a:t>to</a:t>
            </a:r>
            <a:r>
              <a:rPr lang="de-CH" sz="1200" dirty="0"/>
              <a:t> </a:t>
            </a:r>
            <a:r>
              <a:rPr lang="de-CH" sz="1200" dirty="0" err="1"/>
              <a:t>the</a:t>
            </a:r>
            <a:r>
              <a:rPr lang="de-CH" sz="1200" dirty="0"/>
              <a:t> same </a:t>
            </a:r>
            <a:r>
              <a:rPr lang="de-CH" sz="1200" dirty="0" err="1"/>
              <a:t>extent</a:t>
            </a:r>
            <a:r>
              <a:rPr lang="de-CH" sz="1200" dirty="0"/>
              <a:t> </a:t>
            </a:r>
            <a:r>
              <a:rPr lang="de-CH" sz="1200" dirty="0" err="1"/>
              <a:t>at</a:t>
            </a:r>
            <a:r>
              <a:rPr lang="de-CH" sz="1200" dirty="0"/>
              <a:t> </a:t>
            </a:r>
            <a:r>
              <a:rPr lang="de-CH" sz="1200" dirty="0" err="1"/>
              <a:t>the</a:t>
            </a:r>
            <a:r>
              <a:rPr lang="de-CH" sz="1200" dirty="0"/>
              <a:t> </a:t>
            </a:r>
            <a:r>
              <a:rPr lang="de-CH" sz="1200" dirty="0" err="1"/>
              <a:t>first</a:t>
            </a:r>
            <a:r>
              <a:rPr lang="de-CH" sz="1200" dirty="0"/>
              <a:t> TO-247)</a:t>
            </a:r>
          </a:p>
        </p:txBody>
      </p:sp>
    </p:spTree>
    <p:extLst>
      <p:ext uri="{BB962C8B-B14F-4D97-AF65-F5344CB8AC3E}">
        <p14:creationId xmlns:p14="http://schemas.microsoft.com/office/powerpoint/2010/main" val="23034823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11</a:t>
            </a:fld>
            <a:r>
              <a:rPr lang="de-CH" smtClean="0"/>
              <a:t> </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3911858874"/>
              </p:ext>
            </p:extLst>
          </p:nvPr>
        </p:nvGraphicFramePr>
        <p:xfrm>
          <a:off x="485777" y="1403007"/>
          <a:ext cx="5744820" cy="828040"/>
        </p:xfrm>
        <a:graphic>
          <a:graphicData uri="http://schemas.openxmlformats.org/drawingml/2006/table">
            <a:tbl>
              <a:tblPr firstRow="1" bandRow="1">
                <a:tableStyleId>{5C22544A-7EE6-4342-B048-85BDC9FD1C3A}</a:tableStyleId>
              </a:tblPr>
              <a:tblGrid>
                <a:gridCol w="957470"/>
                <a:gridCol w="957470"/>
                <a:gridCol w="957470"/>
                <a:gridCol w="957470"/>
                <a:gridCol w="957470"/>
                <a:gridCol w="957470"/>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0.5 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14</a:t>
                      </a:r>
                      <a:endParaRPr lang="de-CH" sz="1200" dirty="0"/>
                    </a:p>
                  </a:txBody>
                  <a:tcPr/>
                </a:tc>
                <a:tc>
                  <a:txBody>
                    <a:bodyPr/>
                    <a:lstStyle/>
                    <a:p>
                      <a:r>
                        <a:rPr lang="de-CH" sz="1200" dirty="0" smtClean="0"/>
                        <a:t>22.2 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1403444356"/>
              </p:ext>
            </p:extLst>
          </p:nvPr>
        </p:nvGraphicFramePr>
        <p:xfrm>
          <a:off x="293470" y="2412479"/>
          <a:ext cx="9914151" cy="3749040"/>
        </p:xfrm>
        <a:graphic>
          <a:graphicData uri="http://schemas.openxmlformats.org/drawingml/2006/table">
            <a:tbl>
              <a:tblPr firstRow="1" bandRow="1">
                <a:tableStyleId>{5C22544A-7EE6-4342-B048-85BDC9FD1C3A}</a:tableStyleId>
              </a:tblPr>
              <a:tblGrid>
                <a:gridCol w="762627"/>
                <a:gridCol w="762627"/>
                <a:gridCol w="762627"/>
                <a:gridCol w="762627"/>
                <a:gridCol w="762627"/>
                <a:gridCol w="762627"/>
                <a:gridCol w="762627"/>
                <a:gridCol w="762627"/>
                <a:gridCol w="762627"/>
                <a:gridCol w="762627"/>
                <a:gridCol w="762627"/>
                <a:gridCol w="762627"/>
                <a:gridCol w="762627"/>
              </a:tblGrid>
              <a:tr h="370840">
                <a:tc>
                  <a:txBody>
                    <a:bodyPr/>
                    <a:lstStyle/>
                    <a:p>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de-CH" sz="1000" dirty="0" smtClean="0"/>
                        <a:t>TO-247</a:t>
                      </a:r>
                      <a:r>
                        <a:rPr lang="de-CH" sz="1000" baseline="0" dirty="0" smtClean="0"/>
                        <a:t> </a:t>
                      </a:r>
                      <a:r>
                        <a:rPr lang="de-CH" sz="1000" dirty="0" smtClean="0"/>
                        <a:t>1</a:t>
                      </a:r>
                      <a:endParaRPr lang="de-CH"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0.3275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13188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0.0082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0.2832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15251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0.2914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0.0055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16612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0.2655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0.4335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9963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0.4828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0.0246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0.3806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11348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0.4053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0.3503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12330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0.0821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0.4705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9180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0.5526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0.4202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10279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0.4613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0.0274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0.3891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0.4165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0.1151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0.4915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8788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0.6066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0.0575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0.4454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9697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0.0383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0.4149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10410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0.4532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0.1482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8551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0.6533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0.0739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0.4633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9322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0.5372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0.4339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9954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0.4832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0.5144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8396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0.6958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0.4767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9060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0.5671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0.0602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0.4487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9626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0.5212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8287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0.7358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0.1069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0.487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8869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0.0712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0.4606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9377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0.5318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0.2479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0.5262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8208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0.7741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0.1235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0.4953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8720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0.6188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0.0822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0.4703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9184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0.5525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0.2814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8149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0.8114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8604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0.6421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0.0932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0.4784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9028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0.5716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156164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12</a:t>
            </a:fld>
            <a:r>
              <a:rPr lang="de-CH" smtClean="0"/>
              <a:t> </a:t>
            </a:r>
            <a:endParaRPr lang="de-CH" dirty="0"/>
          </a:p>
        </p:txBody>
      </p:sp>
      <p:sp>
        <p:nvSpPr>
          <p:cNvPr id="7" name="Textfeld 6"/>
          <p:cNvSpPr txBox="1"/>
          <p:nvPr/>
        </p:nvSpPr>
        <p:spPr>
          <a:xfrm>
            <a:off x="5253238" y="2052439"/>
            <a:ext cx="5400600" cy="646331"/>
          </a:xfrm>
          <a:prstGeom prst="rect">
            <a:avLst/>
          </a:prstGeom>
          <a:noFill/>
        </p:spPr>
        <p:txBody>
          <a:bodyPr wrap="square" rtlCol="0">
            <a:spAutoFit/>
          </a:bodyPr>
          <a:lstStyle/>
          <a:p>
            <a:pPr marL="171450" indent="-171450">
              <a:buFont typeface="Arial" pitchFamily="34" charset="0"/>
              <a:buChar char="•"/>
            </a:pPr>
            <a:r>
              <a:rPr lang="de-CH" sz="1200" dirty="0" smtClean="0"/>
              <a:t>The </a:t>
            </a:r>
            <a:r>
              <a:rPr lang="de-CH" sz="1200" dirty="0" err="1"/>
              <a:t>added</a:t>
            </a:r>
            <a:r>
              <a:rPr lang="de-CH" sz="1200" dirty="0"/>
              <a:t> </a:t>
            </a:r>
            <a:r>
              <a:rPr lang="de-CH" sz="1200" dirty="0" err="1"/>
              <a:t>increase</a:t>
            </a:r>
            <a:r>
              <a:rPr lang="de-CH" sz="1200" dirty="0"/>
              <a:t> in thermal </a:t>
            </a:r>
            <a:r>
              <a:rPr lang="de-CH" sz="1200" dirty="0" err="1"/>
              <a:t>resistance</a:t>
            </a:r>
            <a:r>
              <a:rPr lang="de-CH" sz="1200" dirty="0"/>
              <a:t> </a:t>
            </a:r>
            <a:r>
              <a:rPr lang="de-CH" sz="1200" dirty="0" err="1"/>
              <a:t>for</a:t>
            </a:r>
            <a:r>
              <a:rPr lang="de-CH" sz="1200" dirty="0"/>
              <a:t> </a:t>
            </a:r>
            <a:r>
              <a:rPr lang="de-CH" sz="1200" dirty="0" err="1"/>
              <a:t>the</a:t>
            </a:r>
            <a:r>
              <a:rPr lang="de-CH" sz="1200" dirty="0"/>
              <a:t> subsequent TO-247’s </a:t>
            </a:r>
            <a:r>
              <a:rPr lang="de-CH" sz="1200" dirty="0" err="1"/>
              <a:t>is</a:t>
            </a:r>
            <a:r>
              <a:rPr lang="de-CH" sz="1200" dirty="0"/>
              <a:t> due </a:t>
            </a:r>
            <a:r>
              <a:rPr lang="de-CH" sz="1200" dirty="0" err="1"/>
              <a:t>to</a:t>
            </a:r>
            <a:r>
              <a:rPr lang="de-CH" sz="1200" dirty="0"/>
              <a:t> </a:t>
            </a:r>
            <a:r>
              <a:rPr lang="de-CH" sz="1200" dirty="0" err="1"/>
              <a:t>the</a:t>
            </a:r>
            <a:r>
              <a:rPr lang="de-CH" sz="1200" dirty="0"/>
              <a:t> </a:t>
            </a:r>
            <a:r>
              <a:rPr lang="de-CH" sz="1200" dirty="0" err="1"/>
              <a:t>developing</a:t>
            </a:r>
            <a:r>
              <a:rPr lang="de-CH" sz="1200" dirty="0"/>
              <a:t> thermal </a:t>
            </a:r>
            <a:r>
              <a:rPr lang="de-CH" sz="1200" dirty="0" err="1"/>
              <a:t>boundary</a:t>
            </a:r>
            <a:r>
              <a:rPr lang="de-CH" sz="1200" dirty="0"/>
              <a:t> </a:t>
            </a:r>
            <a:r>
              <a:rPr lang="de-CH" sz="1200" dirty="0" err="1"/>
              <a:t>layer</a:t>
            </a:r>
            <a:r>
              <a:rPr lang="de-CH" sz="1200" dirty="0"/>
              <a:t>, </a:t>
            </a:r>
            <a:r>
              <a:rPr lang="de-CH" sz="1200" dirty="0" err="1"/>
              <a:t>that</a:t>
            </a:r>
            <a:r>
              <a:rPr lang="de-CH" sz="1200" dirty="0"/>
              <a:t> </a:t>
            </a:r>
            <a:r>
              <a:rPr lang="de-CH" sz="1200" dirty="0" err="1"/>
              <a:t>is</a:t>
            </a:r>
            <a:r>
              <a:rPr lang="de-CH" sz="1200" dirty="0"/>
              <a:t> not </a:t>
            </a:r>
            <a:r>
              <a:rPr lang="de-CH" sz="1200" dirty="0" err="1"/>
              <a:t>developed</a:t>
            </a:r>
            <a:r>
              <a:rPr lang="de-CH" sz="1200" dirty="0"/>
              <a:t> </a:t>
            </a:r>
            <a:r>
              <a:rPr lang="de-CH" sz="1200" dirty="0" err="1"/>
              <a:t>to</a:t>
            </a:r>
            <a:r>
              <a:rPr lang="de-CH" sz="1200" dirty="0"/>
              <a:t> </a:t>
            </a:r>
            <a:r>
              <a:rPr lang="de-CH" sz="1200" dirty="0" err="1"/>
              <a:t>the</a:t>
            </a:r>
            <a:r>
              <a:rPr lang="de-CH" sz="1200" dirty="0"/>
              <a:t> same </a:t>
            </a:r>
            <a:r>
              <a:rPr lang="de-CH" sz="1200" dirty="0" err="1"/>
              <a:t>extent</a:t>
            </a:r>
            <a:r>
              <a:rPr lang="de-CH" sz="1200" dirty="0"/>
              <a:t> </a:t>
            </a:r>
            <a:r>
              <a:rPr lang="de-CH" sz="1200" dirty="0" err="1"/>
              <a:t>at</a:t>
            </a:r>
            <a:r>
              <a:rPr lang="de-CH" sz="1200" dirty="0"/>
              <a:t> </a:t>
            </a:r>
            <a:r>
              <a:rPr lang="de-CH" sz="1200" dirty="0" err="1"/>
              <a:t>the</a:t>
            </a:r>
            <a:r>
              <a:rPr lang="de-CH" sz="1200" dirty="0"/>
              <a:t> </a:t>
            </a:r>
            <a:r>
              <a:rPr lang="de-CH" sz="1200" dirty="0" err="1"/>
              <a:t>first</a:t>
            </a:r>
            <a:r>
              <a:rPr lang="de-CH" sz="1200" dirty="0"/>
              <a:t> TO-247)</a:t>
            </a:r>
          </a:p>
        </p:txBody>
      </p:sp>
      <p:graphicFrame>
        <p:nvGraphicFramePr>
          <p:cNvPr id="10" name="Tabelle 9"/>
          <p:cNvGraphicFramePr>
            <a:graphicFrameLocks noGrp="1"/>
          </p:cNvGraphicFramePr>
          <p:nvPr>
            <p:extLst>
              <p:ext uri="{D42A27DB-BD31-4B8C-83A1-F6EECF244321}">
                <p14:modId xmlns:p14="http://schemas.microsoft.com/office/powerpoint/2010/main" val="3099989066"/>
              </p:ext>
            </p:extLst>
          </p:nvPr>
        </p:nvGraphicFramePr>
        <p:xfrm>
          <a:off x="483303" y="1076586"/>
          <a:ext cx="5744820" cy="828040"/>
        </p:xfrm>
        <a:graphic>
          <a:graphicData uri="http://schemas.openxmlformats.org/drawingml/2006/table">
            <a:tbl>
              <a:tblPr firstRow="1" bandRow="1">
                <a:tableStyleId>{5C22544A-7EE6-4342-B048-85BDC9FD1C3A}</a:tableStyleId>
              </a:tblPr>
              <a:tblGrid>
                <a:gridCol w="957470"/>
                <a:gridCol w="957470"/>
                <a:gridCol w="957470"/>
                <a:gridCol w="957470"/>
                <a:gridCol w="957470"/>
                <a:gridCol w="957470"/>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0.5 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14</a:t>
                      </a:r>
                      <a:endParaRPr lang="de-CH" sz="1200" dirty="0"/>
                    </a:p>
                  </a:txBody>
                  <a:tcPr/>
                </a:tc>
                <a:tc>
                  <a:txBody>
                    <a:bodyPr/>
                    <a:lstStyle/>
                    <a:p>
                      <a:r>
                        <a:rPr lang="de-CH" sz="1200" dirty="0" smtClean="0"/>
                        <a:t>22.2 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12" name="Diagramm 11"/>
          <p:cNvGraphicFramePr>
            <a:graphicFrameLocks/>
          </p:cNvGraphicFramePr>
          <p:nvPr>
            <p:extLst>
              <p:ext uri="{D42A27DB-BD31-4B8C-83A1-F6EECF244321}">
                <p14:modId xmlns:p14="http://schemas.microsoft.com/office/powerpoint/2010/main" val="143789898"/>
              </p:ext>
            </p:extLst>
          </p:nvPr>
        </p:nvGraphicFramePr>
        <p:xfrm>
          <a:off x="324425" y="1904626"/>
          <a:ext cx="4806251" cy="2305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Diagramm 13"/>
          <p:cNvGraphicFramePr>
            <a:graphicFrameLocks/>
          </p:cNvGraphicFramePr>
          <p:nvPr>
            <p:extLst>
              <p:ext uri="{D42A27DB-BD31-4B8C-83A1-F6EECF244321}">
                <p14:modId xmlns:p14="http://schemas.microsoft.com/office/powerpoint/2010/main" val="4066113282"/>
              </p:ext>
            </p:extLst>
          </p:nvPr>
        </p:nvGraphicFramePr>
        <p:xfrm>
          <a:off x="324424" y="4210025"/>
          <a:ext cx="5742356" cy="273895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980050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13</a:t>
            </a:fld>
            <a:r>
              <a:rPr lang="de-CH" smtClean="0"/>
              <a:t> </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480831773"/>
              </p:ext>
            </p:extLst>
          </p:nvPr>
        </p:nvGraphicFramePr>
        <p:xfrm>
          <a:off x="485777" y="1403007"/>
          <a:ext cx="5744820" cy="914400"/>
        </p:xfrm>
        <a:graphic>
          <a:graphicData uri="http://schemas.openxmlformats.org/drawingml/2006/table">
            <a:tbl>
              <a:tblPr firstRow="1" bandRow="1">
                <a:tableStyleId>{5C22544A-7EE6-4342-B048-85BDC9FD1C3A}</a:tableStyleId>
              </a:tblPr>
              <a:tblGrid>
                <a:gridCol w="957470"/>
                <a:gridCol w="957470"/>
                <a:gridCol w="957470"/>
                <a:gridCol w="957470"/>
                <a:gridCol w="957470"/>
                <a:gridCol w="957470"/>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0.8 </a:t>
                      </a:r>
                      <a:r>
                        <a:rPr lang="de-CH" sz="1200" dirty="0" smtClean="0"/>
                        <a:t>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12</a:t>
                      </a:r>
                    </a:p>
                    <a:p>
                      <a:endParaRPr lang="de-CH" sz="1200" dirty="0"/>
                    </a:p>
                  </a:txBody>
                  <a:tcPr/>
                </a:tc>
                <a:tc>
                  <a:txBody>
                    <a:bodyPr/>
                    <a:lstStyle/>
                    <a:p>
                      <a:r>
                        <a:rPr lang="de-CH" sz="1200" dirty="0" smtClean="0"/>
                        <a:t>23 </a:t>
                      </a:r>
                      <a:r>
                        <a:rPr lang="de-CH" sz="1200" dirty="0" smtClean="0"/>
                        <a:t>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2869335103"/>
              </p:ext>
            </p:extLst>
          </p:nvPr>
        </p:nvGraphicFramePr>
        <p:xfrm>
          <a:off x="293470" y="2412479"/>
          <a:ext cx="9914151" cy="3749040"/>
        </p:xfrm>
        <a:graphic>
          <a:graphicData uri="http://schemas.openxmlformats.org/drawingml/2006/table">
            <a:tbl>
              <a:tblPr firstRow="1" bandRow="1">
                <a:tableStyleId>{5C22544A-7EE6-4342-B048-85BDC9FD1C3A}</a:tableStyleId>
              </a:tblPr>
              <a:tblGrid>
                <a:gridCol w="762627"/>
                <a:gridCol w="762627"/>
                <a:gridCol w="762627"/>
                <a:gridCol w="762627"/>
                <a:gridCol w="762627"/>
                <a:gridCol w="762627"/>
                <a:gridCol w="762627"/>
                <a:gridCol w="762627"/>
                <a:gridCol w="762627"/>
                <a:gridCol w="762627"/>
                <a:gridCol w="762627"/>
                <a:gridCol w="762627"/>
                <a:gridCol w="762627"/>
              </a:tblGrid>
              <a:tr h="370840">
                <a:tc>
                  <a:txBody>
                    <a:bodyPr/>
                    <a:lstStyle/>
                    <a:p>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de-CH" sz="1000" dirty="0" smtClean="0"/>
                        <a:t>TO-247</a:t>
                      </a:r>
                      <a:r>
                        <a:rPr lang="de-CH" sz="1000" baseline="0" dirty="0" smtClean="0"/>
                        <a:t> </a:t>
                      </a:r>
                      <a:r>
                        <a:rPr lang="de-CH" sz="1000" dirty="0" smtClean="0"/>
                        <a:t>1</a:t>
                      </a:r>
                      <a:endParaRPr lang="de-CH"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0.3330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12972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0.3494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0.0082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0.2861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15095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0.2943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0.0055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0.2620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16483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0.2675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0.4499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9599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0.4992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0.0246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0.3901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11073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0.4147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0.3570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12098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0.3734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0.0821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0.4941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8741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0.5763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0.0411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0.4345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9939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0.4756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0.0274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0.3994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0.4268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0.1151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0.5205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8298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0.6356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0.0575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0.4639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9311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0.5214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0.0383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0.4285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10081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0.4668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0.1482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0.5382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8026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0.6863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0.0739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0.4853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8900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0.5592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0.4504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9590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0.4996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0.5507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7843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0.7320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0.5017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8609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0.5921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0.0602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0.4677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9234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0.5280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0.5599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7714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0.7745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0.1069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0.5148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8390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0.6217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0.0712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0.4820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8961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0.5532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0.2479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0.5669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7618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0.8149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0.1235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0.5254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8221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0.6488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0.0822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0.4939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8746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0.5760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0.2814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0.5723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7546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0.8538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0.1400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0.5341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8086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0.6741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0.0932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0.5040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8570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0.5971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16388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14</a:t>
            </a:fld>
            <a:r>
              <a:rPr lang="de-CH" smtClean="0"/>
              <a:t> </a:t>
            </a:r>
            <a:endParaRPr lang="de-CH" dirty="0"/>
          </a:p>
        </p:txBody>
      </p:sp>
      <p:graphicFrame>
        <p:nvGraphicFramePr>
          <p:cNvPr id="10" name="Tabelle 9"/>
          <p:cNvGraphicFramePr>
            <a:graphicFrameLocks noGrp="1"/>
          </p:cNvGraphicFramePr>
          <p:nvPr>
            <p:extLst>
              <p:ext uri="{D42A27DB-BD31-4B8C-83A1-F6EECF244321}">
                <p14:modId xmlns:p14="http://schemas.microsoft.com/office/powerpoint/2010/main" val="3828796614"/>
              </p:ext>
            </p:extLst>
          </p:nvPr>
        </p:nvGraphicFramePr>
        <p:xfrm>
          <a:off x="483303" y="1076586"/>
          <a:ext cx="5744820" cy="828040"/>
        </p:xfrm>
        <a:graphic>
          <a:graphicData uri="http://schemas.openxmlformats.org/drawingml/2006/table">
            <a:tbl>
              <a:tblPr firstRow="1" bandRow="1">
                <a:tableStyleId>{5C22544A-7EE6-4342-B048-85BDC9FD1C3A}</a:tableStyleId>
              </a:tblPr>
              <a:tblGrid>
                <a:gridCol w="957470"/>
                <a:gridCol w="957470"/>
                <a:gridCol w="957470"/>
                <a:gridCol w="957470"/>
                <a:gridCol w="957470"/>
                <a:gridCol w="957470"/>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r>
              <a:tr h="370840">
                <a:tc>
                  <a:txBody>
                    <a:bodyPr/>
                    <a:lstStyle/>
                    <a:p>
                      <a:r>
                        <a:rPr lang="de-CH" sz="1200" dirty="0" smtClean="0"/>
                        <a:t>0.8 </a:t>
                      </a:r>
                      <a:r>
                        <a:rPr lang="de-CH" sz="1200" dirty="0" smtClean="0"/>
                        <a:t>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12</a:t>
                      </a:r>
                      <a:endParaRPr lang="de-CH" sz="1200" dirty="0"/>
                    </a:p>
                  </a:txBody>
                  <a:tcPr/>
                </a:tc>
                <a:tc>
                  <a:txBody>
                    <a:bodyPr/>
                    <a:lstStyle/>
                    <a:p>
                      <a:r>
                        <a:rPr lang="de-CH" sz="1200" dirty="0" smtClean="0"/>
                        <a:t>23 </a:t>
                      </a:r>
                      <a:r>
                        <a:rPr lang="de-CH" sz="1200" dirty="0" smtClean="0"/>
                        <a:t>mm</a:t>
                      </a:r>
                      <a:endParaRPr lang="de-CH" sz="1200" dirty="0"/>
                    </a:p>
                  </a:txBody>
                  <a:tcPr/>
                </a:tc>
                <a:tc>
                  <a:txBody>
                    <a:bodyPr/>
                    <a:lstStyle/>
                    <a:p>
                      <a:r>
                        <a:rPr lang="de-CH" sz="1200" dirty="0" smtClean="0"/>
                        <a:t>13.7*16.9</a:t>
                      </a:r>
                      <a:endParaRPr lang="de-CH" sz="1200" dirty="0"/>
                    </a:p>
                  </a:txBody>
                  <a:tcPr/>
                </a:tc>
              </a:tr>
            </a:tbl>
          </a:graphicData>
        </a:graphic>
      </p:graphicFrame>
      <p:graphicFrame>
        <p:nvGraphicFramePr>
          <p:cNvPr id="11" name="Diagramm 10"/>
          <p:cNvGraphicFramePr>
            <a:graphicFrameLocks/>
          </p:cNvGraphicFramePr>
          <p:nvPr>
            <p:extLst>
              <p:ext uri="{D42A27DB-BD31-4B8C-83A1-F6EECF244321}">
                <p14:modId xmlns:p14="http://schemas.microsoft.com/office/powerpoint/2010/main" val="856079223"/>
              </p:ext>
            </p:extLst>
          </p:nvPr>
        </p:nvGraphicFramePr>
        <p:xfrm>
          <a:off x="483303" y="1904626"/>
          <a:ext cx="5130676" cy="238006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Diagramm 12"/>
          <p:cNvGraphicFramePr>
            <a:graphicFrameLocks/>
          </p:cNvGraphicFramePr>
          <p:nvPr>
            <p:extLst>
              <p:ext uri="{D42A27DB-BD31-4B8C-83A1-F6EECF244321}">
                <p14:modId xmlns:p14="http://schemas.microsoft.com/office/powerpoint/2010/main" val="4094604684"/>
              </p:ext>
            </p:extLst>
          </p:nvPr>
        </p:nvGraphicFramePr>
        <p:xfrm>
          <a:off x="234133" y="4284687"/>
          <a:ext cx="5472608" cy="24482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1400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15</a:t>
            </a:fld>
            <a:r>
              <a:rPr lang="de-CH" smtClean="0"/>
              <a:t> </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634035210"/>
              </p:ext>
            </p:extLst>
          </p:nvPr>
        </p:nvGraphicFramePr>
        <p:xfrm>
          <a:off x="485777" y="1403007"/>
          <a:ext cx="6661123" cy="828040"/>
        </p:xfrm>
        <a:graphic>
          <a:graphicData uri="http://schemas.openxmlformats.org/drawingml/2006/table">
            <a:tbl>
              <a:tblPr firstRow="1" bandRow="1">
                <a:tableStyleId>{5C22544A-7EE6-4342-B048-85BDC9FD1C3A}</a:tableStyleId>
              </a:tblPr>
              <a:tblGrid>
                <a:gridCol w="951589"/>
                <a:gridCol w="951589"/>
                <a:gridCol w="951589"/>
                <a:gridCol w="951589"/>
                <a:gridCol w="951589"/>
                <a:gridCol w="951589"/>
                <a:gridCol w="951589"/>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c>
                  <a:txBody>
                    <a:bodyPr/>
                    <a:lstStyle/>
                    <a:p>
                      <a:r>
                        <a:rPr lang="de-CH" sz="1200" dirty="0" err="1" smtClean="0"/>
                        <a:t>Number</a:t>
                      </a:r>
                      <a:r>
                        <a:rPr lang="de-CH" sz="1200" dirty="0" smtClean="0"/>
                        <a:t> </a:t>
                      </a:r>
                      <a:r>
                        <a:rPr lang="de-CH" sz="1200" dirty="0" err="1" smtClean="0"/>
                        <a:t>of</a:t>
                      </a:r>
                      <a:r>
                        <a:rPr lang="de-CH" sz="1200" dirty="0" smtClean="0"/>
                        <a:t> Bridges</a:t>
                      </a:r>
                      <a:endParaRPr lang="de-CH" sz="1200" dirty="0"/>
                    </a:p>
                  </a:txBody>
                  <a:tcPr/>
                </a:tc>
              </a:tr>
              <a:tr h="370840">
                <a:tc>
                  <a:txBody>
                    <a:bodyPr/>
                    <a:lstStyle/>
                    <a:p>
                      <a:r>
                        <a:rPr lang="de-CH" sz="1200" dirty="0" smtClean="0"/>
                        <a:t>0.5 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14</a:t>
                      </a:r>
                      <a:endParaRPr lang="de-CH" sz="1200" dirty="0"/>
                    </a:p>
                  </a:txBody>
                  <a:tcPr/>
                </a:tc>
                <a:tc>
                  <a:txBody>
                    <a:bodyPr/>
                    <a:lstStyle/>
                    <a:p>
                      <a:r>
                        <a:rPr lang="de-CH" sz="1200" dirty="0" smtClean="0"/>
                        <a:t>22.2 mm</a:t>
                      </a:r>
                      <a:endParaRPr lang="de-CH" sz="1200" dirty="0"/>
                    </a:p>
                  </a:txBody>
                  <a:tcPr/>
                </a:tc>
                <a:tc>
                  <a:txBody>
                    <a:bodyPr/>
                    <a:lstStyle/>
                    <a:p>
                      <a:r>
                        <a:rPr lang="de-CH" sz="1200" dirty="0" smtClean="0"/>
                        <a:t>13.7*16.9</a:t>
                      </a:r>
                      <a:endParaRPr lang="de-CH" sz="1200" dirty="0"/>
                    </a:p>
                  </a:txBody>
                  <a:tcPr/>
                </a:tc>
                <a:tc>
                  <a:txBody>
                    <a:bodyPr/>
                    <a:lstStyle/>
                    <a:p>
                      <a:r>
                        <a:rPr lang="de-CH" sz="1200" dirty="0" smtClean="0"/>
                        <a:t>4</a:t>
                      </a:r>
                      <a:endParaRPr lang="de-CH" sz="1200" dirty="0"/>
                    </a:p>
                  </a:txBody>
                  <a:tcPr/>
                </a:tc>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2789876752"/>
              </p:ext>
            </p:extLst>
          </p:nvPr>
        </p:nvGraphicFramePr>
        <p:xfrm>
          <a:off x="293470" y="2412479"/>
          <a:ext cx="9914151" cy="3749040"/>
        </p:xfrm>
        <a:graphic>
          <a:graphicData uri="http://schemas.openxmlformats.org/drawingml/2006/table">
            <a:tbl>
              <a:tblPr firstRow="1" bandRow="1">
                <a:tableStyleId>{5C22544A-7EE6-4342-B048-85BDC9FD1C3A}</a:tableStyleId>
              </a:tblPr>
              <a:tblGrid>
                <a:gridCol w="762627"/>
                <a:gridCol w="762627"/>
                <a:gridCol w="762627"/>
                <a:gridCol w="762627"/>
                <a:gridCol w="762627"/>
                <a:gridCol w="762627"/>
                <a:gridCol w="762627"/>
                <a:gridCol w="762627"/>
                <a:gridCol w="762627"/>
                <a:gridCol w="762627"/>
                <a:gridCol w="762627"/>
                <a:gridCol w="762627"/>
                <a:gridCol w="762627"/>
              </a:tblGrid>
              <a:tr h="370840">
                <a:tc>
                  <a:txBody>
                    <a:bodyPr/>
                    <a:lstStyle/>
                    <a:p>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@1L/min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@2L/min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Rth_fluid_loc_to</a:t>
                      </a:r>
                      <a:r>
                        <a:rPr lang="de-CH" sz="700" baseline="0" dirty="0" err="1" smtClean="0"/>
                        <a:t>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Rth_contact_to_loc_fluid</a:t>
                      </a:r>
                      <a:r>
                        <a:rPr lang="de-CH" sz="700" baseline="0" dirty="0" smtClean="0"/>
                        <a:t> </a:t>
                      </a:r>
                      <a:r>
                        <a:rPr lang="de-CH" sz="700" dirty="0" smtClean="0"/>
                        <a:t>@3L/min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h_contact</a:t>
                      </a:r>
                      <a:r>
                        <a:rPr lang="de-CH" sz="700" baseline="0" dirty="0" err="1" smtClean="0"/>
                        <a:t>_to_Loc_fluid</a:t>
                      </a:r>
                      <a:r>
                        <a:rPr lang="de-CH" sz="700" baseline="0" dirty="0" smtClean="0"/>
                        <a:t> [W/^(m^2*K)]</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e-CH" sz="700" dirty="0" err="1" smtClean="0"/>
                        <a:t>Rth_contact_to_inlet</a:t>
                      </a:r>
                      <a:r>
                        <a:rPr lang="de-CH" sz="700" dirty="0" smtClean="0"/>
                        <a:t> @3L/min</a:t>
                      </a:r>
                      <a:endParaRPr lang="de-CH"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de-CH" sz="1000" dirty="0" smtClean="0"/>
                        <a:t>TO-247</a:t>
                      </a:r>
                      <a:r>
                        <a:rPr lang="de-CH" sz="1000" baseline="0" dirty="0" smtClean="0"/>
                        <a:t> </a:t>
                      </a:r>
                      <a:r>
                        <a:rPr lang="de-CH" sz="1000" dirty="0" smtClean="0"/>
                        <a:t>1</a:t>
                      </a:r>
                      <a:endParaRPr lang="de-CH"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0.2858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15112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0.3022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0.0082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0.2475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17449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0.2557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0.0055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0.2276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18977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0.2331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0.3776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11438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0.4269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0.0246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0.3323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12997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0.3569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0.0164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0.3059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14118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0.3224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0.0821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0.4080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10585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0.4902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0.3664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11787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0.4075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0.0274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0.3397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12714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0.3671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0.1151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0.4244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10178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0.5395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0.0575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0.3877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11141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0.4451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0.0383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0.3619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11934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0.4002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0.1482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0.4343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9944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0.5825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0.0739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0.4023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10737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0.4762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0.0493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0.3781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11425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0.4273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0.4409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9797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0.6222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0.4129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10460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0.5033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0.0602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0.3904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11064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0.4506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0.2146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0.4454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9698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0.6599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0.1069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0.4210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10260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0.5279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0.0712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0.4001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10796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0.4713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0.2479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0.4485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9630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0.6965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0.1235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0.4272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10110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0.5507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0.0822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0.4079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10589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a:solidFill>
                            <a:srgbClr val="000000"/>
                          </a:solidFill>
                          <a:effectLst/>
                          <a:latin typeface="Calibri"/>
                        </a:rPr>
                        <a:t>0.4901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000" dirty="0" smtClean="0"/>
                        <a:t>TO-247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0.2814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0.4508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9581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0.7322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smtClean="0">
                          <a:solidFill>
                            <a:srgbClr val="000000"/>
                          </a:solidFill>
                          <a:effectLst/>
                          <a:latin typeface="Calibri"/>
                        </a:rPr>
                        <a:t>0.1400</a:t>
                      </a:r>
                      <a:endParaRPr lang="de-CH"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0.4322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9994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0.5722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0.0932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0.4143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10424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de-CH" sz="1100" b="0" i="0" u="none" strike="noStrike" dirty="0">
                          <a:solidFill>
                            <a:srgbClr val="000000"/>
                          </a:solidFill>
                          <a:effectLst/>
                          <a:latin typeface="Calibri"/>
                        </a:rPr>
                        <a:t>0.5075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Textfeld 8"/>
          <p:cNvSpPr txBox="1"/>
          <p:nvPr/>
        </p:nvSpPr>
        <p:spPr>
          <a:xfrm>
            <a:off x="274691" y="6300911"/>
            <a:ext cx="9896421" cy="830997"/>
          </a:xfrm>
          <a:prstGeom prst="rect">
            <a:avLst/>
          </a:prstGeom>
          <a:noFill/>
        </p:spPr>
        <p:txBody>
          <a:bodyPr wrap="square" rtlCol="0">
            <a:spAutoFit/>
          </a:bodyPr>
          <a:lstStyle/>
          <a:p>
            <a:pPr marL="171450" indent="-171450">
              <a:buFont typeface="Arial" pitchFamily="34" charset="0"/>
              <a:buChar char="•"/>
            </a:pPr>
            <a:r>
              <a:rPr lang="de-CH" sz="1200" dirty="0" err="1" smtClean="0"/>
              <a:t>Modified</a:t>
            </a:r>
            <a:r>
              <a:rPr lang="de-CH" sz="1200" dirty="0" smtClean="0"/>
              <a:t> </a:t>
            </a:r>
            <a:r>
              <a:rPr lang="de-CH" sz="1200" dirty="0" err="1" smtClean="0"/>
              <a:t>profile</a:t>
            </a:r>
            <a:r>
              <a:rPr lang="de-CH" sz="1200" dirty="0" smtClean="0"/>
              <a:t> </a:t>
            </a:r>
            <a:r>
              <a:rPr lang="de-CH" sz="1200" dirty="0" err="1" smtClean="0"/>
              <a:t>with</a:t>
            </a:r>
            <a:r>
              <a:rPr lang="de-CH" sz="1200" dirty="0" smtClean="0"/>
              <a:t> 4 additional </a:t>
            </a:r>
            <a:r>
              <a:rPr lang="de-CH" sz="1200" dirty="0" err="1" smtClean="0"/>
              <a:t>bridged</a:t>
            </a:r>
            <a:r>
              <a:rPr lang="de-CH" sz="1200" dirty="0" smtClean="0"/>
              <a:t> </a:t>
            </a:r>
            <a:r>
              <a:rPr lang="de-CH" sz="1200" dirty="0" err="1" smtClean="0"/>
              <a:t>dividing</a:t>
            </a:r>
            <a:r>
              <a:rPr lang="de-CH" sz="1200" dirty="0" smtClean="0"/>
              <a:t> </a:t>
            </a:r>
            <a:r>
              <a:rPr lang="de-CH" sz="1200" dirty="0" err="1" smtClean="0"/>
              <a:t>the</a:t>
            </a:r>
            <a:r>
              <a:rPr lang="de-CH" sz="1200" dirty="0" smtClean="0"/>
              <a:t> </a:t>
            </a:r>
            <a:r>
              <a:rPr lang="de-CH" sz="1200" dirty="0" err="1" smtClean="0"/>
              <a:t>channels</a:t>
            </a:r>
            <a:r>
              <a:rPr lang="de-CH" sz="1200" dirty="0" smtClean="0"/>
              <a:t> </a:t>
            </a:r>
            <a:r>
              <a:rPr lang="de-CH" sz="1200" dirty="0" err="1" smtClean="0"/>
              <a:t>into</a:t>
            </a:r>
            <a:r>
              <a:rPr lang="de-CH" sz="1200" dirty="0" smtClean="0"/>
              <a:t> 5 sub-</a:t>
            </a:r>
            <a:r>
              <a:rPr lang="de-CH" sz="1200" dirty="0" err="1" smtClean="0"/>
              <a:t>channels</a:t>
            </a:r>
            <a:endParaRPr lang="de-CH" sz="1200" dirty="0" smtClean="0"/>
          </a:p>
          <a:p>
            <a:pPr marL="171450" indent="-171450">
              <a:buFont typeface="Arial" pitchFamily="34" charset="0"/>
              <a:buChar char="•"/>
            </a:pPr>
            <a:r>
              <a:rPr lang="de-CH" sz="1200" dirty="0" smtClean="0"/>
              <a:t>Bridges </a:t>
            </a:r>
            <a:r>
              <a:rPr lang="de-CH" sz="1200" dirty="0" err="1" smtClean="0"/>
              <a:t>are</a:t>
            </a:r>
            <a:r>
              <a:rPr lang="de-CH" sz="1200" dirty="0" smtClean="0"/>
              <a:t> </a:t>
            </a:r>
            <a:r>
              <a:rPr lang="de-CH" sz="1200" dirty="0" err="1" smtClean="0"/>
              <a:t>modeled</a:t>
            </a:r>
            <a:r>
              <a:rPr lang="de-CH" sz="1200" dirty="0" smtClean="0"/>
              <a:t> </a:t>
            </a:r>
            <a:r>
              <a:rPr lang="de-CH" sz="1200" dirty="0" err="1" smtClean="0"/>
              <a:t>with</a:t>
            </a:r>
            <a:r>
              <a:rPr lang="de-CH" sz="1200" dirty="0" smtClean="0"/>
              <a:t> ideal </a:t>
            </a:r>
            <a:r>
              <a:rPr lang="de-CH" sz="1200" dirty="0" err="1" smtClean="0"/>
              <a:t>fin</a:t>
            </a:r>
            <a:r>
              <a:rPr lang="de-CH" sz="1200" dirty="0"/>
              <a:t> </a:t>
            </a:r>
            <a:r>
              <a:rPr lang="de-CH" sz="1200" dirty="0" err="1" smtClean="0"/>
              <a:t>efficiency</a:t>
            </a:r>
            <a:r>
              <a:rPr lang="de-CH" sz="1200" dirty="0" smtClean="0"/>
              <a:t> (non-</a:t>
            </a:r>
            <a:r>
              <a:rPr lang="de-CH" sz="1200" dirty="0" err="1" smtClean="0"/>
              <a:t>conservative</a:t>
            </a:r>
            <a:r>
              <a:rPr lang="de-CH" sz="1200" dirty="0" smtClean="0"/>
              <a:t> </a:t>
            </a:r>
            <a:r>
              <a:rPr lang="de-CH" sz="1200" dirty="0" err="1" smtClean="0"/>
              <a:t>assumption</a:t>
            </a:r>
            <a:r>
              <a:rPr lang="de-CH" sz="1200" dirty="0" smtClean="0"/>
              <a:t>)</a:t>
            </a:r>
          </a:p>
          <a:p>
            <a:pPr marL="171450" indent="-171450">
              <a:buFont typeface="Arial" pitchFamily="34" charset="0"/>
              <a:buChar char="•"/>
            </a:pPr>
            <a:r>
              <a:rPr lang="de-CH" sz="1200" dirty="0" smtClean="0"/>
              <a:t>Different </a:t>
            </a:r>
            <a:r>
              <a:rPr lang="de-CH" sz="1200" dirty="0" err="1" smtClean="0"/>
              <a:t>increase</a:t>
            </a:r>
            <a:r>
              <a:rPr lang="de-CH" sz="1200" dirty="0" smtClean="0"/>
              <a:t> in </a:t>
            </a:r>
            <a:r>
              <a:rPr lang="de-CH" sz="1200" dirty="0" err="1" smtClean="0"/>
              <a:t>mean</a:t>
            </a:r>
            <a:r>
              <a:rPr lang="de-CH" sz="1200" dirty="0" smtClean="0"/>
              <a:t> </a:t>
            </a:r>
            <a:r>
              <a:rPr lang="de-CH" sz="1200" dirty="0" err="1" smtClean="0"/>
              <a:t>temperature</a:t>
            </a:r>
            <a:r>
              <a:rPr lang="de-CH" sz="1200" dirty="0" smtClean="0"/>
              <a:t> </a:t>
            </a:r>
            <a:r>
              <a:rPr lang="de-CH" sz="1200" dirty="0" err="1" smtClean="0"/>
              <a:t>for</a:t>
            </a:r>
            <a:r>
              <a:rPr lang="de-CH" sz="1200" dirty="0" smtClean="0"/>
              <a:t> </a:t>
            </a:r>
            <a:r>
              <a:rPr lang="de-CH" sz="1200" dirty="0" err="1" smtClean="0"/>
              <a:t>the</a:t>
            </a:r>
            <a:r>
              <a:rPr lang="de-CH" sz="1200" dirty="0" smtClean="0"/>
              <a:t> individual sub-</a:t>
            </a:r>
            <a:r>
              <a:rPr lang="de-CH" sz="1200" dirty="0" err="1" smtClean="0"/>
              <a:t>channel</a:t>
            </a:r>
            <a:r>
              <a:rPr lang="de-CH" sz="1200" dirty="0" smtClean="0"/>
              <a:t> </a:t>
            </a:r>
            <a:r>
              <a:rPr lang="de-CH" sz="1200" dirty="0" err="1" smtClean="0"/>
              <a:t>is</a:t>
            </a:r>
            <a:r>
              <a:rPr lang="de-CH" sz="1200" dirty="0" smtClean="0"/>
              <a:t> not </a:t>
            </a:r>
            <a:r>
              <a:rPr lang="de-CH" sz="1200" dirty="0" err="1" smtClean="0"/>
              <a:t>considered</a:t>
            </a:r>
            <a:r>
              <a:rPr lang="de-CH" sz="1200" dirty="0" smtClean="0"/>
              <a:t> (</a:t>
            </a:r>
            <a:r>
              <a:rPr lang="de-CH" sz="1200" dirty="0"/>
              <a:t>non-</a:t>
            </a:r>
            <a:r>
              <a:rPr lang="de-CH" sz="1200" dirty="0" err="1"/>
              <a:t>conservative</a:t>
            </a:r>
            <a:r>
              <a:rPr lang="de-CH" sz="1200" dirty="0"/>
              <a:t> </a:t>
            </a:r>
            <a:r>
              <a:rPr lang="de-CH" sz="1200" dirty="0" err="1"/>
              <a:t>assumption</a:t>
            </a:r>
            <a:r>
              <a:rPr lang="de-CH" sz="1200" dirty="0"/>
              <a:t>)</a:t>
            </a:r>
          </a:p>
          <a:p>
            <a:pPr marL="171450" indent="-171450">
              <a:buFont typeface="Arial" pitchFamily="34" charset="0"/>
              <a:buChar char="•"/>
            </a:pPr>
            <a:r>
              <a:rPr lang="de-CH" sz="1200" dirty="0" smtClean="0">
                <a:sym typeface="Wingdings" pitchFamily="2" charset="2"/>
              </a:rPr>
              <a:t> thermal </a:t>
            </a:r>
            <a:r>
              <a:rPr lang="de-CH" sz="1200" dirty="0" err="1" smtClean="0">
                <a:sym typeface="Wingdings" pitchFamily="2" charset="2"/>
              </a:rPr>
              <a:t>resistance</a:t>
            </a:r>
            <a:r>
              <a:rPr lang="de-CH" sz="1200" dirty="0" smtClean="0">
                <a:sym typeface="Wingdings" pitchFamily="2" charset="2"/>
              </a:rPr>
              <a:t> will </a:t>
            </a:r>
            <a:r>
              <a:rPr lang="de-CH" sz="1200" dirty="0" err="1" smtClean="0">
                <a:sym typeface="Wingdings" pitchFamily="2" charset="2"/>
              </a:rPr>
              <a:t>be</a:t>
            </a:r>
            <a:r>
              <a:rPr lang="de-CH" sz="1200" dirty="0" smtClean="0">
                <a:sym typeface="Wingdings" pitchFamily="2" charset="2"/>
              </a:rPr>
              <a:t> </a:t>
            </a:r>
            <a:r>
              <a:rPr lang="de-CH" sz="1200" dirty="0" err="1" smtClean="0">
                <a:sym typeface="Wingdings" pitchFamily="2" charset="2"/>
              </a:rPr>
              <a:t>somewhat</a:t>
            </a:r>
            <a:r>
              <a:rPr lang="de-CH" sz="1200" dirty="0" smtClean="0">
                <a:sym typeface="Wingdings" pitchFamily="2" charset="2"/>
              </a:rPr>
              <a:t> </a:t>
            </a:r>
            <a:r>
              <a:rPr lang="de-CH" sz="1200" dirty="0" err="1" smtClean="0">
                <a:sym typeface="Wingdings" pitchFamily="2" charset="2"/>
              </a:rPr>
              <a:t>higher</a:t>
            </a:r>
            <a:r>
              <a:rPr lang="de-CH" sz="1200" dirty="0" smtClean="0">
                <a:sym typeface="Wingdings" pitchFamily="2" charset="2"/>
              </a:rPr>
              <a:t> </a:t>
            </a:r>
            <a:r>
              <a:rPr lang="de-CH" sz="1200" dirty="0" err="1" smtClean="0">
                <a:sym typeface="Wingdings" pitchFamily="2" charset="2"/>
              </a:rPr>
              <a:t>than</a:t>
            </a:r>
            <a:r>
              <a:rPr lang="de-CH" sz="1200" dirty="0" smtClean="0">
                <a:sym typeface="Wingdings" pitchFamily="2" charset="2"/>
              </a:rPr>
              <a:t> </a:t>
            </a:r>
            <a:r>
              <a:rPr lang="de-CH" sz="1200" dirty="0" err="1" smtClean="0">
                <a:sym typeface="Wingdings" pitchFamily="2" charset="2"/>
              </a:rPr>
              <a:t>calculated</a:t>
            </a:r>
            <a:endParaRPr lang="de-CH" sz="1200" dirty="0"/>
          </a:p>
        </p:txBody>
      </p:sp>
    </p:spTree>
    <p:extLst>
      <p:ext uri="{BB962C8B-B14F-4D97-AF65-F5344CB8AC3E}">
        <p14:creationId xmlns:p14="http://schemas.microsoft.com/office/powerpoint/2010/main" val="41210872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err="1" smtClean="0"/>
              <a:t>Results</a:t>
            </a:r>
            <a:r>
              <a:rPr lang="de-CH" dirty="0" smtClean="0"/>
              <a:t> </a:t>
            </a:r>
            <a:r>
              <a:rPr lang="de-CH" dirty="0" err="1" smtClean="0"/>
              <a:t>for</a:t>
            </a:r>
            <a:r>
              <a:rPr lang="de-CH" dirty="0" smtClean="0"/>
              <a:t> </a:t>
            </a:r>
            <a:r>
              <a:rPr lang="de-CH" dirty="0" err="1" smtClean="0"/>
              <a:t>chosen</a:t>
            </a:r>
            <a:r>
              <a:rPr lang="de-CH" dirty="0" smtClean="0"/>
              <a:t> </a:t>
            </a:r>
            <a:r>
              <a:rPr lang="de-CH" dirty="0" err="1" smtClean="0"/>
              <a:t>profile</a:t>
            </a:r>
            <a:r>
              <a:rPr lang="de-CH" dirty="0" smtClean="0"/>
              <a:t> </a:t>
            </a:r>
            <a:r>
              <a:rPr lang="de-CH" dirty="0" err="1" smtClean="0"/>
              <a:t>at</a:t>
            </a:r>
            <a:r>
              <a:rPr lang="de-CH" dirty="0" smtClean="0"/>
              <a:t> different </a:t>
            </a:r>
            <a:r>
              <a:rPr lang="de-CH" dirty="0" err="1" smtClean="0"/>
              <a:t>conditions</a:t>
            </a:r>
            <a:endParaRPr lang="de-CH" dirty="0"/>
          </a:p>
        </p:txBody>
      </p:sp>
      <p:sp>
        <p:nvSpPr>
          <p:cNvPr id="3" name="Inhaltsplatzhalter 2"/>
          <p:cNvSpPr>
            <a:spLocks noGrp="1"/>
          </p:cNvSpPr>
          <p:nvPr>
            <p:ph idx="1"/>
          </p:nvPr>
        </p:nvSpPr>
        <p:spPr/>
        <p:txBody>
          <a:bodyPr>
            <a:normAutofit/>
          </a:bodyPr>
          <a:lstStyle/>
          <a:p>
            <a:pPr lvl="1"/>
            <a:endParaRPr lang="de-CH" sz="800" dirty="0"/>
          </a:p>
          <a:p>
            <a:pPr lvl="1"/>
            <a:endParaRPr lang="de-CH" sz="1200" dirty="0" smtClean="0">
              <a:sym typeface="Wingdings" pitchFamily="2" charset="2"/>
            </a:endParaRPr>
          </a:p>
          <a:p>
            <a:pPr marL="0" indent="0">
              <a:buNone/>
            </a:pPr>
            <a:endParaRPr lang="de-CH" sz="1600" dirty="0"/>
          </a:p>
        </p:txBody>
      </p:sp>
      <p:sp>
        <p:nvSpPr>
          <p:cNvPr id="4" name="Fußzeilenplatzhalter 3"/>
          <p:cNvSpPr>
            <a:spLocks noGrp="1"/>
          </p:cNvSpPr>
          <p:nvPr>
            <p:ph type="ftr" sz="quarter" idx="11"/>
          </p:nvPr>
        </p:nvSpPr>
        <p:spPr/>
        <p:txBody>
          <a:bodyPr/>
          <a:lstStyle/>
          <a:p>
            <a:r>
              <a:rPr lang="de-CH" smtClean="0"/>
              <a:t>www.brusa.biz</a:t>
            </a:r>
            <a:endParaRPr lang="de-CH"/>
          </a:p>
        </p:txBody>
      </p:sp>
      <p:sp>
        <p:nvSpPr>
          <p:cNvPr id="5" name="Foliennummernplatzhalter 4"/>
          <p:cNvSpPr>
            <a:spLocks noGrp="1"/>
          </p:cNvSpPr>
          <p:nvPr>
            <p:ph type="sldNum" sz="quarter" idx="12"/>
          </p:nvPr>
        </p:nvSpPr>
        <p:spPr/>
        <p:txBody>
          <a:bodyPr/>
          <a:lstStyle/>
          <a:p>
            <a:r>
              <a:rPr lang="de-CH" smtClean="0">
                <a:solidFill>
                  <a:srgbClr val="FFC000"/>
                </a:solidFill>
              </a:rPr>
              <a:t>|</a:t>
            </a:r>
            <a:r>
              <a:rPr lang="de-CH" smtClean="0"/>
              <a:t> </a:t>
            </a:r>
            <a:fld id="{D292BFA0-4485-4C93-BCC8-15EFB3A4F9EE}" type="slidenum">
              <a:rPr lang="de-CH" smtClean="0"/>
              <a:pPr/>
              <a:t>16</a:t>
            </a:fld>
            <a:r>
              <a:rPr lang="de-CH" smtClean="0"/>
              <a:t> </a:t>
            </a:r>
            <a:endParaRPr lang="de-CH" dirty="0"/>
          </a:p>
        </p:txBody>
      </p:sp>
      <p:sp>
        <p:nvSpPr>
          <p:cNvPr id="11" name="Textfeld 10"/>
          <p:cNvSpPr txBox="1"/>
          <p:nvPr/>
        </p:nvSpPr>
        <p:spPr>
          <a:xfrm>
            <a:off x="5253238" y="2268463"/>
            <a:ext cx="5237355" cy="1384995"/>
          </a:xfrm>
          <a:prstGeom prst="rect">
            <a:avLst/>
          </a:prstGeom>
          <a:noFill/>
        </p:spPr>
        <p:txBody>
          <a:bodyPr wrap="square" rtlCol="0">
            <a:spAutoFit/>
          </a:bodyPr>
          <a:lstStyle/>
          <a:p>
            <a:pPr marL="171450" indent="-171450">
              <a:buFont typeface="Arial" pitchFamily="34" charset="0"/>
              <a:buChar char="•"/>
            </a:pPr>
            <a:r>
              <a:rPr lang="de-CH" sz="1200" dirty="0" err="1" smtClean="0"/>
              <a:t>Modified</a:t>
            </a:r>
            <a:r>
              <a:rPr lang="de-CH" sz="1200" dirty="0" smtClean="0"/>
              <a:t> </a:t>
            </a:r>
            <a:r>
              <a:rPr lang="de-CH" sz="1200" dirty="0" err="1" smtClean="0"/>
              <a:t>profile</a:t>
            </a:r>
            <a:r>
              <a:rPr lang="de-CH" sz="1200" dirty="0" smtClean="0"/>
              <a:t> </a:t>
            </a:r>
            <a:r>
              <a:rPr lang="de-CH" sz="1200" dirty="0" err="1" smtClean="0"/>
              <a:t>with</a:t>
            </a:r>
            <a:r>
              <a:rPr lang="de-CH" sz="1200" dirty="0" smtClean="0"/>
              <a:t> 4 additional </a:t>
            </a:r>
            <a:r>
              <a:rPr lang="de-CH" sz="1200" dirty="0" err="1" smtClean="0"/>
              <a:t>bridged</a:t>
            </a:r>
            <a:r>
              <a:rPr lang="de-CH" sz="1200" dirty="0" smtClean="0"/>
              <a:t> </a:t>
            </a:r>
            <a:r>
              <a:rPr lang="de-CH" sz="1200" dirty="0" err="1" smtClean="0"/>
              <a:t>dividing</a:t>
            </a:r>
            <a:r>
              <a:rPr lang="de-CH" sz="1200" dirty="0" smtClean="0"/>
              <a:t> </a:t>
            </a:r>
            <a:r>
              <a:rPr lang="de-CH" sz="1200" dirty="0" err="1" smtClean="0"/>
              <a:t>the</a:t>
            </a:r>
            <a:r>
              <a:rPr lang="de-CH" sz="1200" dirty="0" smtClean="0"/>
              <a:t> </a:t>
            </a:r>
            <a:r>
              <a:rPr lang="de-CH" sz="1200" dirty="0" err="1" smtClean="0"/>
              <a:t>channels</a:t>
            </a:r>
            <a:r>
              <a:rPr lang="de-CH" sz="1200" dirty="0" smtClean="0"/>
              <a:t> </a:t>
            </a:r>
            <a:r>
              <a:rPr lang="de-CH" sz="1200" dirty="0" err="1" smtClean="0"/>
              <a:t>into</a:t>
            </a:r>
            <a:r>
              <a:rPr lang="de-CH" sz="1200" dirty="0" smtClean="0"/>
              <a:t> 5 sub-</a:t>
            </a:r>
            <a:r>
              <a:rPr lang="de-CH" sz="1200" dirty="0" err="1" smtClean="0"/>
              <a:t>channels</a:t>
            </a:r>
            <a:endParaRPr lang="de-CH" sz="1200" dirty="0" smtClean="0"/>
          </a:p>
          <a:p>
            <a:pPr marL="171450" indent="-171450">
              <a:buFont typeface="Arial" pitchFamily="34" charset="0"/>
              <a:buChar char="•"/>
            </a:pPr>
            <a:r>
              <a:rPr lang="de-CH" sz="1200" dirty="0" smtClean="0"/>
              <a:t>Bridges </a:t>
            </a:r>
            <a:r>
              <a:rPr lang="de-CH" sz="1200" dirty="0" err="1" smtClean="0"/>
              <a:t>are</a:t>
            </a:r>
            <a:r>
              <a:rPr lang="de-CH" sz="1200" dirty="0" smtClean="0"/>
              <a:t> </a:t>
            </a:r>
            <a:r>
              <a:rPr lang="de-CH" sz="1200" dirty="0" err="1" smtClean="0"/>
              <a:t>modeled</a:t>
            </a:r>
            <a:r>
              <a:rPr lang="de-CH" sz="1200" dirty="0" smtClean="0"/>
              <a:t> </a:t>
            </a:r>
            <a:r>
              <a:rPr lang="de-CH" sz="1200" dirty="0" err="1" smtClean="0"/>
              <a:t>with</a:t>
            </a:r>
            <a:r>
              <a:rPr lang="de-CH" sz="1200" dirty="0" smtClean="0"/>
              <a:t> ideal </a:t>
            </a:r>
            <a:r>
              <a:rPr lang="de-CH" sz="1200" dirty="0" err="1" smtClean="0"/>
              <a:t>fin</a:t>
            </a:r>
            <a:r>
              <a:rPr lang="de-CH" sz="1200" dirty="0"/>
              <a:t> </a:t>
            </a:r>
            <a:r>
              <a:rPr lang="de-CH" sz="1200" dirty="0" err="1" smtClean="0"/>
              <a:t>efficiency</a:t>
            </a:r>
            <a:r>
              <a:rPr lang="de-CH" sz="1200" dirty="0" smtClean="0"/>
              <a:t> (non-</a:t>
            </a:r>
            <a:r>
              <a:rPr lang="de-CH" sz="1200" dirty="0" err="1" smtClean="0"/>
              <a:t>conservative</a:t>
            </a:r>
            <a:r>
              <a:rPr lang="de-CH" sz="1200" dirty="0" smtClean="0"/>
              <a:t> </a:t>
            </a:r>
            <a:r>
              <a:rPr lang="de-CH" sz="1200" dirty="0" err="1" smtClean="0"/>
              <a:t>assumption</a:t>
            </a:r>
            <a:r>
              <a:rPr lang="de-CH" sz="1200" dirty="0" smtClean="0"/>
              <a:t>)</a:t>
            </a:r>
          </a:p>
          <a:p>
            <a:pPr marL="171450" indent="-171450">
              <a:buFont typeface="Arial" pitchFamily="34" charset="0"/>
              <a:buChar char="•"/>
            </a:pPr>
            <a:r>
              <a:rPr lang="de-CH" sz="1200" dirty="0" smtClean="0"/>
              <a:t>Different </a:t>
            </a:r>
            <a:r>
              <a:rPr lang="de-CH" sz="1200" dirty="0" err="1" smtClean="0"/>
              <a:t>increase</a:t>
            </a:r>
            <a:r>
              <a:rPr lang="de-CH" sz="1200" dirty="0" smtClean="0"/>
              <a:t> in </a:t>
            </a:r>
            <a:r>
              <a:rPr lang="de-CH" sz="1200" dirty="0" err="1" smtClean="0"/>
              <a:t>mean</a:t>
            </a:r>
            <a:r>
              <a:rPr lang="de-CH" sz="1200" dirty="0" smtClean="0"/>
              <a:t> </a:t>
            </a:r>
            <a:r>
              <a:rPr lang="de-CH" sz="1200" dirty="0" err="1" smtClean="0"/>
              <a:t>temperature</a:t>
            </a:r>
            <a:r>
              <a:rPr lang="de-CH" sz="1200" dirty="0" smtClean="0"/>
              <a:t> </a:t>
            </a:r>
            <a:r>
              <a:rPr lang="de-CH" sz="1200" dirty="0" err="1" smtClean="0"/>
              <a:t>for</a:t>
            </a:r>
            <a:r>
              <a:rPr lang="de-CH" sz="1200" dirty="0" smtClean="0"/>
              <a:t> </a:t>
            </a:r>
            <a:r>
              <a:rPr lang="de-CH" sz="1200" dirty="0" err="1" smtClean="0"/>
              <a:t>the</a:t>
            </a:r>
            <a:r>
              <a:rPr lang="de-CH" sz="1200" dirty="0" smtClean="0"/>
              <a:t> individual sub-</a:t>
            </a:r>
            <a:r>
              <a:rPr lang="de-CH" sz="1200" dirty="0" err="1" smtClean="0"/>
              <a:t>channel</a:t>
            </a:r>
            <a:r>
              <a:rPr lang="de-CH" sz="1200" dirty="0" smtClean="0"/>
              <a:t> </a:t>
            </a:r>
            <a:r>
              <a:rPr lang="de-CH" sz="1200" dirty="0" err="1" smtClean="0"/>
              <a:t>is</a:t>
            </a:r>
            <a:r>
              <a:rPr lang="de-CH" sz="1200" dirty="0" smtClean="0"/>
              <a:t> not </a:t>
            </a:r>
            <a:r>
              <a:rPr lang="de-CH" sz="1200" dirty="0" err="1" smtClean="0"/>
              <a:t>considered</a:t>
            </a:r>
            <a:r>
              <a:rPr lang="de-CH" sz="1200" dirty="0" smtClean="0"/>
              <a:t> (</a:t>
            </a:r>
            <a:r>
              <a:rPr lang="de-CH" sz="1200" dirty="0"/>
              <a:t>non-</a:t>
            </a:r>
            <a:r>
              <a:rPr lang="de-CH" sz="1200" dirty="0" err="1"/>
              <a:t>conservative</a:t>
            </a:r>
            <a:r>
              <a:rPr lang="de-CH" sz="1200" dirty="0"/>
              <a:t> </a:t>
            </a:r>
            <a:r>
              <a:rPr lang="de-CH" sz="1200" dirty="0" err="1"/>
              <a:t>assumption</a:t>
            </a:r>
            <a:r>
              <a:rPr lang="de-CH" sz="1200" dirty="0"/>
              <a:t>)</a:t>
            </a:r>
          </a:p>
          <a:p>
            <a:pPr marL="171450" indent="-171450">
              <a:buFont typeface="Arial" pitchFamily="34" charset="0"/>
              <a:buChar char="•"/>
            </a:pPr>
            <a:r>
              <a:rPr lang="de-CH" sz="1200" dirty="0" smtClean="0">
                <a:sym typeface="Wingdings" pitchFamily="2" charset="2"/>
              </a:rPr>
              <a:t> thermal </a:t>
            </a:r>
            <a:r>
              <a:rPr lang="de-CH" sz="1200" dirty="0" err="1" smtClean="0">
                <a:sym typeface="Wingdings" pitchFamily="2" charset="2"/>
              </a:rPr>
              <a:t>resistance</a:t>
            </a:r>
            <a:r>
              <a:rPr lang="de-CH" sz="1200" dirty="0" smtClean="0">
                <a:sym typeface="Wingdings" pitchFamily="2" charset="2"/>
              </a:rPr>
              <a:t> will </a:t>
            </a:r>
            <a:r>
              <a:rPr lang="de-CH" sz="1200" dirty="0" err="1" smtClean="0">
                <a:sym typeface="Wingdings" pitchFamily="2" charset="2"/>
              </a:rPr>
              <a:t>be</a:t>
            </a:r>
            <a:r>
              <a:rPr lang="de-CH" sz="1200" dirty="0" smtClean="0">
                <a:sym typeface="Wingdings" pitchFamily="2" charset="2"/>
              </a:rPr>
              <a:t> </a:t>
            </a:r>
            <a:r>
              <a:rPr lang="de-CH" sz="1200" dirty="0" err="1" smtClean="0">
                <a:sym typeface="Wingdings" pitchFamily="2" charset="2"/>
              </a:rPr>
              <a:t>somewhat</a:t>
            </a:r>
            <a:r>
              <a:rPr lang="de-CH" sz="1200" dirty="0" smtClean="0">
                <a:sym typeface="Wingdings" pitchFamily="2" charset="2"/>
              </a:rPr>
              <a:t> </a:t>
            </a:r>
            <a:r>
              <a:rPr lang="de-CH" sz="1200" dirty="0" err="1" smtClean="0">
                <a:sym typeface="Wingdings" pitchFamily="2" charset="2"/>
              </a:rPr>
              <a:t>higher</a:t>
            </a:r>
            <a:r>
              <a:rPr lang="de-CH" sz="1200" dirty="0" smtClean="0">
                <a:sym typeface="Wingdings" pitchFamily="2" charset="2"/>
              </a:rPr>
              <a:t> </a:t>
            </a:r>
            <a:r>
              <a:rPr lang="de-CH" sz="1200" dirty="0" err="1" smtClean="0">
                <a:sym typeface="Wingdings" pitchFamily="2" charset="2"/>
              </a:rPr>
              <a:t>than</a:t>
            </a:r>
            <a:r>
              <a:rPr lang="de-CH" sz="1200" dirty="0" smtClean="0">
                <a:sym typeface="Wingdings" pitchFamily="2" charset="2"/>
              </a:rPr>
              <a:t> </a:t>
            </a:r>
            <a:r>
              <a:rPr lang="de-CH" sz="1200" dirty="0" err="1" smtClean="0">
                <a:sym typeface="Wingdings" pitchFamily="2" charset="2"/>
              </a:rPr>
              <a:t>calculated</a:t>
            </a:r>
            <a:endParaRPr lang="de-CH" sz="1200" dirty="0"/>
          </a:p>
        </p:txBody>
      </p:sp>
      <p:graphicFrame>
        <p:nvGraphicFramePr>
          <p:cNvPr id="13" name="Tabelle 12"/>
          <p:cNvGraphicFramePr>
            <a:graphicFrameLocks noGrp="1"/>
          </p:cNvGraphicFramePr>
          <p:nvPr>
            <p:extLst>
              <p:ext uri="{D42A27DB-BD31-4B8C-83A1-F6EECF244321}">
                <p14:modId xmlns:p14="http://schemas.microsoft.com/office/powerpoint/2010/main" val="2906164555"/>
              </p:ext>
            </p:extLst>
          </p:nvPr>
        </p:nvGraphicFramePr>
        <p:xfrm>
          <a:off x="450156" y="988987"/>
          <a:ext cx="6661123" cy="828040"/>
        </p:xfrm>
        <a:graphic>
          <a:graphicData uri="http://schemas.openxmlformats.org/drawingml/2006/table">
            <a:tbl>
              <a:tblPr firstRow="1" bandRow="1">
                <a:tableStyleId>{5C22544A-7EE6-4342-B048-85BDC9FD1C3A}</a:tableStyleId>
              </a:tblPr>
              <a:tblGrid>
                <a:gridCol w="951589"/>
                <a:gridCol w="951589"/>
                <a:gridCol w="951589"/>
                <a:gridCol w="951589"/>
                <a:gridCol w="951589"/>
                <a:gridCol w="951589"/>
                <a:gridCol w="951589"/>
              </a:tblGrid>
              <a:tr h="370840">
                <a:tc>
                  <a:txBody>
                    <a:bodyPr/>
                    <a:lstStyle/>
                    <a:p>
                      <a:r>
                        <a:rPr lang="de-CH" sz="1200" dirty="0" err="1" smtClean="0"/>
                        <a:t>Thickness</a:t>
                      </a:r>
                      <a:r>
                        <a:rPr lang="de-CH" sz="1200" dirty="0" smtClean="0"/>
                        <a:t> wall</a:t>
                      </a:r>
                      <a:endParaRPr lang="de-CH" sz="1200" dirty="0"/>
                    </a:p>
                  </a:txBody>
                  <a:tcPr/>
                </a:tc>
                <a:tc>
                  <a:txBody>
                    <a:bodyPr/>
                    <a:lstStyle/>
                    <a:p>
                      <a:r>
                        <a:rPr lang="de-CH" sz="1200" dirty="0" err="1" smtClean="0"/>
                        <a:t>Thickness</a:t>
                      </a:r>
                      <a:r>
                        <a:rPr lang="de-CH" sz="1200" dirty="0" smtClean="0"/>
                        <a:t> </a:t>
                      </a:r>
                      <a:r>
                        <a:rPr lang="de-CH" sz="1200" dirty="0" err="1" smtClean="0"/>
                        <a:t>profile</a:t>
                      </a:r>
                      <a:endParaRPr lang="de-CH" sz="1200" dirty="0"/>
                    </a:p>
                  </a:txBody>
                  <a:tcPr/>
                </a:tc>
                <a:tc>
                  <a:txBody>
                    <a:bodyPr/>
                    <a:lstStyle/>
                    <a:p>
                      <a:r>
                        <a:rPr lang="de-CH" sz="1200" dirty="0" smtClean="0"/>
                        <a:t>Width </a:t>
                      </a:r>
                      <a:r>
                        <a:rPr lang="de-CH" sz="1200" dirty="0" err="1" smtClean="0"/>
                        <a:t>of</a:t>
                      </a:r>
                      <a:r>
                        <a:rPr lang="de-CH" sz="1200" baseline="0" dirty="0" smtClean="0"/>
                        <a:t> </a:t>
                      </a:r>
                      <a:r>
                        <a:rPr lang="de-CH" sz="1200" baseline="0" dirty="0" err="1" smtClean="0"/>
                        <a:t>channel</a:t>
                      </a:r>
                      <a:endParaRPr lang="de-CH"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CH" sz="1200" dirty="0" err="1" smtClean="0"/>
                        <a:t>Number</a:t>
                      </a:r>
                      <a:r>
                        <a:rPr lang="de-CH" sz="1200" dirty="0" smtClean="0"/>
                        <a:t> </a:t>
                      </a:r>
                      <a:r>
                        <a:rPr lang="de-CH" sz="1200" dirty="0" err="1" smtClean="0"/>
                        <a:t>of</a:t>
                      </a:r>
                      <a:r>
                        <a:rPr lang="de-CH" sz="1200" dirty="0" smtClean="0"/>
                        <a:t> </a:t>
                      </a:r>
                      <a:r>
                        <a:rPr lang="de-CH" sz="1200" dirty="0" err="1" smtClean="0"/>
                        <a:t>channels</a:t>
                      </a:r>
                      <a:endParaRPr lang="de-CH" sz="1200" dirty="0" smtClean="0"/>
                    </a:p>
                  </a:txBody>
                  <a:tcPr/>
                </a:tc>
                <a:tc>
                  <a:txBody>
                    <a:bodyPr/>
                    <a:lstStyle/>
                    <a:p>
                      <a:r>
                        <a:rPr lang="de-CH" sz="1200" dirty="0" smtClean="0"/>
                        <a:t>Height </a:t>
                      </a:r>
                      <a:r>
                        <a:rPr lang="de-CH" sz="1200" dirty="0" err="1" smtClean="0"/>
                        <a:t>of</a:t>
                      </a:r>
                      <a:r>
                        <a:rPr lang="de-CH" sz="1200" dirty="0" smtClean="0"/>
                        <a:t> </a:t>
                      </a:r>
                      <a:r>
                        <a:rPr lang="de-CH" sz="1200" dirty="0" err="1" smtClean="0"/>
                        <a:t>profile</a:t>
                      </a:r>
                      <a:endParaRPr lang="de-CH" sz="1200" dirty="0"/>
                    </a:p>
                  </a:txBody>
                  <a:tcPr/>
                </a:tc>
                <a:tc>
                  <a:txBody>
                    <a:bodyPr/>
                    <a:lstStyle/>
                    <a:p>
                      <a:r>
                        <a:rPr lang="de-CH" sz="1200" dirty="0" err="1" smtClean="0"/>
                        <a:t>Contact</a:t>
                      </a:r>
                      <a:r>
                        <a:rPr lang="de-CH" sz="1200" dirty="0" smtClean="0"/>
                        <a:t> </a:t>
                      </a:r>
                      <a:r>
                        <a:rPr lang="de-CH" sz="1200" dirty="0" err="1" smtClean="0"/>
                        <a:t>area</a:t>
                      </a:r>
                      <a:endParaRPr lang="de-CH" sz="1200" dirty="0"/>
                    </a:p>
                  </a:txBody>
                  <a:tcPr/>
                </a:tc>
                <a:tc>
                  <a:txBody>
                    <a:bodyPr/>
                    <a:lstStyle/>
                    <a:p>
                      <a:r>
                        <a:rPr lang="de-CH" sz="1200" dirty="0" err="1" smtClean="0"/>
                        <a:t>Number</a:t>
                      </a:r>
                      <a:r>
                        <a:rPr lang="de-CH" sz="1200" dirty="0" smtClean="0"/>
                        <a:t> </a:t>
                      </a:r>
                      <a:r>
                        <a:rPr lang="de-CH" sz="1200" dirty="0" err="1" smtClean="0"/>
                        <a:t>of</a:t>
                      </a:r>
                      <a:r>
                        <a:rPr lang="de-CH" sz="1200" dirty="0" smtClean="0"/>
                        <a:t> Bridges</a:t>
                      </a:r>
                      <a:endParaRPr lang="de-CH" sz="1200" dirty="0"/>
                    </a:p>
                  </a:txBody>
                  <a:tcPr/>
                </a:tc>
              </a:tr>
              <a:tr h="370840">
                <a:tc>
                  <a:txBody>
                    <a:bodyPr/>
                    <a:lstStyle/>
                    <a:p>
                      <a:r>
                        <a:rPr lang="de-CH" sz="1200" dirty="0" smtClean="0"/>
                        <a:t>0.5 mm</a:t>
                      </a:r>
                      <a:endParaRPr lang="de-CH" sz="1200" dirty="0"/>
                    </a:p>
                  </a:txBody>
                  <a:tcPr/>
                </a:tc>
                <a:tc>
                  <a:txBody>
                    <a:bodyPr/>
                    <a:lstStyle/>
                    <a:p>
                      <a:r>
                        <a:rPr lang="de-CH" sz="1200" dirty="0" smtClean="0"/>
                        <a:t>8 mm</a:t>
                      </a:r>
                      <a:endParaRPr lang="de-CH" sz="1200" dirty="0"/>
                    </a:p>
                  </a:txBody>
                  <a:tcPr/>
                </a:tc>
                <a:tc>
                  <a:txBody>
                    <a:bodyPr/>
                    <a:lstStyle/>
                    <a:p>
                      <a:r>
                        <a:rPr lang="de-CH" sz="1200" dirty="0" smtClean="0"/>
                        <a:t>1.05 mm</a:t>
                      </a:r>
                      <a:endParaRPr lang="de-CH" sz="1200" dirty="0"/>
                    </a:p>
                  </a:txBody>
                  <a:tcPr/>
                </a:tc>
                <a:tc>
                  <a:txBody>
                    <a:bodyPr/>
                    <a:lstStyle/>
                    <a:p>
                      <a:r>
                        <a:rPr lang="de-CH" sz="1200" dirty="0" smtClean="0"/>
                        <a:t>14</a:t>
                      </a:r>
                      <a:endParaRPr lang="de-CH" sz="1200" dirty="0"/>
                    </a:p>
                  </a:txBody>
                  <a:tcPr/>
                </a:tc>
                <a:tc>
                  <a:txBody>
                    <a:bodyPr/>
                    <a:lstStyle/>
                    <a:p>
                      <a:r>
                        <a:rPr lang="de-CH" sz="1200" dirty="0" smtClean="0"/>
                        <a:t>22.2 mm</a:t>
                      </a:r>
                      <a:endParaRPr lang="de-CH" sz="1200" dirty="0"/>
                    </a:p>
                  </a:txBody>
                  <a:tcPr/>
                </a:tc>
                <a:tc>
                  <a:txBody>
                    <a:bodyPr/>
                    <a:lstStyle/>
                    <a:p>
                      <a:r>
                        <a:rPr lang="de-CH" sz="1200" dirty="0" smtClean="0"/>
                        <a:t>13.7*16.9</a:t>
                      </a:r>
                      <a:endParaRPr lang="de-CH" sz="1200" dirty="0"/>
                    </a:p>
                  </a:txBody>
                  <a:tcPr/>
                </a:tc>
                <a:tc>
                  <a:txBody>
                    <a:bodyPr/>
                    <a:lstStyle/>
                    <a:p>
                      <a:r>
                        <a:rPr lang="de-CH" sz="1200" dirty="0" smtClean="0"/>
                        <a:t>4</a:t>
                      </a:r>
                      <a:endParaRPr lang="de-CH" sz="1200" dirty="0"/>
                    </a:p>
                  </a:txBody>
                  <a:tcPr/>
                </a:tc>
              </a:tr>
            </a:tbl>
          </a:graphicData>
        </a:graphic>
      </p:graphicFrame>
      <p:graphicFrame>
        <p:nvGraphicFramePr>
          <p:cNvPr id="17" name="Diagramm 16"/>
          <p:cNvGraphicFramePr>
            <a:graphicFrameLocks/>
          </p:cNvGraphicFramePr>
          <p:nvPr>
            <p:extLst>
              <p:ext uri="{D42A27DB-BD31-4B8C-83A1-F6EECF244321}">
                <p14:modId xmlns:p14="http://schemas.microsoft.com/office/powerpoint/2010/main" val="4216402615"/>
              </p:ext>
            </p:extLst>
          </p:nvPr>
        </p:nvGraphicFramePr>
        <p:xfrm>
          <a:off x="306141" y="4212679"/>
          <a:ext cx="5184575" cy="27363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Diagramm 17"/>
          <p:cNvGraphicFramePr>
            <a:graphicFrameLocks/>
          </p:cNvGraphicFramePr>
          <p:nvPr>
            <p:extLst>
              <p:ext uri="{D42A27DB-BD31-4B8C-83A1-F6EECF244321}">
                <p14:modId xmlns:p14="http://schemas.microsoft.com/office/powerpoint/2010/main" val="2144465566"/>
              </p:ext>
            </p:extLst>
          </p:nvPr>
        </p:nvGraphicFramePr>
        <p:xfrm>
          <a:off x="450156" y="1817027"/>
          <a:ext cx="4803082" cy="23956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33703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VL_010_Vorlage_PP_brusa">
  <a:themeElements>
    <a:clrScheme name="Benutzerdefiniert 1">
      <a:dk1>
        <a:srgbClr val="181818"/>
      </a:dk1>
      <a:lt1>
        <a:srgbClr val="FFFFFF"/>
      </a:lt1>
      <a:dk2>
        <a:srgbClr val="BE0000"/>
      </a:dk2>
      <a:lt2>
        <a:srgbClr val="F2F2F2"/>
      </a:lt2>
      <a:accent1>
        <a:srgbClr val="BE0000"/>
      </a:accent1>
      <a:accent2>
        <a:srgbClr val="003366"/>
      </a:accent2>
      <a:accent3>
        <a:srgbClr val="003399"/>
      </a:accent3>
      <a:accent4>
        <a:srgbClr val="877E48"/>
      </a:accent4>
      <a:accent5>
        <a:srgbClr val="AF8B1E"/>
      </a:accent5>
      <a:accent6>
        <a:srgbClr val="A35E21"/>
      </a:accent6>
      <a:hlink>
        <a:srgbClr val="9B7300"/>
      </a:hlink>
      <a:folHlink>
        <a:srgbClr val="D6A73B"/>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008063" rtl="0" eaLnBrk="1" fontAlgn="base" latinLnBrk="0" hangingPunct="1">
          <a:lnSpc>
            <a:spcPct val="100000"/>
          </a:lnSpc>
          <a:spcBef>
            <a:spcPct val="0"/>
          </a:spcBef>
          <a:spcAft>
            <a:spcPct val="0"/>
          </a:spcAft>
          <a:buClrTx/>
          <a:buSzTx/>
          <a:buFontTx/>
          <a:buNone/>
          <a:tabLst/>
          <a:defRPr kumimoji="0" lang="de-CH" sz="2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008063" rtl="0" eaLnBrk="1" fontAlgn="base" latinLnBrk="0" hangingPunct="1">
          <a:lnSpc>
            <a:spcPct val="100000"/>
          </a:lnSpc>
          <a:spcBef>
            <a:spcPct val="0"/>
          </a:spcBef>
          <a:spcAft>
            <a:spcPct val="0"/>
          </a:spcAft>
          <a:buClrTx/>
          <a:buSzTx/>
          <a:buFontTx/>
          <a:buNone/>
          <a:tabLst/>
          <a:defRPr kumimoji="0" lang="de-CH" sz="21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VL_010_Vorlage_PP_brusa</Template>
  <TotalTime>0</TotalTime>
  <Words>2049</Words>
  <Application>Microsoft Office PowerPoint</Application>
  <PresentationFormat>Benutzerdefiniert</PresentationFormat>
  <Paragraphs>775</Paragraphs>
  <Slides>16</Slides>
  <Notes>0</Notes>
  <HiddenSlides>0</HiddenSlides>
  <MMClips>0</MMClips>
  <ScaleCrop>false</ScaleCrop>
  <HeadingPairs>
    <vt:vector size="4" baseType="variant">
      <vt:variant>
        <vt:lpstr>Design</vt:lpstr>
      </vt:variant>
      <vt:variant>
        <vt:i4>1</vt:i4>
      </vt:variant>
      <vt:variant>
        <vt:lpstr>Folientitel</vt:lpstr>
      </vt:variant>
      <vt:variant>
        <vt:i4>16</vt:i4>
      </vt:variant>
    </vt:vector>
  </HeadingPairs>
  <TitlesOfParts>
    <vt:vector size="17" baseType="lpstr">
      <vt:lpstr>VL_010_Vorlage_PP_brusa</vt:lpstr>
      <vt:lpstr>Optimization cooling with extruded profile</vt:lpstr>
      <vt:lpstr>Goal</vt:lpstr>
      <vt:lpstr>Assumptions and simplifications</vt:lpstr>
      <vt:lpstr>Validation of analytical model</vt:lpstr>
      <vt:lpstr>Heating arrangement</vt:lpstr>
      <vt:lpstr>Results of optimization, considerations</vt:lpstr>
      <vt:lpstr>Results of optimization for different conditions</vt:lpstr>
      <vt:lpstr>Results</vt:lpstr>
      <vt:lpstr>Results for chosen profile at different conditions</vt:lpstr>
      <vt:lpstr>Results for chosen profile at different conditions</vt:lpstr>
      <vt:lpstr>Results for chosen profile at different conditions</vt:lpstr>
      <vt:lpstr>Results for chosen profile at different conditions</vt:lpstr>
      <vt:lpstr>Results for chosen profile at different conditions</vt:lpstr>
      <vt:lpstr>Results for chosen profile at different conditions</vt:lpstr>
      <vt:lpstr>Results for chosen profile at different conditions</vt:lpstr>
      <vt:lpstr>Results for chosen profile at different conditions</vt:lpstr>
    </vt:vector>
  </TitlesOfParts>
  <Company>Brusa Elektronik AG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Adina Muntean</dc:creator>
  <cp:lastModifiedBy>Ueli Wendelspiess</cp:lastModifiedBy>
  <cp:revision>223</cp:revision>
  <cp:lastPrinted>2012-02-03T05:32:49Z</cp:lastPrinted>
  <dcterms:created xsi:type="dcterms:W3CDTF">2017-01-16T10:15:01Z</dcterms:created>
  <dcterms:modified xsi:type="dcterms:W3CDTF">2018-01-11T09:20:24Z</dcterms:modified>
</cp:coreProperties>
</file>