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  <p:sldMasterId id="2147483716" r:id="rId2"/>
    <p:sldMasterId id="2147483720" r:id="rId3"/>
    <p:sldMasterId id="2147483725" r:id="rId4"/>
    <p:sldMasterId id="2147483735" r:id="rId5"/>
  </p:sldMasterIdLst>
  <p:notesMasterIdLst>
    <p:notesMasterId r:id="rId15"/>
  </p:notesMasterIdLst>
  <p:handoutMasterIdLst>
    <p:handoutMasterId r:id="rId16"/>
  </p:handoutMasterIdLst>
  <p:sldIdLst>
    <p:sldId id="256" r:id="rId6"/>
    <p:sldId id="257" r:id="rId7"/>
    <p:sldId id="259" r:id="rId8"/>
    <p:sldId id="260" r:id="rId9"/>
    <p:sldId id="262" r:id="rId10"/>
    <p:sldId id="261" r:id="rId11"/>
    <p:sldId id="265" r:id="rId12"/>
    <p:sldId id="263" r:id="rId13"/>
    <p:sldId id="264" r:id="rId14"/>
  </p:sldIdLst>
  <p:sldSz cx="9144000" cy="6858000" type="screen4x3"/>
  <p:notesSz cx="6797675" cy="9926638"/>
  <p:defaultTextStyle>
    <a:defPPr>
      <a:defRPr lang="de-DE"/>
    </a:defPPr>
    <a:lvl1pPr marL="0" algn="l" defTabSz="91429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4" algn="l" defTabSz="91429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D4747"/>
    <a:srgbClr val="FFFF00"/>
    <a:srgbClr val="00FF00"/>
    <a:srgbClr val="4F81BD"/>
    <a:srgbClr val="C0504D"/>
    <a:srgbClr val="BE0000"/>
    <a:srgbClr val="5A5A5A"/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2330" autoAdjust="0"/>
    <p:restoredTop sz="94660"/>
  </p:normalViewPr>
  <p:slideViewPr>
    <p:cSldViewPr>
      <p:cViewPr>
        <p:scale>
          <a:sx n="100" d="100"/>
          <a:sy n="100" d="100"/>
        </p:scale>
        <p:origin x="-72" y="-582"/>
      </p:cViewPr>
      <p:guideLst>
        <p:guide orient="horz" pos="391"/>
        <p:guide orient="horz" pos="935"/>
        <p:guide orient="horz" pos="3430"/>
        <p:guide pos="249"/>
        <p:guide pos="1202"/>
        <p:guide pos="1338"/>
        <p:guide pos="2290"/>
        <p:guide pos="2426"/>
        <p:guide pos="3334"/>
        <p:guide pos="4558"/>
        <p:guide pos="4422"/>
        <p:guide pos="3470"/>
        <p:guide pos="5511"/>
        <p:guide pos="2744"/>
        <p:guide pos="3016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-3792" y="-11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/>
        </p:nvPicPr>
        <p:blipFill>
          <a:blip r:embed="rId2" cstate="print">
            <a:lum bright="-5000" contras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770" y="124421"/>
            <a:ext cx="1070500" cy="237503"/>
          </a:xfrm>
          <a:prstGeom prst="rect">
            <a:avLst/>
          </a:prstGeom>
        </p:spPr>
      </p:pic>
      <p:sp>
        <p:nvSpPr>
          <p:cNvPr id="7" name="Fußzeilenplatzhalter 6"/>
          <p:cNvSpPr>
            <a:spLocks noGrp="1"/>
          </p:cNvSpPr>
          <p:nvPr>
            <p:ph type="ftr" sz="quarter" idx="2"/>
          </p:nvPr>
        </p:nvSpPr>
        <p:spPr>
          <a:xfrm>
            <a:off x="0" y="9430306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AT" sz="900" dirty="0" smtClean="0">
                <a:latin typeface="Arial" panose="020B0604020202020204" pitchFamily="34" charset="0"/>
                <a:cs typeface="Arial" panose="020B0604020202020204" pitchFamily="34" charset="0"/>
              </a:rPr>
              <a:t>© BRUSA</a:t>
            </a:r>
            <a:endParaRPr lang="de-CH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Datumsplatzhalter 7"/>
          <p:cNvSpPr>
            <a:spLocks noGrp="1"/>
          </p:cNvSpPr>
          <p:nvPr>
            <p:ph type="dt" sz="quarter" idx="1"/>
          </p:nvPr>
        </p:nvSpPr>
        <p:spPr>
          <a:xfrm>
            <a:off x="3850443" y="9430306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A3FEF7-63A4-49C2-95CB-81358DB7BC61}" type="datetimeFigureOut">
              <a:rPr lang="de-CH" sz="900" smtClean="0">
                <a:latin typeface="Arial" panose="020B0604020202020204" pitchFamily="34" charset="0"/>
                <a:cs typeface="Arial" panose="020B0604020202020204" pitchFamily="34" charset="0"/>
              </a:rPr>
              <a:t>13.11.2017</a:t>
            </a:fld>
            <a:endParaRPr lang="de-CH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3904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C157F7-AC30-4BE7-81B5-92AE526DBB59}" type="datetimeFigureOut">
              <a:rPr lang="de-CH" smtClean="0"/>
              <a:t>13.11.2017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E6DA36-59AC-4FAE-BDBF-F3981413D43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89680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 smtClean="0"/>
              <a:t>\\ZEUS\Projects\01_generic\Halbleiter-Module\Mold-Modul_Danfoss\Mold-Modul_A-Phase\Mechanik\CAD_30032015\104302_module_formed_asm.stp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6DA36-59AC-4FAE-BDBF-F3981413D435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41347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spaltig_ohne zusätzliche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noProof="0" smtClean="0"/>
              <a:t>Titelmasterformat durch Klicken 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baseline="0"/>
            </a:lvl2pPr>
            <a:lvl3pPr>
              <a:defRPr/>
            </a:lvl3pPr>
          </a:lstStyle>
          <a:p>
            <a:pPr lvl="0"/>
            <a:r>
              <a:rPr lang="de-DE" noProof="0" smtClean="0"/>
              <a:t>Textmasterformat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 smtClean="0"/>
              <a:t>© BRUSA</a:t>
            </a:r>
            <a:endParaRPr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en-US" noProof="0" smtClean="0"/>
              <a:t>‹Nr.›</a:t>
            </a:fld>
            <a:endParaRPr lang="en-US" noProof="0" dirty="0"/>
          </a:p>
        </p:txBody>
      </p:sp>
      <p:sp>
        <p:nvSpPr>
          <p:cNvPr id="16" name="Bildplatzhalter 15"/>
          <p:cNvSpPr>
            <a:spLocks noGrp="1"/>
          </p:cNvSpPr>
          <p:nvPr>
            <p:ph type="pic" sz="quarter" idx="13"/>
          </p:nvPr>
        </p:nvSpPr>
        <p:spPr>
          <a:xfrm>
            <a:off x="4786313" y="1476375"/>
            <a:ext cx="3935412" cy="39687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817887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spaltig_mit Faz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noProof="0" smtClean="0"/>
              <a:t>Titelmasterformat durch Klicken 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de-DE" noProof="0" smtClean="0"/>
              <a:t>Textmasterformat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 smtClean="0"/>
              <a:t>© BRUSA</a:t>
            </a:r>
            <a:endParaRPr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en-US" noProof="0" smtClean="0"/>
              <a:t>‹Nr.›</a:t>
            </a:fld>
            <a:endParaRPr lang="en-US" noProof="0" dirty="0"/>
          </a:p>
        </p:txBody>
      </p:sp>
      <p:sp>
        <p:nvSpPr>
          <p:cNvPr id="9" name="Textfeld 8"/>
          <p:cNvSpPr txBox="1"/>
          <p:nvPr userDrawn="1"/>
        </p:nvSpPr>
        <p:spPr>
          <a:xfrm>
            <a:off x="418061" y="5988141"/>
            <a:ext cx="1849619" cy="3693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900"/>
              </a:spcBef>
              <a:buClr>
                <a:srgbClr val="BE0000"/>
              </a:buClr>
              <a:buSzPct val="115000"/>
            </a:pPr>
            <a:r>
              <a:rPr lang="en-US" sz="2200" b="1" noProof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  <a:r>
              <a:rPr lang="en-US" sz="2200" b="1" noProof="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2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Bildplatzhalter 15"/>
          <p:cNvSpPr>
            <a:spLocks noGrp="1"/>
          </p:cNvSpPr>
          <p:nvPr>
            <p:ph type="pic" sz="quarter" idx="13"/>
          </p:nvPr>
        </p:nvSpPr>
        <p:spPr>
          <a:xfrm>
            <a:off x="4786313" y="1476375"/>
            <a:ext cx="3935412" cy="39687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1" name="Textplatzhalter 6"/>
          <p:cNvSpPr>
            <a:spLocks noGrp="1"/>
          </p:cNvSpPr>
          <p:nvPr>
            <p:ph type="body" sz="quarter" idx="14" hasCustomPrompt="1"/>
          </p:nvPr>
        </p:nvSpPr>
        <p:spPr>
          <a:xfrm>
            <a:off x="1259632" y="5988142"/>
            <a:ext cx="7489081" cy="369332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e-DE" dirty="0" smtClean="0"/>
              <a:t>&lt;Text&gt;</a:t>
            </a:r>
          </a:p>
        </p:txBody>
      </p:sp>
    </p:spTree>
    <p:extLst>
      <p:ext uri="{BB962C8B-B14F-4D97-AF65-F5344CB8AC3E}">
        <p14:creationId xmlns:p14="http://schemas.microsoft.com/office/powerpoint/2010/main" val="29448088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spaltig_mit Abschnit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noProof="0" smtClean="0"/>
              <a:t>Titelmasterformat durch Klicken 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de-DE" noProof="0" smtClean="0"/>
              <a:t>Textmasterformat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 smtClean="0"/>
              <a:t>© BRUSA</a:t>
            </a:r>
            <a:endParaRPr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en-US" noProof="0" smtClean="0"/>
              <a:t>‹Nr.›</a:t>
            </a:fld>
            <a:endParaRPr lang="en-US" noProof="0" dirty="0"/>
          </a:p>
        </p:txBody>
      </p:sp>
      <p:sp>
        <p:nvSpPr>
          <p:cNvPr id="18" name="Bildplatzhalter 15"/>
          <p:cNvSpPr>
            <a:spLocks noGrp="1"/>
          </p:cNvSpPr>
          <p:nvPr>
            <p:ph type="pic" sz="quarter" idx="13"/>
          </p:nvPr>
        </p:nvSpPr>
        <p:spPr>
          <a:xfrm>
            <a:off x="4786313" y="1476375"/>
            <a:ext cx="3935412" cy="39687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26" name="Textplatzhalter 6"/>
          <p:cNvSpPr>
            <a:spLocks noGrp="1"/>
          </p:cNvSpPr>
          <p:nvPr>
            <p:ph type="body" sz="quarter" idx="14" hasCustomPrompt="1"/>
          </p:nvPr>
        </p:nvSpPr>
        <p:spPr>
          <a:xfrm>
            <a:off x="423863" y="6068725"/>
            <a:ext cx="1490662" cy="216030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200" baseline="0"/>
            </a:lvl1pPr>
            <a:lvl2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2pPr>
          </a:lstStyle>
          <a:p>
            <a:pPr lvl="1"/>
            <a:r>
              <a:rPr lang="de-DE" dirty="0" smtClean="0"/>
              <a:t>&lt;Name Abschnitt 1&gt;</a:t>
            </a:r>
          </a:p>
        </p:txBody>
      </p:sp>
      <p:sp>
        <p:nvSpPr>
          <p:cNvPr id="27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068725"/>
            <a:ext cx="1490662" cy="216030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200" baseline="0"/>
            </a:lvl1pPr>
            <a:lvl2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2pPr>
          </a:lstStyle>
          <a:p>
            <a:pPr lvl="0"/>
            <a:r>
              <a:rPr lang="de-DE" dirty="0" smtClean="0"/>
              <a:t>&lt;Name Abschnitt 2&gt;</a:t>
            </a:r>
          </a:p>
        </p:txBody>
      </p:sp>
      <p:sp>
        <p:nvSpPr>
          <p:cNvPr id="28" name="Textplatzhalter 6"/>
          <p:cNvSpPr>
            <a:spLocks noGrp="1"/>
          </p:cNvSpPr>
          <p:nvPr>
            <p:ph type="body" sz="quarter" idx="16" hasCustomPrompt="1"/>
          </p:nvPr>
        </p:nvSpPr>
        <p:spPr>
          <a:xfrm>
            <a:off x="3820904" y="6068725"/>
            <a:ext cx="1490662" cy="216030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200" baseline="0"/>
            </a:lvl1pPr>
            <a:lvl2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2pPr>
          </a:lstStyle>
          <a:p>
            <a:pPr lvl="1"/>
            <a:r>
              <a:rPr lang="de-DE" dirty="0" smtClean="0"/>
              <a:t>&lt;Name Abschnitt 3&gt;</a:t>
            </a:r>
          </a:p>
        </p:txBody>
      </p:sp>
      <p:sp>
        <p:nvSpPr>
          <p:cNvPr id="29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5524291" y="6068725"/>
            <a:ext cx="1490662" cy="216030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200" baseline="0"/>
            </a:lvl1pPr>
            <a:lvl2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2pPr>
          </a:lstStyle>
          <a:p>
            <a:pPr lvl="1"/>
            <a:r>
              <a:rPr lang="de-DE" dirty="0" smtClean="0"/>
              <a:t>&lt;Name Abschnitt 4&gt;</a:t>
            </a:r>
          </a:p>
        </p:txBody>
      </p:sp>
      <p:sp>
        <p:nvSpPr>
          <p:cNvPr id="30" name="Textplatzhalter 6"/>
          <p:cNvSpPr>
            <a:spLocks noGrp="1"/>
          </p:cNvSpPr>
          <p:nvPr>
            <p:ph type="body" sz="quarter" idx="18" hasCustomPrompt="1"/>
          </p:nvPr>
        </p:nvSpPr>
        <p:spPr>
          <a:xfrm>
            <a:off x="7229475" y="6068725"/>
            <a:ext cx="1490662" cy="216030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200" baseline="0"/>
            </a:lvl1pPr>
            <a:lvl2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2pPr>
          </a:lstStyle>
          <a:p>
            <a:pPr lvl="1"/>
            <a:r>
              <a:rPr lang="de-DE" dirty="0" smtClean="0"/>
              <a:t>&lt;Name Abschnitt 5&gt;</a:t>
            </a:r>
          </a:p>
        </p:txBody>
      </p:sp>
    </p:spTree>
    <p:extLst>
      <p:ext uri="{BB962C8B-B14F-4D97-AF65-F5344CB8AC3E}">
        <p14:creationId xmlns:p14="http://schemas.microsoft.com/office/powerpoint/2010/main" val="32521516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spaltig_mit Quellenanga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noProof="0" smtClean="0"/>
              <a:t>Titelmasterformat durch Klicken 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de-DE" noProof="0" smtClean="0"/>
              <a:t>Textmasterformat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 smtClean="0"/>
              <a:t>© BRUSA</a:t>
            </a:r>
            <a:endParaRPr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en-US" noProof="0" smtClean="0"/>
              <a:t>‹Nr.›</a:t>
            </a:fld>
            <a:endParaRPr lang="en-US" noProof="0" dirty="0"/>
          </a:p>
        </p:txBody>
      </p:sp>
      <p:sp>
        <p:nvSpPr>
          <p:cNvPr id="9" name="Textfeld 8"/>
          <p:cNvSpPr txBox="1"/>
          <p:nvPr userDrawn="1"/>
        </p:nvSpPr>
        <p:spPr>
          <a:xfrm>
            <a:off x="418061" y="6113175"/>
            <a:ext cx="432000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spcBef>
                <a:spcPts val="900"/>
              </a:spcBef>
              <a:buClr>
                <a:srgbClr val="BE0000"/>
              </a:buClr>
              <a:buSzPct val="115000"/>
            </a:pPr>
            <a:r>
              <a:rPr lang="en-US" sz="900" b="1" noProof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Quelle</a:t>
            </a:r>
            <a:r>
              <a:rPr lang="en-US" sz="900" b="1" noProof="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9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Bildplatzhalter 15"/>
          <p:cNvSpPr>
            <a:spLocks noGrp="1"/>
          </p:cNvSpPr>
          <p:nvPr>
            <p:ph type="pic" sz="quarter" idx="13"/>
          </p:nvPr>
        </p:nvSpPr>
        <p:spPr>
          <a:xfrm>
            <a:off x="4786313" y="1476375"/>
            <a:ext cx="3935412" cy="39687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14" hasCustomPrompt="1"/>
          </p:nvPr>
        </p:nvSpPr>
        <p:spPr>
          <a:xfrm>
            <a:off x="874558" y="6112420"/>
            <a:ext cx="7847167" cy="139254"/>
          </a:xfrm>
        </p:spPr>
        <p:txBody>
          <a:bodyPr>
            <a:noAutofit/>
          </a:bodyPr>
          <a:lstStyle>
            <a:lvl1pPr marL="0" indent="0">
              <a:buNone/>
              <a:defRPr sz="900" baseline="0"/>
            </a:lvl1pPr>
          </a:lstStyle>
          <a:p>
            <a:pPr lvl="0"/>
            <a:r>
              <a:rPr lang="de-DE" dirty="0" smtClean="0"/>
              <a:t>&lt;Quellenverweis&gt;</a:t>
            </a:r>
          </a:p>
        </p:txBody>
      </p:sp>
    </p:spTree>
    <p:extLst>
      <p:ext uri="{BB962C8B-B14F-4D97-AF65-F5344CB8AC3E}">
        <p14:creationId xmlns:p14="http://schemas.microsoft.com/office/powerpoint/2010/main" val="22225856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paltig_ohne zusätzliche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 err="1" smtClean="0"/>
              <a:t>Titel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US" noProof="0" dirty="0" smtClean="0"/>
              <a:t>Text</a:t>
            </a:r>
          </a:p>
          <a:p>
            <a:pPr lvl="1"/>
            <a:r>
              <a:rPr lang="en-US" noProof="0" dirty="0" err="1" smtClean="0"/>
              <a:t>Ebene</a:t>
            </a:r>
            <a:r>
              <a:rPr lang="en-US" noProof="0" dirty="0" smtClean="0"/>
              <a:t> 2</a:t>
            </a:r>
          </a:p>
          <a:p>
            <a:pPr lvl="2"/>
            <a:r>
              <a:rPr lang="en-US" noProof="0" dirty="0" err="1" smtClean="0"/>
              <a:t>Ebene</a:t>
            </a:r>
            <a:r>
              <a:rPr lang="en-US" noProof="0" dirty="0" smtClean="0"/>
              <a:t> 3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 smtClean="0"/>
              <a:t>© BRUSA</a:t>
            </a:r>
            <a:endParaRPr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en-US" noProof="0" smtClean="0"/>
              <a:t>‹Nr.›</a:t>
            </a:fld>
            <a:endParaRPr lang="en-US" noProof="0" dirty="0"/>
          </a:p>
        </p:txBody>
      </p:sp>
      <p:sp>
        <p:nvSpPr>
          <p:cNvPr id="16" name="Bildplatzhalter 15"/>
          <p:cNvSpPr>
            <a:spLocks noGrp="1"/>
          </p:cNvSpPr>
          <p:nvPr>
            <p:ph type="pic" sz="quarter" idx="13"/>
          </p:nvPr>
        </p:nvSpPr>
        <p:spPr>
          <a:xfrm>
            <a:off x="3825875" y="1476375"/>
            <a:ext cx="4895850" cy="39687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951002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paltig_mit Faz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 err="1" smtClean="0"/>
              <a:t>Titel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US" noProof="0" dirty="0" smtClean="0"/>
              <a:t>Text</a:t>
            </a:r>
          </a:p>
          <a:p>
            <a:pPr lvl="1"/>
            <a:r>
              <a:rPr lang="en-US" noProof="0" dirty="0" err="1" smtClean="0"/>
              <a:t>Ebene</a:t>
            </a:r>
            <a:r>
              <a:rPr lang="en-US" noProof="0" dirty="0" smtClean="0"/>
              <a:t> 2</a:t>
            </a:r>
          </a:p>
          <a:p>
            <a:pPr lvl="2"/>
            <a:r>
              <a:rPr lang="en-US" noProof="0" dirty="0" err="1" smtClean="0"/>
              <a:t>Ebene</a:t>
            </a:r>
            <a:r>
              <a:rPr lang="en-US" noProof="0" dirty="0" smtClean="0"/>
              <a:t> 3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 smtClean="0"/>
              <a:t>© BRUSA</a:t>
            </a:r>
            <a:endParaRPr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en-US" noProof="0" smtClean="0"/>
              <a:t>‹Nr.›</a:t>
            </a:fld>
            <a:endParaRPr lang="en-US" noProof="0" dirty="0"/>
          </a:p>
        </p:txBody>
      </p:sp>
      <p:sp>
        <p:nvSpPr>
          <p:cNvPr id="16" name="Bildplatzhalter 15"/>
          <p:cNvSpPr>
            <a:spLocks noGrp="1"/>
          </p:cNvSpPr>
          <p:nvPr>
            <p:ph type="pic" sz="quarter" idx="13"/>
          </p:nvPr>
        </p:nvSpPr>
        <p:spPr>
          <a:xfrm>
            <a:off x="3825875" y="1476375"/>
            <a:ext cx="4895850" cy="39687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8" name="Textfeld 7"/>
          <p:cNvSpPr txBox="1"/>
          <p:nvPr userDrawn="1"/>
        </p:nvSpPr>
        <p:spPr>
          <a:xfrm>
            <a:off x="418061" y="5988141"/>
            <a:ext cx="1849619" cy="3693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900"/>
              </a:spcBef>
              <a:buClr>
                <a:srgbClr val="BE0000"/>
              </a:buClr>
              <a:buSzPct val="115000"/>
            </a:pPr>
            <a:r>
              <a:rPr lang="en-US" sz="2200" b="1" noProof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  <a:r>
              <a:rPr lang="en-US" sz="2200" b="1" noProof="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2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14" hasCustomPrompt="1"/>
          </p:nvPr>
        </p:nvSpPr>
        <p:spPr>
          <a:xfrm>
            <a:off x="1259632" y="5988142"/>
            <a:ext cx="7489081" cy="369332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e-DE" dirty="0" smtClean="0"/>
              <a:t>&lt;Text&gt;</a:t>
            </a:r>
          </a:p>
        </p:txBody>
      </p:sp>
    </p:spTree>
    <p:extLst>
      <p:ext uri="{BB962C8B-B14F-4D97-AF65-F5344CB8AC3E}">
        <p14:creationId xmlns:p14="http://schemas.microsoft.com/office/powerpoint/2010/main" val="38099158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paltig_mit Abschnit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 err="1" smtClean="0"/>
              <a:t>Titel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US" noProof="0" dirty="0" smtClean="0"/>
              <a:t>Text</a:t>
            </a:r>
          </a:p>
          <a:p>
            <a:pPr lvl="1"/>
            <a:r>
              <a:rPr lang="en-US" noProof="0" dirty="0" err="1" smtClean="0"/>
              <a:t>Ebene</a:t>
            </a:r>
            <a:r>
              <a:rPr lang="en-US" noProof="0" dirty="0" smtClean="0"/>
              <a:t> 2</a:t>
            </a:r>
          </a:p>
          <a:p>
            <a:pPr lvl="2"/>
            <a:r>
              <a:rPr lang="en-US" noProof="0" dirty="0" err="1" smtClean="0"/>
              <a:t>Ebene</a:t>
            </a:r>
            <a:r>
              <a:rPr lang="en-US" noProof="0" dirty="0" smtClean="0"/>
              <a:t> 3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 smtClean="0"/>
              <a:t>© BRUSA</a:t>
            </a:r>
            <a:endParaRPr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en-US" noProof="0" smtClean="0"/>
              <a:t>‹Nr.›</a:t>
            </a:fld>
            <a:endParaRPr lang="en-US" noProof="0" dirty="0"/>
          </a:p>
        </p:txBody>
      </p:sp>
      <p:sp>
        <p:nvSpPr>
          <p:cNvPr id="18" name="Bildplatzhalter 15"/>
          <p:cNvSpPr>
            <a:spLocks noGrp="1"/>
          </p:cNvSpPr>
          <p:nvPr>
            <p:ph type="pic" sz="quarter" idx="13"/>
          </p:nvPr>
        </p:nvSpPr>
        <p:spPr>
          <a:xfrm>
            <a:off x="3825875" y="1476375"/>
            <a:ext cx="4895850" cy="39687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21" name="Textplatzhalter 6"/>
          <p:cNvSpPr>
            <a:spLocks noGrp="1"/>
          </p:cNvSpPr>
          <p:nvPr>
            <p:ph type="body" sz="quarter" idx="14" hasCustomPrompt="1"/>
          </p:nvPr>
        </p:nvSpPr>
        <p:spPr>
          <a:xfrm>
            <a:off x="423863" y="6068725"/>
            <a:ext cx="1490662" cy="216030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200" baseline="0"/>
            </a:lvl1pPr>
            <a:lvl2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2pPr>
          </a:lstStyle>
          <a:p>
            <a:pPr lvl="1"/>
            <a:r>
              <a:rPr lang="de-DE" dirty="0" smtClean="0"/>
              <a:t>&lt;Name Abschnitt 1&gt;</a:t>
            </a:r>
          </a:p>
        </p:txBody>
      </p:sp>
      <p:sp>
        <p:nvSpPr>
          <p:cNvPr id="26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068725"/>
            <a:ext cx="1490662" cy="216030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200" baseline="0"/>
            </a:lvl1pPr>
            <a:lvl2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2pPr>
          </a:lstStyle>
          <a:p>
            <a:pPr lvl="0"/>
            <a:r>
              <a:rPr lang="de-DE" dirty="0" smtClean="0"/>
              <a:t>&lt;Name Abschnitt 2&gt;</a:t>
            </a:r>
          </a:p>
        </p:txBody>
      </p:sp>
      <p:sp>
        <p:nvSpPr>
          <p:cNvPr id="27" name="Textplatzhalter 6"/>
          <p:cNvSpPr>
            <a:spLocks noGrp="1"/>
          </p:cNvSpPr>
          <p:nvPr>
            <p:ph type="body" sz="quarter" idx="16" hasCustomPrompt="1"/>
          </p:nvPr>
        </p:nvSpPr>
        <p:spPr>
          <a:xfrm>
            <a:off x="3820904" y="6068725"/>
            <a:ext cx="1490662" cy="216030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200" baseline="0"/>
            </a:lvl1pPr>
            <a:lvl2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2pPr>
          </a:lstStyle>
          <a:p>
            <a:pPr lvl="1"/>
            <a:r>
              <a:rPr lang="de-DE" dirty="0" smtClean="0"/>
              <a:t>&lt;Name  Abschnitt 3&gt;</a:t>
            </a:r>
          </a:p>
        </p:txBody>
      </p:sp>
      <p:sp>
        <p:nvSpPr>
          <p:cNvPr id="28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5524291" y="6068725"/>
            <a:ext cx="1490662" cy="216030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200" baseline="0"/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bg1">
                    <a:lumMod val="50000"/>
                  </a:schemeClr>
                </a:solidFill>
              </a:defRPr>
            </a:lvl2pPr>
          </a:lstStyle>
          <a:p>
            <a:pPr lvl="1"/>
            <a:r>
              <a:rPr lang="de-DE" dirty="0" smtClean="0"/>
              <a:t>&lt;Name Abschnitt 4&gt;</a:t>
            </a:r>
          </a:p>
        </p:txBody>
      </p:sp>
      <p:sp>
        <p:nvSpPr>
          <p:cNvPr id="29" name="Textplatzhalter 6"/>
          <p:cNvSpPr>
            <a:spLocks noGrp="1"/>
          </p:cNvSpPr>
          <p:nvPr>
            <p:ph type="body" sz="quarter" idx="18" hasCustomPrompt="1"/>
          </p:nvPr>
        </p:nvSpPr>
        <p:spPr>
          <a:xfrm>
            <a:off x="7229475" y="6068725"/>
            <a:ext cx="1490662" cy="216030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200" baseline="0"/>
            </a:lvl1pPr>
            <a:lvl2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2pPr>
          </a:lstStyle>
          <a:p>
            <a:pPr lvl="1"/>
            <a:r>
              <a:rPr lang="de-DE" dirty="0" smtClean="0"/>
              <a:t>&lt;Name Abschnitt 5&gt;</a:t>
            </a:r>
          </a:p>
        </p:txBody>
      </p:sp>
    </p:spTree>
    <p:extLst>
      <p:ext uri="{BB962C8B-B14F-4D97-AF65-F5344CB8AC3E}">
        <p14:creationId xmlns:p14="http://schemas.microsoft.com/office/powerpoint/2010/main" val="32033423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paltig_mit Quellenanga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 err="1" smtClean="0"/>
              <a:t>Titel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US" noProof="0" dirty="0" smtClean="0"/>
              <a:t>Text</a:t>
            </a:r>
          </a:p>
          <a:p>
            <a:pPr lvl="1"/>
            <a:r>
              <a:rPr lang="en-US" noProof="0" dirty="0" err="1" smtClean="0"/>
              <a:t>Ebene</a:t>
            </a:r>
            <a:r>
              <a:rPr lang="en-US" noProof="0" dirty="0" smtClean="0"/>
              <a:t> 2</a:t>
            </a:r>
          </a:p>
          <a:p>
            <a:pPr lvl="2"/>
            <a:r>
              <a:rPr lang="en-US" noProof="0" dirty="0" err="1" smtClean="0"/>
              <a:t>Ebene</a:t>
            </a:r>
            <a:r>
              <a:rPr lang="en-US" noProof="0" dirty="0" smtClean="0"/>
              <a:t> 3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 smtClean="0"/>
              <a:t>© BRUSA</a:t>
            </a:r>
            <a:endParaRPr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en-US" noProof="0" smtClean="0"/>
              <a:t>‹Nr.›</a:t>
            </a:fld>
            <a:endParaRPr lang="en-US" noProof="0" dirty="0"/>
          </a:p>
        </p:txBody>
      </p:sp>
      <p:sp>
        <p:nvSpPr>
          <p:cNvPr id="11" name="Bildplatzhalter 15"/>
          <p:cNvSpPr>
            <a:spLocks noGrp="1"/>
          </p:cNvSpPr>
          <p:nvPr>
            <p:ph type="pic" sz="quarter" idx="13"/>
          </p:nvPr>
        </p:nvSpPr>
        <p:spPr>
          <a:xfrm>
            <a:off x="3825875" y="1476375"/>
            <a:ext cx="4895850" cy="39687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8" name="Textfeld 7"/>
          <p:cNvSpPr txBox="1"/>
          <p:nvPr userDrawn="1"/>
        </p:nvSpPr>
        <p:spPr>
          <a:xfrm>
            <a:off x="418061" y="6113175"/>
            <a:ext cx="432000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spcBef>
                <a:spcPts val="900"/>
              </a:spcBef>
              <a:buClr>
                <a:srgbClr val="BE0000"/>
              </a:buClr>
              <a:buSzPct val="115000"/>
            </a:pPr>
            <a:r>
              <a:rPr lang="en-US" sz="900" b="1" noProof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Quelle</a:t>
            </a:r>
            <a:r>
              <a:rPr lang="en-US" sz="900" b="1" noProof="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9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14" hasCustomPrompt="1"/>
          </p:nvPr>
        </p:nvSpPr>
        <p:spPr>
          <a:xfrm>
            <a:off x="874558" y="6112420"/>
            <a:ext cx="7847167" cy="139254"/>
          </a:xfrm>
        </p:spPr>
        <p:txBody>
          <a:bodyPr>
            <a:normAutofit/>
          </a:bodyPr>
          <a:lstStyle>
            <a:lvl1pPr marL="0" indent="0">
              <a:buNone/>
              <a:defRPr sz="900" baseline="0"/>
            </a:lvl1pPr>
          </a:lstStyle>
          <a:p>
            <a:pPr lvl="0"/>
            <a:r>
              <a:rPr lang="de-DE" dirty="0" smtClean="0"/>
              <a:t>&lt;Quellenverweis&gt;</a:t>
            </a:r>
          </a:p>
        </p:txBody>
      </p:sp>
    </p:spTree>
    <p:extLst>
      <p:ext uri="{BB962C8B-B14F-4D97-AF65-F5344CB8AC3E}">
        <p14:creationId xmlns:p14="http://schemas.microsoft.com/office/powerpoint/2010/main" val="17096321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seitig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 err="1" smtClean="0"/>
              <a:t>Titel</a:t>
            </a:r>
            <a:endParaRPr lang="en-US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 smtClean="0"/>
              <a:t>© BRUSA</a:t>
            </a:r>
            <a:endParaRPr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en-US" noProof="0" smtClean="0"/>
              <a:t>‹Nr.›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99622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informati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 err="1" smtClean="0"/>
              <a:t>Titel</a:t>
            </a:r>
            <a:endParaRPr lang="en-US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 smtClean="0"/>
              <a:t>© BRUSA</a:t>
            </a:r>
            <a:endParaRPr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en-US" noProof="0" smtClean="0"/>
              <a:t>‹Nr.›</a:t>
            </a:fld>
            <a:endParaRPr lang="en-US" noProof="0" dirty="0"/>
          </a:p>
        </p:txBody>
      </p:sp>
      <p:sp>
        <p:nvSpPr>
          <p:cNvPr id="23" name="Textplatzhalt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23863" y="2361915"/>
            <a:ext cx="8297862" cy="432060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>
              <a:buNone/>
              <a:defRPr sz="2200" b="1"/>
            </a:lvl1pPr>
          </a:lstStyle>
          <a:p>
            <a:pPr lvl="0"/>
            <a:r>
              <a:rPr lang="en-US" noProof="0" dirty="0" smtClean="0"/>
              <a:t>Name</a:t>
            </a:r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14" hasCustomPrompt="1"/>
          </p:nvPr>
        </p:nvSpPr>
        <p:spPr>
          <a:xfrm>
            <a:off x="423863" y="2885550"/>
            <a:ext cx="8297862" cy="288040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>
              <a:buNone/>
              <a:defRPr sz="1800" b="0"/>
            </a:lvl1pPr>
          </a:lstStyle>
          <a:p>
            <a:pPr lvl="0"/>
            <a:r>
              <a:rPr lang="en-US" noProof="0" dirty="0" err="1" smtClean="0"/>
              <a:t>Funktion</a:t>
            </a:r>
            <a:endParaRPr lang="en-US" noProof="0" dirty="0" smtClean="0"/>
          </a:p>
        </p:txBody>
      </p:sp>
      <p:sp>
        <p:nvSpPr>
          <p:cNvPr id="25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23863" y="3228450"/>
            <a:ext cx="8297862" cy="288040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>
              <a:buNone/>
              <a:defRPr sz="1800" b="0"/>
            </a:lvl1pPr>
          </a:lstStyle>
          <a:p>
            <a:pPr lvl="0"/>
            <a:r>
              <a:rPr lang="en-US" noProof="0" dirty="0" err="1" smtClean="0"/>
              <a:t>Telefonnummer</a:t>
            </a:r>
            <a:endParaRPr lang="en-US" noProof="0" dirty="0" smtClean="0"/>
          </a:p>
        </p:txBody>
      </p:sp>
      <p:sp>
        <p:nvSpPr>
          <p:cNvPr id="26" name="Textplatzhalter 6"/>
          <p:cNvSpPr>
            <a:spLocks noGrp="1"/>
          </p:cNvSpPr>
          <p:nvPr>
            <p:ph type="body" sz="quarter" idx="16" hasCustomPrompt="1"/>
          </p:nvPr>
        </p:nvSpPr>
        <p:spPr>
          <a:xfrm>
            <a:off x="423863" y="3571350"/>
            <a:ext cx="8297862" cy="288040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>
              <a:buNone/>
              <a:defRPr sz="1800" b="0"/>
            </a:lvl1pPr>
          </a:lstStyle>
          <a:p>
            <a:pPr lvl="0"/>
            <a:r>
              <a:rPr lang="en-US" noProof="0" dirty="0" smtClean="0"/>
              <a:t>E-Mail </a:t>
            </a:r>
            <a:r>
              <a:rPr lang="en-US" noProof="0" dirty="0" err="1" smtClean="0"/>
              <a:t>Adresse</a:t>
            </a:r>
            <a:endParaRPr lang="en-US" noProof="0" dirty="0" smtClean="0"/>
          </a:p>
        </p:txBody>
      </p:sp>
    </p:spTree>
    <p:extLst>
      <p:ext uri="{BB962C8B-B14F-4D97-AF65-F5344CB8AC3E}">
        <p14:creationId xmlns:p14="http://schemas.microsoft.com/office/powerpoint/2010/main" val="37963820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paltiger 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 err="1" smtClean="0"/>
              <a:t>Titel</a:t>
            </a:r>
            <a:endParaRPr lang="en-US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 smtClean="0"/>
              <a:t>© BRUSA</a:t>
            </a:r>
            <a:endParaRPr lang="en-US" noProof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6AE60A-B69C-4790-82F7-3882EDF23186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12" name="Bildplatzhalter 11"/>
          <p:cNvSpPr>
            <a:spLocks noGrp="1"/>
          </p:cNvSpPr>
          <p:nvPr>
            <p:ph type="pic" sz="quarter" idx="12"/>
          </p:nvPr>
        </p:nvSpPr>
        <p:spPr>
          <a:xfrm>
            <a:off x="423863" y="1469105"/>
            <a:ext cx="2484000" cy="248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13" name="Bildplatzhalter 11"/>
          <p:cNvSpPr>
            <a:spLocks noGrp="1"/>
          </p:cNvSpPr>
          <p:nvPr>
            <p:ph type="pic" sz="quarter" idx="13"/>
          </p:nvPr>
        </p:nvSpPr>
        <p:spPr>
          <a:xfrm>
            <a:off x="3328835" y="1469105"/>
            <a:ext cx="2484000" cy="248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14" name="Bildplatzhalter 11"/>
          <p:cNvSpPr>
            <a:spLocks noGrp="1"/>
          </p:cNvSpPr>
          <p:nvPr>
            <p:ph type="pic" sz="quarter" idx="14"/>
          </p:nvPr>
        </p:nvSpPr>
        <p:spPr>
          <a:xfrm>
            <a:off x="6233807" y="1469105"/>
            <a:ext cx="2484000" cy="248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5" hasCustomPrompt="1"/>
          </p:nvPr>
        </p:nvSpPr>
        <p:spPr>
          <a:xfrm>
            <a:off x="423863" y="4077090"/>
            <a:ext cx="2484000" cy="31805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 noProof="0" dirty="0" err="1" smtClean="0"/>
              <a:t>Überschrift</a:t>
            </a:r>
            <a:endParaRPr lang="en-US" noProof="0" dirty="0"/>
          </a:p>
        </p:txBody>
      </p:sp>
      <p:sp>
        <p:nvSpPr>
          <p:cNvPr id="17" name="Textplatzhalter 15"/>
          <p:cNvSpPr>
            <a:spLocks noGrp="1"/>
          </p:cNvSpPr>
          <p:nvPr>
            <p:ph type="body" sz="quarter" idx="16" hasCustomPrompt="1"/>
          </p:nvPr>
        </p:nvSpPr>
        <p:spPr>
          <a:xfrm>
            <a:off x="423863" y="4437139"/>
            <a:ext cx="2484000" cy="1007985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spcBef>
                <a:spcPts val="300"/>
              </a:spcBef>
              <a:buFont typeface="Arial" panose="020B0604020202020204" pitchFamily="34" charset="0"/>
              <a:buChar char="▪"/>
              <a:defRPr sz="1400" b="0" baseline="0"/>
            </a:lvl1pPr>
          </a:lstStyle>
          <a:p>
            <a:pPr lvl="0"/>
            <a:r>
              <a:rPr lang="en-US" noProof="0" dirty="0" err="1" smtClean="0"/>
              <a:t>Optionaler</a:t>
            </a:r>
            <a:r>
              <a:rPr lang="en-US" noProof="0" dirty="0" smtClean="0"/>
              <a:t> Text</a:t>
            </a:r>
            <a:endParaRPr lang="en-US" noProof="0" dirty="0"/>
          </a:p>
        </p:txBody>
      </p:sp>
      <p:sp>
        <p:nvSpPr>
          <p:cNvPr id="18" name="Textplatzhalt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3328835" y="4077090"/>
            <a:ext cx="2484000" cy="31805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 noProof="0" dirty="0" err="1" smtClean="0"/>
              <a:t>Überschrift</a:t>
            </a:r>
            <a:endParaRPr lang="en-US" noProof="0" dirty="0"/>
          </a:p>
        </p:txBody>
      </p:sp>
      <p:sp>
        <p:nvSpPr>
          <p:cNvPr id="19" name="Textplatzhalter 15"/>
          <p:cNvSpPr>
            <a:spLocks noGrp="1"/>
          </p:cNvSpPr>
          <p:nvPr>
            <p:ph type="body" sz="quarter" idx="18" hasCustomPrompt="1"/>
          </p:nvPr>
        </p:nvSpPr>
        <p:spPr>
          <a:xfrm>
            <a:off x="3328835" y="4437139"/>
            <a:ext cx="2484000" cy="1007985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spcBef>
                <a:spcPts val="300"/>
              </a:spcBef>
              <a:buFont typeface="Arial" panose="020B0604020202020204" pitchFamily="34" charset="0"/>
              <a:buChar char="▪"/>
              <a:defRPr sz="1400" b="0"/>
            </a:lvl1pPr>
          </a:lstStyle>
          <a:p>
            <a:pPr lvl="0"/>
            <a:r>
              <a:rPr lang="en-US" noProof="0" dirty="0" err="1" smtClean="0"/>
              <a:t>Optionaler</a:t>
            </a:r>
            <a:r>
              <a:rPr lang="en-US" noProof="0" dirty="0" smtClean="0"/>
              <a:t> Text</a:t>
            </a:r>
            <a:endParaRPr lang="en-US" noProof="0" dirty="0"/>
          </a:p>
        </p:txBody>
      </p:sp>
      <p:sp>
        <p:nvSpPr>
          <p:cNvPr id="20" name="Textplatzhalter 15"/>
          <p:cNvSpPr>
            <a:spLocks noGrp="1"/>
          </p:cNvSpPr>
          <p:nvPr>
            <p:ph type="body" sz="quarter" idx="19" hasCustomPrompt="1"/>
          </p:nvPr>
        </p:nvSpPr>
        <p:spPr>
          <a:xfrm>
            <a:off x="6233807" y="4077090"/>
            <a:ext cx="2484000" cy="31805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 noProof="0" dirty="0" err="1" smtClean="0"/>
              <a:t>Überschrift</a:t>
            </a:r>
            <a:endParaRPr lang="en-US" noProof="0" dirty="0"/>
          </a:p>
        </p:txBody>
      </p:sp>
      <p:sp>
        <p:nvSpPr>
          <p:cNvPr id="21" name="Textplatzhalter 15"/>
          <p:cNvSpPr>
            <a:spLocks noGrp="1"/>
          </p:cNvSpPr>
          <p:nvPr>
            <p:ph type="body" sz="quarter" idx="20" hasCustomPrompt="1"/>
          </p:nvPr>
        </p:nvSpPr>
        <p:spPr>
          <a:xfrm>
            <a:off x="6233807" y="4437139"/>
            <a:ext cx="2484000" cy="1007985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spcBef>
                <a:spcPts val="300"/>
              </a:spcBef>
              <a:buFont typeface="Arial" panose="020B0604020202020204" pitchFamily="34" charset="0"/>
              <a:buChar char="▪"/>
              <a:defRPr sz="1400" b="0"/>
            </a:lvl1pPr>
          </a:lstStyle>
          <a:p>
            <a:pPr lvl="0"/>
            <a:r>
              <a:rPr lang="en-US" noProof="0" dirty="0" err="1" smtClean="0"/>
              <a:t>Optionaler</a:t>
            </a:r>
            <a:r>
              <a:rPr lang="en-US" noProof="0" dirty="0" smtClean="0"/>
              <a:t> Text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36458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ChangeArrowheads="1"/>
          </p:cNvSpPr>
          <p:nvPr userDrawn="1"/>
        </p:nvSpPr>
        <p:spPr bwMode="auto">
          <a:xfrm>
            <a:off x="0" y="0"/>
            <a:ext cx="9144000" cy="6858001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/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8" name="Rechteck 7"/>
          <p:cNvSpPr/>
          <p:nvPr userDrawn="1"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spcCol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 smtClean="0"/>
              <a:t>Agenda</a:t>
            </a:r>
            <a:endParaRPr lang="en-US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 smtClean="0"/>
              <a:t>© BRUSA</a:t>
            </a:r>
            <a:endParaRPr lang="en-US" noProof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6AE60A-B69C-4790-82F7-3882EDF23186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6" name="Inhaltsplatzhalter 2"/>
          <p:cNvSpPr>
            <a:spLocks noGrp="1"/>
          </p:cNvSpPr>
          <p:nvPr>
            <p:ph idx="1" hasCustomPrompt="1"/>
          </p:nvPr>
        </p:nvSpPr>
        <p:spPr>
          <a:xfrm>
            <a:off x="399409" y="1400177"/>
            <a:ext cx="6743611" cy="4029074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defRPr sz="2200" baseline="0"/>
            </a:lvl1pPr>
            <a:lvl2pPr marL="268288" indent="-268288">
              <a:spcBef>
                <a:spcPts val="600"/>
              </a:spcBef>
              <a:buClr>
                <a:schemeClr val="bg2"/>
              </a:buClr>
              <a:tabLst/>
              <a:defRPr sz="2200">
                <a:solidFill>
                  <a:schemeClr val="bg1">
                    <a:lumMod val="50000"/>
                  </a:schemeClr>
                </a:solidFill>
              </a:defRPr>
            </a:lvl2pPr>
          </a:lstStyle>
          <a:p>
            <a:pPr lvl="0"/>
            <a:r>
              <a:rPr lang="en-US" noProof="0" dirty="0" err="1" smtClean="0"/>
              <a:t>Agendapunkt</a:t>
            </a:r>
            <a:r>
              <a:rPr lang="en-US" noProof="0" dirty="0" smtClean="0"/>
              <a:t> 1</a:t>
            </a:r>
          </a:p>
          <a:p>
            <a:pPr lvl="1"/>
            <a:r>
              <a:rPr lang="en-US" noProof="0" dirty="0" err="1" smtClean="0"/>
              <a:t>Agendapunkt</a:t>
            </a:r>
            <a:r>
              <a:rPr lang="en-US" noProof="0" dirty="0" smtClean="0"/>
              <a:t> 2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 cstate="print">
            <a:lum bright="-5000" contras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3557" y="421184"/>
            <a:ext cx="1080000" cy="21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674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 userDrawn="1"/>
        </p:nvSpPr>
        <p:spPr>
          <a:xfrm>
            <a:off x="0" y="4237200"/>
            <a:ext cx="9144000" cy="2620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spcCol="0"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hteck 13"/>
          <p:cNvSpPr/>
          <p:nvPr userDrawn="1"/>
        </p:nvSpPr>
        <p:spPr>
          <a:xfrm>
            <a:off x="0" y="5854800"/>
            <a:ext cx="9144000" cy="100320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spcCol="0" rtlCol="0" anchor="ctr"/>
          <a:lstStyle/>
          <a:p>
            <a:pPr algn="ctr"/>
            <a:endParaRPr lang="en-US" noProof="0" dirty="0"/>
          </a:p>
        </p:txBody>
      </p:sp>
      <p:sp>
        <p:nvSpPr>
          <p:cNvPr id="15" name="Textfeld 14"/>
          <p:cNvSpPr txBox="1"/>
          <p:nvPr userDrawn="1"/>
        </p:nvSpPr>
        <p:spPr>
          <a:xfrm>
            <a:off x="427118" y="6217905"/>
            <a:ext cx="1584176" cy="276989"/>
          </a:xfrm>
          <a:prstGeom prst="rect">
            <a:avLst/>
          </a:prstGeom>
          <a:noFill/>
        </p:spPr>
        <p:txBody>
          <a:bodyPr wrap="square" lIns="0" tIns="45715" rIns="0" bIns="45715" rtlCol="0">
            <a:noAutofit/>
          </a:bodyPr>
          <a:lstStyle/>
          <a:p>
            <a:pPr>
              <a:spcBef>
                <a:spcPts val="600"/>
              </a:spcBef>
            </a:pPr>
            <a:r>
              <a:rPr lang="en-US" sz="1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www.brusa.biz</a:t>
            </a:r>
          </a:p>
        </p:txBody>
      </p:sp>
      <p:sp>
        <p:nvSpPr>
          <p:cNvPr id="10" name="Textplatzhalt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23863" y="4568330"/>
            <a:ext cx="8297862" cy="6609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6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err="1" smtClean="0"/>
              <a:t>Präsentationstitel</a:t>
            </a:r>
            <a:endParaRPr lang="en-US" noProof="0" dirty="0" smtClean="0"/>
          </a:p>
        </p:txBody>
      </p:sp>
      <p:sp>
        <p:nvSpPr>
          <p:cNvPr id="11" name="Textplatzhalter 3"/>
          <p:cNvSpPr>
            <a:spLocks noGrp="1"/>
          </p:cNvSpPr>
          <p:nvPr>
            <p:ph type="body" sz="quarter" idx="11" hasCustomPrompt="1"/>
          </p:nvPr>
        </p:nvSpPr>
        <p:spPr>
          <a:xfrm>
            <a:off x="423863" y="5219726"/>
            <a:ext cx="5948387" cy="3304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Name </a:t>
            </a:r>
            <a:r>
              <a:rPr lang="en-US" noProof="0" dirty="0" smtClean="0">
                <a:cs typeface="Arial"/>
              </a:rPr>
              <a:t>–</a:t>
            </a:r>
            <a:r>
              <a:rPr lang="en-US" dirty="0" smtClean="0">
                <a:cs typeface="Arial"/>
              </a:rPr>
              <a:t> </a:t>
            </a:r>
            <a:r>
              <a:rPr lang="de-CH" noProof="0" dirty="0" smtClean="0"/>
              <a:t>Datum</a:t>
            </a:r>
            <a:endParaRPr lang="en-US" noProof="0" dirty="0" smtClean="0"/>
          </a:p>
        </p:txBody>
      </p:sp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2" cstate="print">
            <a:lum bright="-5000" contras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3557" y="421184"/>
            <a:ext cx="1080000" cy="21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525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8" t="363" r="10908" b="43485"/>
          <a:stretch/>
        </p:blipFill>
        <p:spPr>
          <a:xfrm>
            <a:off x="2773" y="0"/>
            <a:ext cx="9144000" cy="4245148"/>
          </a:xfrm>
          <a:prstGeom prst="rect">
            <a:avLst/>
          </a:prstGeom>
        </p:spPr>
      </p:pic>
      <p:sp>
        <p:nvSpPr>
          <p:cNvPr id="4" name="Rechteck 3"/>
          <p:cNvSpPr/>
          <p:nvPr userDrawn="1"/>
        </p:nvSpPr>
        <p:spPr>
          <a:xfrm>
            <a:off x="2772" y="4245148"/>
            <a:ext cx="9144000" cy="1617600"/>
          </a:xfrm>
          <a:prstGeom prst="rect">
            <a:avLst/>
          </a:prstGeom>
          <a:solidFill>
            <a:srgbClr val="ED4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spcCol="0"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hteck 4"/>
          <p:cNvSpPr/>
          <p:nvPr userDrawn="1"/>
        </p:nvSpPr>
        <p:spPr>
          <a:xfrm>
            <a:off x="0" y="5854800"/>
            <a:ext cx="9144000" cy="100320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spcCol="0" rtlCol="0" anchor="ctr"/>
          <a:lstStyle/>
          <a:p>
            <a:pPr algn="ctr"/>
            <a:endParaRPr lang="en-US" noProof="0" dirty="0"/>
          </a:p>
        </p:txBody>
      </p:sp>
      <p:sp>
        <p:nvSpPr>
          <p:cNvPr id="6" name="Textfeld 5"/>
          <p:cNvSpPr txBox="1"/>
          <p:nvPr userDrawn="1"/>
        </p:nvSpPr>
        <p:spPr>
          <a:xfrm>
            <a:off x="427118" y="6217905"/>
            <a:ext cx="1584176" cy="276989"/>
          </a:xfrm>
          <a:prstGeom prst="rect">
            <a:avLst/>
          </a:prstGeom>
          <a:noFill/>
        </p:spPr>
        <p:txBody>
          <a:bodyPr wrap="square" lIns="0" tIns="45715" rIns="0" bIns="45715" rtlCol="0">
            <a:noAutofit/>
          </a:bodyPr>
          <a:lstStyle/>
          <a:p>
            <a:pPr>
              <a:spcBef>
                <a:spcPts val="600"/>
              </a:spcBef>
            </a:pPr>
            <a:r>
              <a:rPr lang="en-US" sz="1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www.brusa.biz</a:t>
            </a:r>
          </a:p>
        </p:txBody>
      </p:sp>
      <p:sp>
        <p:nvSpPr>
          <p:cNvPr id="7" name="Textfeld 6"/>
          <p:cNvSpPr txBox="1"/>
          <p:nvPr userDrawn="1"/>
        </p:nvSpPr>
        <p:spPr>
          <a:xfrm>
            <a:off x="419621" y="4728200"/>
            <a:ext cx="8293935" cy="646321"/>
          </a:xfrm>
          <a:prstGeom prst="rect">
            <a:avLst/>
          </a:prstGeom>
          <a:noFill/>
        </p:spPr>
        <p:txBody>
          <a:bodyPr wrap="square" lIns="0" tIns="45715" rIns="0" bIns="45715" rtlCol="0" anchor="ctr">
            <a:noAutofit/>
          </a:bodyPr>
          <a:lstStyle/>
          <a:p>
            <a:r>
              <a:rPr lang="en-US" sz="3600" cap="all" noProof="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Danke</a:t>
            </a:r>
            <a:r>
              <a:rPr lang="en-US" sz="3600" cap="all" noProof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cap="all" noProof="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für</a:t>
            </a:r>
            <a:r>
              <a:rPr lang="en-US" sz="3600" cap="all" noProof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cap="all" noProof="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Ihre</a:t>
            </a:r>
            <a:r>
              <a:rPr lang="en-US" sz="3600" cap="all" noProof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cap="all" noProof="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Aufmerksamkeit</a:t>
            </a:r>
            <a:r>
              <a:rPr lang="en-US" sz="3600" cap="all" noProof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3600" cap="all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3557" y="421184"/>
            <a:ext cx="1080000" cy="21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6303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spaltig_ohne zusätzliche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noProof="0" smtClean="0"/>
              <a:t>Titelmasterformat durch Klicken 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baseline="0"/>
            </a:lvl2pPr>
            <a:lvl3pPr>
              <a:defRPr/>
            </a:lvl3pPr>
          </a:lstStyle>
          <a:p>
            <a:pPr lvl="0"/>
            <a:r>
              <a:rPr lang="de-DE" noProof="0" smtClean="0"/>
              <a:t>Textmasterformat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FFFF"/>
                </a:solidFill>
              </a:rPr>
              <a:t>© BRUSA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en-US" smtClean="0">
                <a:solidFill>
                  <a:srgbClr val="FFFFFF"/>
                </a:solidFill>
              </a:rPr>
              <a:pPr/>
              <a:t>‹Nr.›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6" name="Bildplatzhalter 15"/>
          <p:cNvSpPr>
            <a:spLocks noGrp="1"/>
          </p:cNvSpPr>
          <p:nvPr>
            <p:ph type="pic" sz="quarter" idx="13"/>
          </p:nvPr>
        </p:nvSpPr>
        <p:spPr>
          <a:xfrm>
            <a:off x="4786313" y="1476375"/>
            <a:ext cx="3935412" cy="39687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221968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spaltig_mit Faz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noProof="0" smtClean="0"/>
              <a:t>Titelmasterformat durch Klicken 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de-DE" noProof="0" smtClean="0"/>
              <a:t>Textmasterformat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FFFF"/>
                </a:solidFill>
              </a:rPr>
              <a:t>© BRUSA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en-US" smtClean="0">
                <a:solidFill>
                  <a:srgbClr val="FFFFFF"/>
                </a:solidFill>
              </a:rPr>
              <a:pPr/>
              <a:t>‹Nr.›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Textfeld 8"/>
          <p:cNvSpPr txBox="1"/>
          <p:nvPr userDrawn="1"/>
        </p:nvSpPr>
        <p:spPr>
          <a:xfrm>
            <a:off x="418061" y="5988141"/>
            <a:ext cx="1849619" cy="3693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900"/>
              </a:spcBef>
              <a:buClr>
                <a:srgbClr val="BE0000"/>
              </a:buClr>
              <a:buSzPct val="115000"/>
            </a:pPr>
            <a:r>
              <a:rPr lang="en-US" sz="2200" b="1" dirty="0" err="1" smtClean="0">
                <a:solidFill>
                  <a:srgbClr val="000000"/>
                </a:solidFill>
                <a:cs typeface="Arial" panose="020B0604020202020204" pitchFamily="34" charset="0"/>
              </a:rPr>
              <a:t>Fazit</a:t>
            </a:r>
            <a:r>
              <a:rPr lang="en-US" sz="2200" b="1" dirty="0" smtClean="0">
                <a:solidFill>
                  <a:srgbClr val="000000"/>
                </a:solidFill>
                <a:cs typeface="Arial" panose="020B0604020202020204" pitchFamily="34" charset="0"/>
              </a:rPr>
              <a:t>:</a:t>
            </a:r>
            <a:endParaRPr lang="en-US" sz="2200" b="1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6" name="Bildplatzhalter 15"/>
          <p:cNvSpPr>
            <a:spLocks noGrp="1"/>
          </p:cNvSpPr>
          <p:nvPr>
            <p:ph type="pic" sz="quarter" idx="13"/>
          </p:nvPr>
        </p:nvSpPr>
        <p:spPr>
          <a:xfrm>
            <a:off x="4786313" y="1476375"/>
            <a:ext cx="3935412" cy="39687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1" name="Textplatzhalter 6"/>
          <p:cNvSpPr>
            <a:spLocks noGrp="1"/>
          </p:cNvSpPr>
          <p:nvPr>
            <p:ph type="body" sz="quarter" idx="14" hasCustomPrompt="1"/>
          </p:nvPr>
        </p:nvSpPr>
        <p:spPr>
          <a:xfrm>
            <a:off x="1259632" y="5988142"/>
            <a:ext cx="7489081" cy="369332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e-DE" dirty="0" smtClean="0"/>
              <a:t>&lt;Text&gt;</a:t>
            </a:r>
          </a:p>
        </p:txBody>
      </p:sp>
    </p:spTree>
    <p:extLst>
      <p:ext uri="{BB962C8B-B14F-4D97-AF65-F5344CB8AC3E}">
        <p14:creationId xmlns:p14="http://schemas.microsoft.com/office/powerpoint/2010/main" val="29968286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spaltig_mit Abschnit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noProof="0" smtClean="0"/>
              <a:t>Titelmasterformat durch Klicken 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de-DE" noProof="0" smtClean="0"/>
              <a:t>Textmasterformat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FFFF"/>
                </a:solidFill>
              </a:rPr>
              <a:t>© BRUSA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en-US" smtClean="0">
                <a:solidFill>
                  <a:srgbClr val="FFFFFF"/>
                </a:solidFill>
              </a:rPr>
              <a:pPr/>
              <a:t>‹Nr.›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Bildplatzhalter 15"/>
          <p:cNvSpPr>
            <a:spLocks noGrp="1"/>
          </p:cNvSpPr>
          <p:nvPr>
            <p:ph type="pic" sz="quarter" idx="13"/>
          </p:nvPr>
        </p:nvSpPr>
        <p:spPr>
          <a:xfrm>
            <a:off x="4786313" y="1476375"/>
            <a:ext cx="3935412" cy="39687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26" name="Textplatzhalter 6"/>
          <p:cNvSpPr>
            <a:spLocks noGrp="1"/>
          </p:cNvSpPr>
          <p:nvPr>
            <p:ph type="body" sz="quarter" idx="14" hasCustomPrompt="1"/>
          </p:nvPr>
        </p:nvSpPr>
        <p:spPr>
          <a:xfrm>
            <a:off x="423863" y="6068725"/>
            <a:ext cx="1490662" cy="216030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200" baseline="0"/>
            </a:lvl1pPr>
            <a:lvl2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2pPr>
          </a:lstStyle>
          <a:p>
            <a:pPr lvl="1"/>
            <a:r>
              <a:rPr lang="de-DE" dirty="0" smtClean="0"/>
              <a:t>&lt;Name Abschnitt 1&gt;</a:t>
            </a:r>
          </a:p>
        </p:txBody>
      </p:sp>
      <p:sp>
        <p:nvSpPr>
          <p:cNvPr id="27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068725"/>
            <a:ext cx="1490662" cy="216030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200" baseline="0"/>
            </a:lvl1pPr>
            <a:lvl2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2pPr>
          </a:lstStyle>
          <a:p>
            <a:pPr lvl="0"/>
            <a:r>
              <a:rPr lang="de-DE" dirty="0" smtClean="0"/>
              <a:t>&lt;Name Abschnitt 2&gt;</a:t>
            </a:r>
          </a:p>
        </p:txBody>
      </p:sp>
      <p:sp>
        <p:nvSpPr>
          <p:cNvPr id="28" name="Textplatzhalter 6"/>
          <p:cNvSpPr>
            <a:spLocks noGrp="1"/>
          </p:cNvSpPr>
          <p:nvPr>
            <p:ph type="body" sz="quarter" idx="16" hasCustomPrompt="1"/>
          </p:nvPr>
        </p:nvSpPr>
        <p:spPr>
          <a:xfrm>
            <a:off x="3820904" y="6068725"/>
            <a:ext cx="1490662" cy="216030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200" baseline="0"/>
            </a:lvl1pPr>
            <a:lvl2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2pPr>
          </a:lstStyle>
          <a:p>
            <a:pPr lvl="1"/>
            <a:r>
              <a:rPr lang="de-DE" dirty="0" smtClean="0"/>
              <a:t>&lt;Name Abschnitt 3&gt;</a:t>
            </a:r>
          </a:p>
        </p:txBody>
      </p:sp>
      <p:sp>
        <p:nvSpPr>
          <p:cNvPr id="29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5524291" y="6068725"/>
            <a:ext cx="1490662" cy="216030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200" baseline="0"/>
            </a:lvl1pPr>
            <a:lvl2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2pPr>
          </a:lstStyle>
          <a:p>
            <a:pPr lvl="1"/>
            <a:r>
              <a:rPr lang="de-DE" dirty="0" smtClean="0"/>
              <a:t>&lt;Name Abschnitt 4&gt;</a:t>
            </a:r>
          </a:p>
        </p:txBody>
      </p:sp>
      <p:sp>
        <p:nvSpPr>
          <p:cNvPr id="30" name="Textplatzhalter 6"/>
          <p:cNvSpPr>
            <a:spLocks noGrp="1"/>
          </p:cNvSpPr>
          <p:nvPr>
            <p:ph type="body" sz="quarter" idx="18" hasCustomPrompt="1"/>
          </p:nvPr>
        </p:nvSpPr>
        <p:spPr>
          <a:xfrm>
            <a:off x="7229475" y="6068725"/>
            <a:ext cx="1490662" cy="216030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200" baseline="0"/>
            </a:lvl1pPr>
            <a:lvl2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2pPr>
          </a:lstStyle>
          <a:p>
            <a:pPr lvl="1"/>
            <a:r>
              <a:rPr lang="de-DE" dirty="0" smtClean="0"/>
              <a:t>&lt;Name Abschnitt 5&gt;</a:t>
            </a:r>
          </a:p>
        </p:txBody>
      </p:sp>
    </p:spTree>
    <p:extLst>
      <p:ext uri="{BB962C8B-B14F-4D97-AF65-F5344CB8AC3E}">
        <p14:creationId xmlns:p14="http://schemas.microsoft.com/office/powerpoint/2010/main" val="27155822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spaltig_mit Quellenanga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noProof="0" smtClean="0"/>
              <a:t>Titelmasterformat durch Klicken 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de-DE" noProof="0" smtClean="0"/>
              <a:t>Textmasterformat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FFFF"/>
                </a:solidFill>
              </a:rPr>
              <a:t>© BRUSA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en-US" smtClean="0">
                <a:solidFill>
                  <a:srgbClr val="FFFFFF"/>
                </a:solidFill>
              </a:rPr>
              <a:pPr/>
              <a:t>‹Nr.›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Textfeld 8"/>
          <p:cNvSpPr txBox="1"/>
          <p:nvPr userDrawn="1"/>
        </p:nvSpPr>
        <p:spPr>
          <a:xfrm>
            <a:off x="418061" y="6113175"/>
            <a:ext cx="432000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spcBef>
                <a:spcPts val="900"/>
              </a:spcBef>
              <a:buClr>
                <a:srgbClr val="BE0000"/>
              </a:buClr>
              <a:buSzPct val="115000"/>
            </a:pPr>
            <a:r>
              <a:rPr lang="en-US" sz="900" b="1" dirty="0" err="1" smtClean="0">
                <a:solidFill>
                  <a:srgbClr val="000000"/>
                </a:solidFill>
                <a:cs typeface="Arial" panose="020B0604020202020204" pitchFamily="34" charset="0"/>
              </a:rPr>
              <a:t>Quelle</a:t>
            </a:r>
            <a:r>
              <a:rPr lang="en-US" sz="900" b="1" dirty="0" smtClean="0">
                <a:solidFill>
                  <a:srgbClr val="000000"/>
                </a:solidFill>
                <a:cs typeface="Arial" panose="020B0604020202020204" pitchFamily="34" charset="0"/>
              </a:rPr>
              <a:t>:</a:t>
            </a:r>
            <a:endParaRPr lang="en-US" sz="900" b="1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1" name="Bildplatzhalter 15"/>
          <p:cNvSpPr>
            <a:spLocks noGrp="1"/>
          </p:cNvSpPr>
          <p:nvPr>
            <p:ph type="pic" sz="quarter" idx="13"/>
          </p:nvPr>
        </p:nvSpPr>
        <p:spPr>
          <a:xfrm>
            <a:off x="4786313" y="1476375"/>
            <a:ext cx="3935412" cy="39687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14" hasCustomPrompt="1"/>
          </p:nvPr>
        </p:nvSpPr>
        <p:spPr>
          <a:xfrm>
            <a:off x="874558" y="6112420"/>
            <a:ext cx="7847167" cy="139254"/>
          </a:xfrm>
        </p:spPr>
        <p:txBody>
          <a:bodyPr>
            <a:noAutofit/>
          </a:bodyPr>
          <a:lstStyle>
            <a:lvl1pPr marL="0" indent="0">
              <a:buNone/>
              <a:defRPr sz="900" baseline="0"/>
            </a:lvl1pPr>
          </a:lstStyle>
          <a:p>
            <a:pPr lvl="0"/>
            <a:r>
              <a:rPr lang="de-DE" dirty="0" smtClean="0"/>
              <a:t>&lt;Quellenverweis&gt;</a:t>
            </a:r>
          </a:p>
        </p:txBody>
      </p:sp>
    </p:spTree>
    <p:extLst>
      <p:ext uri="{BB962C8B-B14F-4D97-AF65-F5344CB8AC3E}">
        <p14:creationId xmlns:p14="http://schemas.microsoft.com/office/powerpoint/2010/main" val="29755568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w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wmf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wmf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.wmf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0" y="5854801"/>
            <a:ext cx="9144000" cy="10032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/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18" name="Rechteck 17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spcCol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23863" y="293687"/>
            <a:ext cx="6594475" cy="83099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 dirty="0" err="1" smtClean="0"/>
              <a:t>Titel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99255" y="1400177"/>
            <a:ext cx="3963195" cy="4029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 smtClean="0"/>
              <a:t>Text</a:t>
            </a:r>
          </a:p>
          <a:p>
            <a:pPr lvl="1"/>
            <a:r>
              <a:rPr lang="en-US" noProof="0" dirty="0" err="1" smtClean="0"/>
              <a:t>Ebene</a:t>
            </a:r>
            <a:r>
              <a:rPr lang="en-US" noProof="0" dirty="0" smtClean="0"/>
              <a:t> 2</a:t>
            </a:r>
          </a:p>
          <a:p>
            <a:pPr lvl="2"/>
            <a:r>
              <a:rPr lang="en-US" noProof="0" dirty="0" err="1" smtClean="0"/>
              <a:t>Ebene</a:t>
            </a:r>
            <a:r>
              <a:rPr lang="en-US" noProof="0" dirty="0" smtClean="0"/>
              <a:t> 3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23863" y="6498000"/>
            <a:ext cx="2895600" cy="360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 noProof="0" dirty="0" smtClean="0"/>
              <a:t>© BRUSA</a:t>
            </a:r>
            <a:endParaRPr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88125" y="6498000"/>
            <a:ext cx="2133600" cy="360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6C6AE60A-B69C-4790-82F7-3882EDF23186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pic>
        <p:nvPicPr>
          <p:cNvPr id="16" name="Grafik 15"/>
          <p:cNvPicPr>
            <a:picLocks noChangeAspect="1"/>
          </p:cNvPicPr>
          <p:nvPr/>
        </p:nvPicPr>
        <p:blipFill>
          <a:blip r:embed="rId6" cstate="print">
            <a:lum bright="-5000" contras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3557" y="421184"/>
            <a:ext cx="1080000" cy="21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573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3" r:id="rId2"/>
    <p:sldLayoutId id="2147483731" r:id="rId3"/>
    <p:sldLayoutId id="2147483732" r:id="rId4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296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8288" indent="-268288" algn="l" defTabSz="914296" rtl="0" eaLnBrk="1" latinLnBrk="0" hangingPunct="1">
        <a:spcBef>
          <a:spcPts val="1800"/>
        </a:spcBef>
        <a:buClr>
          <a:schemeClr val="accent1"/>
        </a:buClr>
        <a:buSzPct val="115000"/>
        <a:buFont typeface="Arial" panose="020B0604020202020204" pitchFamily="34" charset="0"/>
        <a:buChar char="▪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720725" indent="-274638" algn="l" defTabSz="914296" rtl="0" eaLnBrk="1" latinLnBrk="0" hangingPunct="1">
        <a:spcBef>
          <a:spcPts val="600"/>
        </a:spcBef>
        <a:buClr>
          <a:schemeClr val="accent1"/>
        </a:buClr>
        <a:buSzPct val="115000"/>
        <a:buFont typeface="Arial" panose="020B060402020202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66813" indent="-266700" algn="l" defTabSz="914296" rtl="0" eaLnBrk="1" latinLnBrk="0" hangingPunct="1">
        <a:spcBef>
          <a:spcPts val="300"/>
        </a:spcBef>
        <a:buClr>
          <a:schemeClr val="accent1"/>
        </a:buClr>
        <a:buSzPct val="115000"/>
        <a:buFont typeface="Arial" panose="020B0604020202020204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18" indent="-228574" algn="l" defTabSz="914296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66" indent="-228574" algn="l" defTabSz="914296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4" indent="-228574" algn="l" defTabSz="91429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91429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91429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91429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4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0" y="5854801"/>
            <a:ext cx="9144000" cy="10032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/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18" name="Rechteck 17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spcCol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23863" y="293687"/>
            <a:ext cx="6594475" cy="83099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 dirty="0" err="1" smtClean="0"/>
              <a:t>Titel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99255" y="1400177"/>
            <a:ext cx="3220245" cy="4029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 smtClean="0"/>
              <a:t>Text</a:t>
            </a:r>
          </a:p>
          <a:p>
            <a:pPr lvl="1"/>
            <a:r>
              <a:rPr lang="en-US" noProof="0" dirty="0" err="1" smtClean="0"/>
              <a:t>Ebene</a:t>
            </a:r>
            <a:r>
              <a:rPr lang="en-US" noProof="0" dirty="0" smtClean="0"/>
              <a:t> 2</a:t>
            </a:r>
          </a:p>
          <a:p>
            <a:pPr lvl="2"/>
            <a:r>
              <a:rPr lang="en-US" noProof="0" dirty="0" err="1" smtClean="0"/>
              <a:t>Ebene</a:t>
            </a:r>
            <a:r>
              <a:rPr lang="en-US" noProof="0" dirty="0" smtClean="0"/>
              <a:t> 3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23863" y="6498000"/>
            <a:ext cx="2895600" cy="360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 noProof="0" dirty="0" smtClean="0"/>
              <a:t>© BRUSA</a:t>
            </a:r>
            <a:endParaRPr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88125" y="6498000"/>
            <a:ext cx="2133600" cy="360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6C6AE60A-B69C-4790-82F7-3882EDF23186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pic>
        <p:nvPicPr>
          <p:cNvPr id="16" name="Grafik 15"/>
          <p:cNvPicPr>
            <a:picLocks noChangeAspect="1"/>
          </p:cNvPicPr>
          <p:nvPr/>
        </p:nvPicPr>
        <p:blipFill>
          <a:blip r:embed="rId6" cstate="print">
            <a:lum bright="-5000" contras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3557" y="421184"/>
            <a:ext cx="1080000" cy="21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398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17" r:id="rId2"/>
    <p:sldLayoutId id="2147483718" r:id="rId3"/>
    <p:sldLayoutId id="2147483719" r:id="rId4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296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8288" indent="-268288" algn="l" defTabSz="914296" rtl="0" eaLnBrk="1" latinLnBrk="0" hangingPunct="1">
        <a:spcBef>
          <a:spcPts val="1800"/>
        </a:spcBef>
        <a:buClr>
          <a:schemeClr val="accent1"/>
        </a:buClr>
        <a:buSzPct val="115000"/>
        <a:buFont typeface="Arial" panose="020B0604020202020204" pitchFamily="34" charset="0"/>
        <a:buChar char="▪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720725" indent="-274638" algn="l" defTabSz="914296" rtl="0" eaLnBrk="1" latinLnBrk="0" hangingPunct="1">
        <a:spcBef>
          <a:spcPts val="600"/>
        </a:spcBef>
        <a:buClr>
          <a:schemeClr val="accent1"/>
        </a:buClr>
        <a:buSzPct val="115000"/>
        <a:buFont typeface="Arial" panose="020B060402020202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66813" indent="-266700" algn="l" defTabSz="914296" rtl="0" eaLnBrk="1" latinLnBrk="0" hangingPunct="1">
        <a:spcBef>
          <a:spcPts val="300"/>
        </a:spcBef>
        <a:buClr>
          <a:schemeClr val="accent1"/>
        </a:buClr>
        <a:buSzPct val="115000"/>
        <a:buFont typeface="Arial" panose="020B0604020202020204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18" indent="-228574" algn="l" defTabSz="914296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66" indent="-228574" algn="l" defTabSz="914296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4" indent="-228574" algn="l" defTabSz="91429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91429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91429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91429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4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0" y="5854801"/>
            <a:ext cx="9144000" cy="10032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/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18" name="Rechteck 17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spcCol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23863" y="293687"/>
            <a:ext cx="6594475" cy="83099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 dirty="0" err="1" smtClean="0"/>
              <a:t>Titel</a:t>
            </a:r>
            <a:endParaRPr lang="en-US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23863" y="6498000"/>
            <a:ext cx="2895600" cy="360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 noProof="0" dirty="0" smtClean="0"/>
              <a:t>© BRUSA</a:t>
            </a:r>
            <a:endParaRPr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88125" y="6498000"/>
            <a:ext cx="2133600" cy="360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6C6AE60A-B69C-4790-82F7-3882EDF23186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pic>
        <p:nvPicPr>
          <p:cNvPr id="16" name="Grafik 15"/>
          <p:cNvPicPr>
            <a:picLocks noChangeAspect="1"/>
          </p:cNvPicPr>
          <p:nvPr/>
        </p:nvPicPr>
        <p:blipFill>
          <a:blip r:embed="rId6" cstate="print">
            <a:lum bright="-5000" contras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3557" y="421184"/>
            <a:ext cx="1080000" cy="21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852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4" r:id="rId3"/>
    <p:sldLayoutId id="2147483723" r:id="rId4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296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8288" indent="-268288" algn="l" defTabSz="914296" rtl="0" eaLnBrk="1" latinLnBrk="0" hangingPunct="1">
        <a:spcBef>
          <a:spcPts val="900"/>
        </a:spcBef>
        <a:buClr>
          <a:schemeClr val="accent1"/>
        </a:buClr>
        <a:buSzPct val="115000"/>
        <a:buFont typeface="Arial" panose="020B0604020202020204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20725" indent="-274638" algn="l" defTabSz="914296" rtl="0" eaLnBrk="1" latinLnBrk="0" hangingPunct="1">
        <a:spcBef>
          <a:spcPts val="300"/>
        </a:spcBef>
        <a:buClr>
          <a:schemeClr val="accent1"/>
        </a:buClr>
        <a:buSzPct val="115000"/>
        <a:buFont typeface="Arial" panose="020B0604020202020204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66813" indent="-266700" algn="l" defTabSz="914296" rtl="0" eaLnBrk="1" latinLnBrk="0" hangingPunct="1">
        <a:spcBef>
          <a:spcPts val="150"/>
        </a:spcBef>
        <a:buClr>
          <a:schemeClr val="accent1"/>
        </a:buClr>
        <a:buSzPct val="115000"/>
        <a:buFont typeface="Arial" panose="020B0604020202020204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18" indent="-228574" algn="l" defTabSz="914296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66" indent="-228574" algn="l" defTabSz="914296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4" indent="-228574" algn="l" defTabSz="91429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91429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91429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91429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4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9746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296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8288" indent="-268288" algn="l" defTabSz="914296" rtl="0" eaLnBrk="1" latinLnBrk="0" hangingPunct="1">
        <a:spcBef>
          <a:spcPts val="900"/>
        </a:spcBef>
        <a:buClr>
          <a:schemeClr val="accent1"/>
        </a:buClr>
        <a:buSzPct val="115000"/>
        <a:buFont typeface="Arial" panose="020B0604020202020204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20725" indent="-274638" algn="l" defTabSz="914296" rtl="0" eaLnBrk="1" latinLnBrk="0" hangingPunct="1">
        <a:spcBef>
          <a:spcPts val="300"/>
        </a:spcBef>
        <a:buClr>
          <a:schemeClr val="accent1"/>
        </a:buClr>
        <a:buSzPct val="115000"/>
        <a:buFont typeface="Arial" panose="020B0604020202020204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66813" indent="-266700" algn="l" defTabSz="914296" rtl="0" eaLnBrk="1" latinLnBrk="0" hangingPunct="1">
        <a:spcBef>
          <a:spcPts val="150"/>
        </a:spcBef>
        <a:buClr>
          <a:schemeClr val="accent1"/>
        </a:buClr>
        <a:buSzPct val="115000"/>
        <a:buFont typeface="Arial" panose="020B0604020202020204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18" indent="-228574" algn="l" defTabSz="914296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66" indent="-228574" algn="l" defTabSz="914296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4" indent="-228574" algn="l" defTabSz="91429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91429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91429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91429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4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0" y="5854801"/>
            <a:ext cx="9144000" cy="10032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/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8" name="Rechteck 17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spcCol="0"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23863" y="293687"/>
            <a:ext cx="6594475" cy="83099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 dirty="0" err="1" smtClean="0"/>
              <a:t>Titel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99255" y="1400177"/>
            <a:ext cx="3963195" cy="4029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 smtClean="0"/>
              <a:t>Text</a:t>
            </a:r>
          </a:p>
          <a:p>
            <a:pPr lvl="1"/>
            <a:r>
              <a:rPr lang="en-US" noProof="0" dirty="0" err="1" smtClean="0"/>
              <a:t>Ebene</a:t>
            </a:r>
            <a:r>
              <a:rPr lang="en-US" noProof="0" dirty="0" smtClean="0"/>
              <a:t> 2</a:t>
            </a:r>
          </a:p>
          <a:p>
            <a:pPr lvl="2"/>
            <a:r>
              <a:rPr lang="en-US" noProof="0" dirty="0" err="1" smtClean="0"/>
              <a:t>Ebene</a:t>
            </a:r>
            <a:r>
              <a:rPr lang="en-US" noProof="0" dirty="0" smtClean="0"/>
              <a:t> 3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23863" y="6498000"/>
            <a:ext cx="2895600" cy="360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 dirty="0" smtClean="0">
                <a:solidFill>
                  <a:srgbClr val="FFFFFF"/>
                </a:solidFill>
              </a:rPr>
              <a:t>© BRUSA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88125" y="6498000"/>
            <a:ext cx="2133600" cy="360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6C6AE60A-B69C-4790-82F7-3882EDF23186}" type="slidenum">
              <a:rPr lang="en-US" smtClean="0">
                <a:solidFill>
                  <a:srgbClr val="FFFFFF"/>
                </a:solidFill>
              </a:rPr>
              <a:pPr/>
              <a:t>‹Nr.›</a:t>
            </a:fld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6" name="Grafik 15"/>
          <p:cNvPicPr>
            <a:picLocks noChangeAspect="1"/>
          </p:cNvPicPr>
          <p:nvPr/>
        </p:nvPicPr>
        <p:blipFill>
          <a:blip r:embed="rId6" cstate="print">
            <a:lum bright="-5000" contras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3557" y="421184"/>
            <a:ext cx="1080000" cy="21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74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296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8288" indent="-268288" algn="l" defTabSz="914296" rtl="0" eaLnBrk="1" latinLnBrk="0" hangingPunct="1">
        <a:spcBef>
          <a:spcPts val="1800"/>
        </a:spcBef>
        <a:buClr>
          <a:schemeClr val="accent1"/>
        </a:buClr>
        <a:buSzPct val="115000"/>
        <a:buFont typeface="Arial" panose="020B0604020202020204" pitchFamily="34" charset="0"/>
        <a:buChar char="▪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720725" indent="-274638" algn="l" defTabSz="914296" rtl="0" eaLnBrk="1" latinLnBrk="0" hangingPunct="1">
        <a:spcBef>
          <a:spcPts val="600"/>
        </a:spcBef>
        <a:buClr>
          <a:schemeClr val="accent1"/>
        </a:buClr>
        <a:buSzPct val="115000"/>
        <a:buFont typeface="Arial" panose="020B060402020202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66813" indent="-266700" algn="l" defTabSz="914296" rtl="0" eaLnBrk="1" latinLnBrk="0" hangingPunct="1">
        <a:spcBef>
          <a:spcPts val="300"/>
        </a:spcBef>
        <a:buClr>
          <a:schemeClr val="accent1"/>
        </a:buClr>
        <a:buSzPct val="115000"/>
        <a:buFont typeface="Arial" panose="020B0604020202020204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18" indent="-228574" algn="l" defTabSz="914296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66" indent="-228574" algn="l" defTabSz="914296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4" indent="-228574" algn="l" defTabSz="91429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91429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91429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91429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4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0"/>
          </p:nvPr>
        </p:nvSpPr>
        <p:spPr>
          <a:xfrm>
            <a:off x="395536" y="4365104"/>
            <a:ext cx="8297862" cy="1224136"/>
          </a:xfrm>
        </p:spPr>
        <p:txBody>
          <a:bodyPr/>
          <a:lstStyle/>
          <a:p>
            <a:r>
              <a:rPr lang="de-CH" sz="2800" cap="none" dirty="0" err="1" smtClean="0"/>
              <a:t>Examination</a:t>
            </a:r>
            <a:r>
              <a:rPr lang="de-CH" sz="2800" cap="none" dirty="0" smtClean="0"/>
              <a:t> </a:t>
            </a:r>
            <a:r>
              <a:rPr lang="de-CH" sz="2800" cap="none" dirty="0" err="1" smtClean="0"/>
              <a:t>of</a:t>
            </a:r>
            <a:r>
              <a:rPr lang="de-CH" sz="2800" cap="none" dirty="0" smtClean="0"/>
              <a:t> </a:t>
            </a:r>
            <a:r>
              <a:rPr lang="de-CH" sz="2800" cap="none" dirty="0" err="1" smtClean="0"/>
              <a:t>the</a:t>
            </a:r>
            <a:r>
              <a:rPr lang="de-CH" sz="2800" cap="none" dirty="0" smtClean="0"/>
              <a:t> </a:t>
            </a:r>
            <a:r>
              <a:rPr lang="de-CH" sz="2800" cap="none" dirty="0" err="1" smtClean="0"/>
              <a:t>influence</a:t>
            </a:r>
            <a:r>
              <a:rPr lang="de-CH" sz="2800" cap="none" dirty="0"/>
              <a:t> </a:t>
            </a:r>
            <a:r>
              <a:rPr lang="de-CH" sz="2800" cap="none" dirty="0" err="1" smtClean="0"/>
              <a:t>of</a:t>
            </a:r>
            <a:r>
              <a:rPr lang="de-CH" sz="2800" cap="none" dirty="0" smtClean="0"/>
              <a:t> </a:t>
            </a:r>
            <a:r>
              <a:rPr lang="de-CH" sz="2800" cap="none" dirty="0" err="1" smtClean="0"/>
              <a:t>heat</a:t>
            </a:r>
            <a:r>
              <a:rPr lang="de-CH" sz="2800" cap="none" dirty="0" smtClean="0"/>
              <a:t> </a:t>
            </a:r>
            <a:r>
              <a:rPr lang="de-CH" sz="2800" cap="none" dirty="0" err="1" smtClean="0"/>
              <a:t>spreading</a:t>
            </a:r>
            <a:r>
              <a:rPr lang="de-CH" sz="2800" cap="none" dirty="0" smtClean="0"/>
              <a:t> </a:t>
            </a:r>
            <a:r>
              <a:rPr lang="de-CH" sz="2800" cap="none" dirty="0" err="1" smtClean="0"/>
              <a:t>effect</a:t>
            </a:r>
            <a:r>
              <a:rPr lang="de-CH" sz="2800" cap="none" dirty="0" smtClean="0"/>
              <a:t> </a:t>
            </a:r>
            <a:r>
              <a:rPr lang="de-CH" sz="2800" cap="none" dirty="0" err="1" smtClean="0"/>
              <a:t>for</a:t>
            </a:r>
            <a:r>
              <a:rPr lang="de-CH" sz="2800" cap="none" dirty="0" smtClean="0"/>
              <a:t> </a:t>
            </a:r>
            <a:r>
              <a:rPr lang="de-CH" sz="2800" cap="none" dirty="0" err="1" smtClean="0"/>
              <a:t>the</a:t>
            </a:r>
            <a:r>
              <a:rPr lang="de-CH" sz="2800" cap="none" dirty="0" smtClean="0"/>
              <a:t> </a:t>
            </a:r>
            <a:r>
              <a:rPr lang="de-CH" sz="2800" cap="none" dirty="0" err="1" smtClean="0"/>
              <a:t>example</a:t>
            </a:r>
            <a:r>
              <a:rPr lang="de-CH" sz="2800" cap="none" dirty="0" smtClean="0"/>
              <a:t> </a:t>
            </a:r>
            <a:r>
              <a:rPr lang="de-CH" sz="2800" cap="none" dirty="0" err="1" smtClean="0"/>
              <a:t>of</a:t>
            </a:r>
            <a:r>
              <a:rPr lang="de-CH" sz="2800" cap="none" dirty="0" smtClean="0"/>
              <a:t> «</a:t>
            </a:r>
            <a:r>
              <a:rPr lang="de-CH" sz="2800" cap="none" dirty="0" err="1" smtClean="0"/>
              <a:t>Mold</a:t>
            </a:r>
            <a:r>
              <a:rPr lang="de-CH" sz="2800" cap="none" dirty="0" smtClean="0"/>
              <a:t> Modul 104302»</a:t>
            </a:r>
            <a:endParaRPr lang="de-CH" sz="2800" cap="non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1"/>
          </p:nvPr>
        </p:nvSpPr>
        <p:spPr>
          <a:xfrm>
            <a:off x="5580112" y="6165304"/>
            <a:ext cx="3428107" cy="330460"/>
          </a:xfrm>
        </p:spPr>
        <p:txBody>
          <a:bodyPr/>
          <a:lstStyle/>
          <a:p>
            <a:r>
              <a:rPr lang="de-CH" dirty="0" smtClean="0"/>
              <a:t>Ueli Wendelspiess – 09.11.2017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855107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FFFF"/>
                </a:solidFill>
              </a:rPr>
              <a:t>© BRUSA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en-US" smtClean="0">
                <a:solidFill>
                  <a:srgbClr val="FFFFFF"/>
                </a:solidFill>
              </a:rPr>
              <a:pPr/>
              <a:t>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Titel 1"/>
          <p:cNvSpPr txBox="1">
            <a:spLocks/>
          </p:cNvSpPr>
          <p:nvPr/>
        </p:nvSpPr>
        <p:spPr>
          <a:xfrm>
            <a:off x="423863" y="332656"/>
            <a:ext cx="6594475" cy="83099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296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sz="2400" dirty="0" err="1">
                <a:solidFill>
                  <a:srgbClr val="C00000"/>
                </a:solidFill>
              </a:rPr>
              <a:t>Geometry</a:t>
            </a:r>
            <a:r>
              <a:rPr lang="de-CH" sz="2400" dirty="0">
                <a:solidFill>
                  <a:srgbClr val="C00000"/>
                </a:solidFill>
              </a:rPr>
              <a:t> </a:t>
            </a:r>
            <a:r>
              <a:rPr lang="de-CH" sz="2400" dirty="0" err="1">
                <a:solidFill>
                  <a:srgbClr val="C00000"/>
                </a:solidFill>
              </a:rPr>
              <a:t>definition</a:t>
            </a:r>
            <a:r>
              <a:rPr lang="de-CH" sz="2400" dirty="0">
                <a:solidFill>
                  <a:srgbClr val="C00000"/>
                </a:solidFill>
              </a:rPr>
              <a:t> </a:t>
            </a:r>
            <a:r>
              <a:rPr lang="de-CH" sz="2400" dirty="0" err="1">
                <a:solidFill>
                  <a:srgbClr val="C00000"/>
                </a:solidFill>
              </a:rPr>
              <a:t>and</a:t>
            </a:r>
            <a:r>
              <a:rPr lang="de-CH" sz="2400" dirty="0">
                <a:solidFill>
                  <a:srgbClr val="C00000"/>
                </a:solidFill>
              </a:rPr>
              <a:t> </a:t>
            </a:r>
            <a:r>
              <a:rPr lang="de-CH" sz="2400" dirty="0" err="1">
                <a:solidFill>
                  <a:srgbClr val="C00000"/>
                </a:solidFill>
              </a:rPr>
              <a:t>data</a:t>
            </a:r>
            <a:r>
              <a:rPr lang="de-CH" sz="2400" dirty="0">
                <a:solidFill>
                  <a:srgbClr val="C00000"/>
                </a:solidFill>
              </a:rPr>
              <a:t> </a:t>
            </a:r>
            <a:r>
              <a:rPr lang="de-CH" sz="2400" dirty="0" err="1">
                <a:solidFill>
                  <a:srgbClr val="C00000"/>
                </a:solidFill>
              </a:rPr>
              <a:t>for</a:t>
            </a:r>
            <a:r>
              <a:rPr lang="de-CH" sz="2400" dirty="0">
                <a:solidFill>
                  <a:srgbClr val="C00000"/>
                </a:solidFill>
              </a:rPr>
              <a:t> </a:t>
            </a:r>
            <a:r>
              <a:rPr lang="de-CH" sz="2400" dirty="0" err="1">
                <a:solidFill>
                  <a:srgbClr val="C00000"/>
                </a:solidFill>
              </a:rPr>
              <a:t>examined</a:t>
            </a:r>
            <a:r>
              <a:rPr lang="de-CH" sz="2400" dirty="0">
                <a:solidFill>
                  <a:srgbClr val="C00000"/>
                </a:solidFill>
              </a:rPr>
              <a:t> </a:t>
            </a:r>
            <a:r>
              <a:rPr lang="de-CH" sz="2400" dirty="0" err="1">
                <a:solidFill>
                  <a:srgbClr val="C00000"/>
                </a:solidFill>
              </a:rPr>
              <a:t>modul</a:t>
            </a:r>
            <a:endParaRPr lang="de-CH" sz="2400" dirty="0">
              <a:solidFill>
                <a:srgbClr val="C00000"/>
              </a:solidFill>
            </a:endParaRPr>
          </a:p>
        </p:txBody>
      </p:sp>
      <p:sp>
        <p:nvSpPr>
          <p:cNvPr id="95" name="Textfeld 94"/>
          <p:cNvSpPr txBox="1"/>
          <p:nvPr/>
        </p:nvSpPr>
        <p:spPr>
          <a:xfrm>
            <a:off x="423863" y="5013176"/>
            <a:ext cx="83246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0000"/>
                </a:solidFill>
              </a:rPr>
              <a:t>Geometry data from step file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0000"/>
                </a:solidFill>
              </a:rPr>
              <a:t>\\</a:t>
            </a:r>
            <a:r>
              <a:rPr lang="en-US" sz="1600" dirty="0">
                <a:solidFill>
                  <a:srgbClr val="000000"/>
                </a:solidFill>
              </a:rPr>
              <a:t>ZEUS\Projects\01_generic\Halbleiter-Module\Mold-Modul_Danfoss\Mold-Modul_A-Phase\Mechanik\CAD_30032015\104302_module_formed_asm.stp</a:t>
            </a:r>
          </a:p>
        </p:txBody>
      </p:sp>
      <p:graphicFrame>
        <p:nvGraphicFramePr>
          <p:cNvPr id="28" name="Tabel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532962"/>
              </p:ext>
            </p:extLst>
          </p:nvPr>
        </p:nvGraphicFramePr>
        <p:xfrm>
          <a:off x="443635" y="1340768"/>
          <a:ext cx="6720653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157"/>
                <a:gridCol w="1080120"/>
                <a:gridCol w="1152128"/>
                <a:gridCol w="1224136"/>
                <a:gridCol w="1008112"/>
              </a:tblGrid>
              <a:tr h="370840">
                <a:tc>
                  <a:txBody>
                    <a:bodyPr/>
                    <a:lstStyle/>
                    <a:p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 err="1" smtClean="0"/>
                        <a:t>solder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 err="1" smtClean="0"/>
                        <a:t>copper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 err="1" smtClean="0"/>
                        <a:t>ceramic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 err="1" smtClean="0"/>
                        <a:t>paste</a:t>
                      </a:r>
                      <a:endParaRPr lang="de-CH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CH" sz="1600" dirty="0" smtClean="0"/>
                        <a:t>Thermal </a:t>
                      </a:r>
                      <a:r>
                        <a:rPr lang="de-CH" sz="1600" dirty="0" err="1" smtClean="0"/>
                        <a:t>conductivity</a:t>
                      </a:r>
                      <a:endParaRPr lang="de-CH" sz="1600" dirty="0" smtClean="0"/>
                    </a:p>
                    <a:p>
                      <a:r>
                        <a:rPr lang="de-CH" sz="1600" dirty="0" smtClean="0"/>
                        <a:t>[W/(m*K)]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 smtClean="0"/>
                        <a:t>65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 smtClean="0"/>
                        <a:t>385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 smtClean="0"/>
                        <a:t>23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 smtClean="0"/>
                        <a:t>2.5</a:t>
                      </a:r>
                      <a:endParaRPr lang="de-CH" sz="1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1" name="Tabelle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63896"/>
              </p:ext>
            </p:extLst>
          </p:nvPr>
        </p:nvGraphicFramePr>
        <p:xfrm>
          <a:off x="423863" y="2364270"/>
          <a:ext cx="36004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/>
                <a:gridCol w="1800200"/>
              </a:tblGrid>
              <a:tr h="326948">
                <a:tc>
                  <a:txBody>
                    <a:bodyPr/>
                    <a:lstStyle/>
                    <a:p>
                      <a:r>
                        <a:rPr lang="de-CH" dirty="0" err="1" smtClean="0"/>
                        <a:t>areaChip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 smtClean="0"/>
                        <a:t>areaCopper1</a:t>
                      </a:r>
                      <a:endParaRPr lang="de-CH" dirty="0"/>
                    </a:p>
                  </a:txBody>
                  <a:tcPr/>
                </a:tc>
              </a:tr>
              <a:tr h="326948">
                <a:tc>
                  <a:txBody>
                    <a:bodyPr/>
                    <a:lstStyle/>
                    <a:p>
                      <a:r>
                        <a:rPr lang="de-CH" dirty="0" smtClean="0"/>
                        <a:t>38.9 mm^2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 smtClean="0"/>
                        <a:t>62 mm^2</a:t>
                      </a:r>
                      <a:endParaRPr lang="de-CH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050" name="Picture 2" descr="C:\Users\ueli.wendelspiess\Desktop\heatspreading\Aufbau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37" y="3180791"/>
            <a:ext cx="7936210" cy="1832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1726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469877"/>
            <a:ext cx="3350030" cy="2087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Rechteck 18"/>
          <p:cNvSpPr>
            <a:spLocks/>
          </p:cNvSpPr>
          <p:nvPr/>
        </p:nvSpPr>
        <p:spPr>
          <a:xfrm>
            <a:off x="3146946" y="4506014"/>
            <a:ext cx="406800" cy="4068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FFFF"/>
                </a:solidFill>
              </a:rPr>
              <a:t>© BRUSA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en-US" smtClean="0">
                <a:solidFill>
                  <a:srgbClr val="FFFFFF"/>
                </a:solidFill>
              </a:rPr>
              <a:pPr/>
              <a:t>3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Titel 1"/>
          <p:cNvSpPr txBox="1">
            <a:spLocks/>
          </p:cNvSpPr>
          <p:nvPr/>
        </p:nvSpPr>
        <p:spPr>
          <a:xfrm>
            <a:off x="423863" y="332656"/>
            <a:ext cx="6594475" cy="83099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296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smtClean="0">
                <a:solidFill>
                  <a:srgbClr val="C00000"/>
                </a:solidFill>
              </a:rPr>
              <a:t>Considered areas for spreading</a:t>
            </a:r>
            <a:endParaRPr lang="en-US" sz="2400" dirty="0">
              <a:solidFill>
                <a:srgbClr val="C0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859" y="1340768"/>
            <a:ext cx="3938165" cy="2021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hteck 1"/>
          <p:cNvSpPr/>
          <p:nvPr/>
        </p:nvSpPr>
        <p:spPr>
          <a:xfrm>
            <a:off x="3173722" y="4552349"/>
            <a:ext cx="307181" cy="26912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15" name="Gerade Verbindung mit Pfeil 14"/>
          <p:cNvCxnSpPr>
            <a:endCxn id="2" idx="3"/>
          </p:cNvCxnSpPr>
          <p:nvPr/>
        </p:nvCxnSpPr>
        <p:spPr>
          <a:xfrm flipH="1">
            <a:off x="3480903" y="4686911"/>
            <a:ext cx="1019089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/>
          <p:cNvSpPr txBox="1"/>
          <p:nvPr/>
        </p:nvSpPr>
        <p:spPr>
          <a:xfrm>
            <a:off x="4517455" y="4491782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 err="1" smtClean="0"/>
              <a:t>areaChip</a:t>
            </a:r>
            <a:endParaRPr lang="de-CH" dirty="0"/>
          </a:p>
        </p:txBody>
      </p:sp>
      <p:cxnSp>
        <p:nvCxnSpPr>
          <p:cNvPr id="25" name="Gerade Verbindung mit Pfeil 24"/>
          <p:cNvCxnSpPr/>
          <p:nvPr/>
        </p:nvCxnSpPr>
        <p:spPr>
          <a:xfrm flipH="1" flipV="1">
            <a:off x="3562350" y="4867275"/>
            <a:ext cx="937643" cy="2179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feld 25"/>
          <p:cNvSpPr txBox="1"/>
          <p:nvPr/>
        </p:nvSpPr>
        <p:spPr>
          <a:xfrm>
            <a:off x="4517455" y="4861114"/>
            <a:ext cx="45817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 smtClean="0"/>
              <a:t>2 x </a:t>
            </a:r>
            <a:r>
              <a:rPr lang="de-CH" dirty="0" err="1" smtClean="0"/>
              <a:t>areaChip</a:t>
            </a:r>
            <a:r>
              <a:rPr lang="de-CH" dirty="0" smtClean="0"/>
              <a:t> </a:t>
            </a:r>
            <a:r>
              <a:rPr lang="de-CH" sz="1400" dirty="0" smtClean="0"/>
              <a:t>(</a:t>
            </a:r>
            <a:r>
              <a:rPr lang="de-CH" sz="1400" dirty="0" err="1" smtClean="0"/>
              <a:t>estimated</a:t>
            </a:r>
            <a:r>
              <a:rPr lang="de-CH" sz="1400" dirty="0" smtClean="0"/>
              <a:t> </a:t>
            </a:r>
            <a:r>
              <a:rPr lang="de-CH" sz="1400" dirty="0" err="1" smtClean="0"/>
              <a:t>area</a:t>
            </a:r>
            <a:r>
              <a:rPr lang="de-CH" sz="1400" dirty="0" smtClean="0"/>
              <a:t> </a:t>
            </a:r>
            <a:r>
              <a:rPr lang="de-CH" sz="1400" dirty="0" err="1" smtClean="0"/>
              <a:t>effective</a:t>
            </a:r>
            <a:r>
              <a:rPr lang="de-CH" sz="1400" dirty="0" smtClean="0"/>
              <a:t> </a:t>
            </a:r>
            <a:r>
              <a:rPr lang="de-CH" sz="1400" dirty="0" err="1" smtClean="0"/>
              <a:t>for</a:t>
            </a:r>
            <a:r>
              <a:rPr lang="de-CH" sz="1400" dirty="0" smtClean="0"/>
              <a:t> </a:t>
            </a:r>
            <a:r>
              <a:rPr lang="de-CH" sz="1400" dirty="0" err="1" smtClean="0"/>
              <a:t>heat</a:t>
            </a:r>
            <a:endParaRPr lang="de-CH" sz="1400" dirty="0" smtClean="0"/>
          </a:p>
          <a:p>
            <a:r>
              <a:rPr lang="de-CH" sz="1400" dirty="0" err="1" smtClean="0"/>
              <a:t>dissipation</a:t>
            </a:r>
            <a:r>
              <a:rPr lang="de-CH" sz="1400" dirty="0" smtClean="0"/>
              <a:t> </a:t>
            </a:r>
            <a:r>
              <a:rPr lang="de-CH" sz="1400" dirty="0" err="1" smtClean="0"/>
              <a:t>to</a:t>
            </a:r>
            <a:r>
              <a:rPr lang="de-CH" sz="1400" dirty="0" smtClean="0"/>
              <a:t> fluid, limited </a:t>
            </a:r>
            <a:r>
              <a:rPr lang="de-CH" sz="1400" dirty="0" err="1" smtClean="0"/>
              <a:t>by</a:t>
            </a:r>
            <a:r>
              <a:rPr lang="de-CH" sz="1400" dirty="0" smtClean="0"/>
              <a:t> </a:t>
            </a:r>
            <a:r>
              <a:rPr lang="de-CH" sz="1400" dirty="0" err="1" smtClean="0"/>
              <a:t>neighboring</a:t>
            </a:r>
            <a:r>
              <a:rPr lang="de-CH" sz="1400" dirty="0" smtClean="0"/>
              <a:t> </a:t>
            </a:r>
            <a:r>
              <a:rPr lang="de-CH" sz="1400" dirty="0" err="1" smtClean="0"/>
              <a:t>heat</a:t>
            </a:r>
            <a:r>
              <a:rPr lang="de-CH" sz="1400" dirty="0" smtClean="0"/>
              <a:t> </a:t>
            </a:r>
            <a:r>
              <a:rPr lang="de-CH" sz="1400" dirty="0" err="1" smtClean="0"/>
              <a:t>sources</a:t>
            </a:r>
            <a:r>
              <a:rPr lang="de-CH" sz="1400" dirty="0" smtClean="0"/>
              <a:t>)</a:t>
            </a:r>
            <a:endParaRPr lang="de-CH" sz="1400" dirty="0"/>
          </a:p>
        </p:txBody>
      </p:sp>
      <p:sp>
        <p:nvSpPr>
          <p:cNvPr id="34" name="Rechteck 33"/>
          <p:cNvSpPr>
            <a:spLocks/>
          </p:cNvSpPr>
          <p:nvPr/>
        </p:nvSpPr>
        <p:spPr>
          <a:xfrm>
            <a:off x="3208858" y="2389361"/>
            <a:ext cx="365398" cy="36336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35" name="Gerade Verbindung mit Pfeil 34"/>
          <p:cNvCxnSpPr/>
          <p:nvPr/>
        </p:nvCxnSpPr>
        <p:spPr>
          <a:xfrm flipH="1">
            <a:off x="3574256" y="2555057"/>
            <a:ext cx="1235502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feld 35"/>
          <p:cNvSpPr txBox="1"/>
          <p:nvPr/>
        </p:nvSpPr>
        <p:spPr>
          <a:xfrm>
            <a:off x="4827220" y="2359928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 smtClean="0"/>
              <a:t>areaCopper1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230132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FFFF"/>
                </a:solidFill>
              </a:rPr>
              <a:t>© BRUSA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en-US" smtClean="0">
                <a:solidFill>
                  <a:srgbClr val="FFFFFF"/>
                </a:solidFill>
              </a:rPr>
              <a:pPr/>
              <a:t>4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Titel 1"/>
          <p:cNvSpPr txBox="1">
            <a:spLocks/>
          </p:cNvSpPr>
          <p:nvPr/>
        </p:nvSpPr>
        <p:spPr>
          <a:xfrm>
            <a:off x="423863" y="332656"/>
            <a:ext cx="6594475" cy="83099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296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smtClean="0">
                <a:solidFill>
                  <a:srgbClr val="C00000"/>
                </a:solidFill>
              </a:rPr>
              <a:t>Assumptions and simplifications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423863" y="1163649"/>
            <a:ext cx="767652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0000"/>
                </a:solidFill>
              </a:rPr>
              <a:t>Spreading effects in heat sink are neglected (spreading primarily occurs in layers with good thermal conductivity early on in the heat path)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0000"/>
                </a:solidFill>
              </a:rPr>
              <a:t>Uniform heat generation on chip area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0000"/>
                </a:solidFill>
              </a:rPr>
              <a:t>Heat transfer coefficient of heat sink estimated at 20’000 W/(m^2*K) from looking at different simulation / measurement documents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0000"/>
                </a:solidFill>
              </a:rPr>
              <a:t>The thickness of the heat transfer paste is calculated to match the contact resistance of 1.00E-05 K*m^2/W used in the simulation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0000"/>
                </a:solidFill>
              </a:rPr>
              <a:t>The </a:t>
            </a:r>
            <a:r>
              <a:rPr lang="en-US" sz="1600" dirty="0">
                <a:solidFill>
                  <a:srgbClr val="000000"/>
                </a:solidFill>
              </a:rPr>
              <a:t>formulas used assume </a:t>
            </a:r>
            <a:r>
              <a:rPr lang="en-US" sz="1600" dirty="0" smtClean="0">
                <a:solidFill>
                  <a:srgbClr val="000000"/>
                </a:solidFill>
              </a:rPr>
              <a:t>axisymmetric </a:t>
            </a:r>
            <a:r>
              <a:rPr lang="en-US" sz="1600" dirty="0">
                <a:solidFill>
                  <a:srgbClr val="000000"/>
                </a:solidFill>
              </a:rPr>
              <a:t>heat </a:t>
            </a:r>
            <a:r>
              <a:rPr lang="en-US" sz="1600" dirty="0" smtClean="0">
                <a:solidFill>
                  <a:srgbClr val="000000"/>
                </a:solidFill>
              </a:rPr>
              <a:t>spreading:</a:t>
            </a:r>
          </a:p>
          <a:p>
            <a:pPr marL="742898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 smtClean="0"/>
              <a:t>Lee </a:t>
            </a:r>
            <a:r>
              <a:rPr lang="en-US" sz="1600" dirty="0"/>
              <a:t>et al: "Constriction/Spreading Resistance Model for Electronic </a:t>
            </a:r>
            <a:r>
              <a:rPr lang="en-US" sz="1600" dirty="0" smtClean="0"/>
              <a:t>Packaging“</a:t>
            </a:r>
          </a:p>
          <a:p>
            <a:pPr marL="742898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 smtClean="0"/>
              <a:t>Simons</a:t>
            </a:r>
            <a:r>
              <a:rPr lang="en-US" sz="1600" dirty="0"/>
              <a:t>: "Simple Formulas for Estimating Thermal Spreading </a:t>
            </a:r>
            <a:r>
              <a:rPr lang="en-US" sz="1600" dirty="0" smtClean="0"/>
              <a:t>Resistance“</a:t>
            </a:r>
          </a:p>
          <a:p>
            <a:pPr marL="742898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 smtClean="0"/>
              <a:t>Ying </a:t>
            </a:r>
            <a:r>
              <a:rPr lang="en-US" sz="1600" dirty="0"/>
              <a:t>et al: "A HEAT SPREADING RESISTANCE MODEL FOR ANISOTROPIC </a:t>
            </a:r>
            <a:r>
              <a:rPr lang="en-US" sz="1600" dirty="0" smtClean="0"/>
              <a:t>THERMAL CONDUCTIVITY </a:t>
            </a:r>
            <a:r>
              <a:rPr lang="en-US" sz="1600" dirty="0"/>
              <a:t>MATERIALS IN ELECTRONIC PACKAGING"</a:t>
            </a: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2262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FFFF"/>
                </a:solidFill>
              </a:rPr>
              <a:t>© BRUSA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en-US" smtClean="0">
                <a:solidFill>
                  <a:srgbClr val="FFFFFF"/>
                </a:solidFill>
              </a:rPr>
              <a:pPr/>
              <a:t>5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Titel 1"/>
          <p:cNvSpPr txBox="1">
            <a:spLocks/>
          </p:cNvSpPr>
          <p:nvPr/>
        </p:nvSpPr>
        <p:spPr>
          <a:xfrm>
            <a:off x="423863" y="332656"/>
            <a:ext cx="6594475" cy="83099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296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smtClean="0">
                <a:solidFill>
                  <a:srgbClr val="C00000"/>
                </a:solidFill>
              </a:rPr>
              <a:t>Results from simulation for comparison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423863" y="1163649"/>
            <a:ext cx="7676529" cy="1893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de-CH" sz="1600" dirty="0" smtClean="0"/>
              <a:t>\\ZEUS\Projects\01_generic\Halbleiter-Module\Mold-Modul_Danfoss\Mold-Modul_A-Phase\Simulation_und_Messung_thermisch\thermisch_104302.pdf</a:t>
            </a:r>
            <a:endParaRPr lang="de-CH" sz="1600" dirty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de-CH" sz="1600" dirty="0" smtClean="0"/>
              <a:t>Power </a:t>
            </a:r>
            <a:r>
              <a:rPr lang="de-CH" sz="1600" dirty="0" err="1" smtClean="0"/>
              <a:t>loss</a:t>
            </a:r>
            <a:r>
              <a:rPr lang="de-CH" sz="1600" dirty="0" smtClean="0"/>
              <a:t> </a:t>
            </a:r>
            <a:r>
              <a:rPr lang="de-CH" sz="1600" dirty="0" err="1" smtClean="0"/>
              <a:t>of</a:t>
            </a:r>
            <a:r>
              <a:rPr lang="de-CH" sz="1600" dirty="0" smtClean="0"/>
              <a:t>  IGBT</a:t>
            </a:r>
            <a:r>
              <a:rPr lang="de-CH" sz="1600" dirty="0"/>
              <a:t>: </a:t>
            </a:r>
            <a:r>
              <a:rPr lang="de-CH" sz="1600" dirty="0" smtClean="0"/>
              <a:t>40W</a:t>
            </a:r>
            <a:endParaRPr lang="de-CH" sz="1600" dirty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de-CH" sz="1600" dirty="0" err="1" smtClean="0"/>
              <a:t>Temperature</a:t>
            </a:r>
            <a:r>
              <a:rPr lang="de-CH" sz="1600" dirty="0" smtClean="0"/>
              <a:t> </a:t>
            </a:r>
            <a:r>
              <a:rPr lang="de-CH" sz="1600" dirty="0" err="1" smtClean="0"/>
              <a:t>difference</a:t>
            </a:r>
            <a:r>
              <a:rPr lang="de-CH" sz="1600" dirty="0" smtClean="0"/>
              <a:t> </a:t>
            </a:r>
            <a:r>
              <a:rPr lang="de-CH" sz="1600" dirty="0" err="1" smtClean="0"/>
              <a:t>of</a:t>
            </a:r>
            <a:r>
              <a:rPr lang="de-CH" sz="1600" dirty="0" smtClean="0"/>
              <a:t> </a:t>
            </a:r>
            <a:r>
              <a:rPr lang="de-CH" sz="1600" dirty="0"/>
              <a:t>IGBT </a:t>
            </a:r>
            <a:r>
              <a:rPr lang="de-CH" sz="1600" dirty="0" err="1" smtClean="0"/>
              <a:t>to</a:t>
            </a:r>
            <a:r>
              <a:rPr lang="de-CH" sz="1600" dirty="0" smtClean="0"/>
              <a:t> fluid: </a:t>
            </a:r>
            <a:r>
              <a:rPr lang="de-CH" sz="1600" dirty="0"/>
              <a:t>118C – 65C = </a:t>
            </a:r>
            <a:r>
              <a:rPr lang="de-CH" sz="1600" dirty="0" smtClean="0"/>
              <a:t>53K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de-CH" sz="1600" dirty="0" err="1" smtClean="0"/>
              <a:t>Resulting</a:t>
            </a:r>
            <a:r>
              <a:rPr lang="de-CH" sz="1600" dirty="0" smtClean="0"/>
              <a:t> </a:t>
            </a:r>
            <a:r>
              <a:rPr lang="de-CH" sz="1600" dirty="0" err="1" smtClean="0"/>
              <a:t>Rth</a:t>
            </a:r>
            <a:r>
              <a:rPr lang="de-CH" sz="1600" dirty="0" smtClean="0"/>
              <a:t>: 53K / 40W = 1.325 K/W</a:t>
            </a:r>
            <a:endParaRPr lang="de-CH" sz="1600" dirty="0"/>
          </a:p>
        </p:txBody>
      </p:sp>
    </p:spTree>
    <p:extLst>
      <p:ext uri="{BB962C8B-B14F-4D97-AF65-F5344CB8AC3E}">
        <p14:creationId xmlns:p14="http://schemas.microsoft.com/office/powerpoint/2010/main" val="3404398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 descr="C:\Users\ueli.wendelspiess\Desktop\heatspreading\spreadingInfluenc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3" y="1407187"/>
            <a:ext cx="4364161" cy="3273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FFFF"/>
                </a:solidFill>
              </a:rPr>
              <a:t>© BRUSA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en-US" smtClean="0">
                <a:solidFill>
                  <a:srgbClr val="FFFFFF"/>
                </a:solidFill>
              </a:rPr>
              <a:pPr/>
              <a:t>6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Titel 1"/>
          <p:cNvSpPr txBox="1">
            <a:spLocks/>
          </p:cNvSpPr>
          <p:nvPr/>
        </p:nvSpPr>
        <p:spPr>
          <a:xfrm>
            <a:off x="423863" y="332656"/>
            <a:ext cx="6594475" cy="83099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296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smtClean="0">
                <a:solidFill>
                  <a:srgbClr val="C00000"/>
                </a:solidFill>
              </a:rPr>
              <a:t>Results</a:t>
            </a:r>
            <a:endParaRPr lang="en-US" sz="2400" dirty="0">
              <a:solidFill>
                <a:srgbClr val="C00000"/>
              </a:solidFill>
            </a:endParaRPr>
          </a:p>
        </p:txBody>
      </p:sp>
      <p:graphicFrame>
        <p:nvGraphicFramePr>
          <p:cNvPr id="10" name="Tabel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030833"/>
              </p:ext>
            </p:extLst>
          </p:nvPr>
        </p:nvGraphicFramePr>
        <p:xfrm>
          <a:off x="423863" y="4725144"/>
          <a:ext cx="7703492" cy="140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873"/>
                <a:gridCol w="1289323"/>
                <a:gridCol w="2094538"/>
                <a:gridCol w="2393758"/>
              </a:tblGrid>
              <a:tr h="370840"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simulation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calculated without spreading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calculated with spreading over 2 times the chip area</a:t>
                      </a:r>
                      <a:endParaRPr lang="de-CH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CH" sz="1400" dirty="0" err="1" smtClean="0"/>
                        <a:t>RthJF</a:t>
                      </a:r>
                      <a:r>
                        <a:rPr lang="de-CH" sz="1400" dirty="0" smtClean="0"/>
                        <a:t> [K / W]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400" dirty="0" smtClean="0"/>
                        <a:t>1.325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400" dirty="0" smtClean="0"/>
                        <a:t>1.971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400" dirty="0" smtClean="0"/>
                        <a:t>1.313</a:t>
                      </a:r>
                      <a:endParaRPr lang="de-CH" sz="1400" baseline="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CH" sz="1400" dirty="0" err="1" smtClean="0"/>
                        <a:t>error</a:t>
                      </a:r>
                      <a:r>
                        <a:rPr lang="de-CH" sz="1400" dirty="0" smtClean="0"/>
                        <a:t> </a:t>
                      </a:r>
                      <a:r>
                        <a:rPr lang="de-CH" sz="1400" dirty="0" err="1" smtClean="0"/>
                        <a:t>compared</a:t>
                      </a:r>
                      <a:r>
                        <a:rPr lang="de-CH" sz="1400" dirty="0" smtClean="0"/>
                        <a:t> </a:t>
                      </a:r>
                      <a:r>
                        <a:rPr lang="de-CH" sz="1400" dirty="0" err="1" smtClean="0"/>
                        <a:t>to</a:t>
                      </a:r>
                      <a:r>
                        <a:rPr lang="de-CH" sz="1400" dirty="0" smtClean="0"/>
                        <a:t> </a:t>
                      </a:r>
                      <a:r>
                        <a:rPr lang="de-CH" sz="1400" dirty="0" err="1" smtClean="0"/>
                        <a:t>simulation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400" dirty="0" smtClean="0"/>
                        <a:t>-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400" dirty="0" smtClean="0"/>
                        <a:t>48.8 %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400" dirty="0" smtClean="0"/>
                        <a:t>0.8%</a:t>
                      </a:r>
                      <a:endParaRPr lang="de-CH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feld 6"/>
          <p:cNvSpPr txBox="1"/>
          <p:nvPr/>
        </p:nvSpPr>
        <p:spPr>
          <a:xfrm rot="16200000">
            <a:off x="1785241" y="3693015"/>
            <a:ext cx="805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 err="1" smtClean="0"/>
              <a:t>areaChip</a:t>
            </a:r>
            <a:endParaRPr lang="de-CH" sz="1200" dirty="0"/>
          </a:p>
        </p:txBody>
      </p:sp>
      <p:sp>
        <p:nvSpPr>
          <p:cNvPr id="8" name="Textfeld 7"/>
          <p:cNvSpPr txBox="1"/>
          <p:nvPr/>
        </p:nvSpPr>
        <p:spPr>
          <a:xfrm rot="16200000">
            <a:off x="2443538" y="3565908"/>
            <a:ext cx="10775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 smtClean="0"/>
              <a:t>areaCopper1</a:t>
            </a:r>
            <a:endParaRPr lang="de-CH" sz="1200" dirty="0"/>
          </a:p>
        </p:txBody>
      </p:sp>
      <p:sp>
        <p:nvSpPr>
          <p:cNvPr id="11" name="Textfeld 10"/>
          <p:cNvSpPr txBox="1"/>
          <p:nvPr/>
        </p:nvSpPr>
        <p:spPr>
          <a:xfrm rot="16200000">
            <a:off x="2992290" y="3579584"/>
            <a:ext cx="10102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 smtClean="0"/>
              <a:t>2x </a:t>
            </a:r>
            <a:r>
              <a:rPr lang="de-CH" sz="1200" dirty="0" err="1" smtClean="0"/>
              <a:t>areaChip</a:t>
            </a:r>
            <a:endParaRPr lang="de-CH" sz="1200" dirty="0"/>
          </a:p>
        </p:txBody>
      </p:sp>
    </p:spTree>
    <p:extLst>
      <p:ext uri="{BB962C8B-B14F-4D97-AF65-F5344CB8AC3E}">
        <p14:creationId xmlns:p14="http://schemas.microsoft.com/office/powerpoint/2010/main" val="3272255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FFFF"/>
                </a:solidFill>
              </a:rPr>
              <a:t>© BRUSA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en-US" smtClean="0">
                <a:solidFill>
                  <a:srgbClr val="FFFFFF"/>
                </a:solidFill>
              </a:rPr>
              <a:pPr/>
              <a:t>7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Titel 1"/>
          <p:cNvSpPr txBox="1">
            <a:spLocks/>
          </p:cNvSpPr>
          <p:nvPr/>
        </p:nvSpPr>
        <p:spPr>
          <a:xfrm>
            <a:off x="423863" y="332656"/>
            <a:ext cx="6594475" cy="83099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296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smtClean="0">
                <a:solidFill>
                  <a:srgbClr val="C00000"/>
                </a:solidFill>
              </a:rPr>
              <a:t>Results</a:t>
            </a:r>
            <a:endParaRPr lang="en-US" sz="2400" dirty="0">
              <a:solidFill>
                <a:srgbClr val="C00000"/>
              </a:solidFill>
            </a:endParaRPr>
          </a:p>
        </p:txBody>
      </p:sp>
      <p:graphicFrame>
        <p:nvGraphicFramePr>
          <p:cNvPr id="10" name="Tabel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935213"/>
              </p:ext>
            </p:extLst>
          </p:nvPr>
        </p:nvGraphicFramePr>
        <p:xfrm>
          <a:off x="423863" y="4725144"/>
          <a:ext cx="7703492" cy="140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873"/>
                <a:gridCol w="1289323"/>
                <a:gridCol w="2094538"/>
                <a:gridCol w="2393758"/>
              </a:tblGrid>
              <a:tr h="370840"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simulation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calculated without spreading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calculated with spreading over 2 times the chip area</a:t>
                      </a:r>
                      <a:endParaRPr lang="de-CH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CH" sz="1400" dirty="0" err="1" smtClean="0"/>
                        <a:t>RthJF</a:t>
                      </a:r>
                      <a:r>
                        <a:rPr lang="de-CH" sz="1400" dirty="0" smtClean="0"/>
                        <a:t> [K / W]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400" dirty="0" smtClean="0"/>
                        <a:t>1.5525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400" dirty="0" smtClean="0"/>
                        <a:t>2.484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400" dirty="0" smtClean="0"/>
                        <a:t>1.5912</a:t>
                      </a:r>
                      <a:endParaRPr lang="de-CH" sz="1400" baseline="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CH" sz="1400" dirty="0" err="1" smtClean="0"/>
                        <a:t>error</a:t>
                      </a:r>
                      <a:r>
                        <a:rPr lang="de-CH" sz="1400" dirty="0" smtClean="0"/>
                        <a:t> </a:t>
                      </a:r>
                      <a:r>
                        <a:rPr lang="de-CH" sz="1400" dirty="0" err="1" smtClean="0"/>
                        <a:t>compared</a:t>
                      </a:r>
                      <a:r>
                        <a:rPr lang="de-CH" sz="1400" dirty="0" smtClean="0"/>
                        <a:t> </a:t>
                      </a:r>
                      <a:r>
                        <a:rPr lang="de-CH" sz="1400" dirty="0" err="1" smtClean="0"/>
                        <a:t>to</a:t>
                      </a:r>
                      <a:r>
                        <a:rPr lang="de-CH" sz="1400" dirty="0" smtClean="0"/>
                        <a:t> </a:t>
                      </a:r>
                      <a:r>
                        <a:rPr lang="de-CH" sz="1400" dirty="0" err="1" smtClean="0"/>
                        <a:t>simulation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400" dirty="0" smtClean="0"/>
                        <a:t>-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400" dirty="0" smtClean="0"/>
                        <a:t>60.0 %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400" dirty="0" smtClean="0"/>
                        <a:t>2.5%</a:t>
                      </a:r>
                      <a:endParaRPr lang="de-CH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Rechteck 2"/>
          <p:cNvSpPr/>
          <p:nvPr/>
        </p:nvSpPr>
        <p:spPr>
          <a:xfrm>
            <a:off x="323528" y="998402"/>
            <a:ext cx="65165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000000"/>
                </a:solidFill>
              </a:rPr>
              <a:t>TIM-layer increased from 0.025mm to 0.075mm (3.00E-05 K*m^2/W</a:t>
            </a:r>
            <a:r>
              <a:rPr lang="en-US" sz="1600" dirty="0">
                <a:solidFill>
                  <a:srgbClr val="000000"/>
                </a:solidFill>
              </a:rPr>
              <a:t>) </a:t>
            </a:r>
          </a:p>
        </p:txBody>
      </p:sp>
      <p:sp>
        <p:nvSpPr>
          <p:cNvPr id="9" name="Textfeld 8"/>
          <p:cNvSpPr txBox="1"/>
          <p:nvPr/>
        </p:nvSpPr>
        <p:spPr>
          <a:xfrm>
            <a:off x="4788024" y="1753415"/>
            <a:ext cx="41623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0000"/>
                </a:solidFill>
              </a:rPr>
              <a:t>An increased thermal insulance </a:t>
            </a:r>
            <a:r>
              <a:rPr lang="en-US" sz="1600" b="1" dirty="0" smtClean="0">
                <a:solidFill>
                  <a:srgbClr val="000000"/>
                </a:solidFill>
              </a:rPr>
              <a:t>after</a:t>
            </a:r>
            <a:r>
              <a:rPr lang="en-US" sz="1600" dirty="0" smtClean="0">
                <a:solidFill>
                  <a:srgbClr val="000000"/>
                </a:solidFill>
              </a:rPr>
              <a:t> the spreading layer increases the effect of heat spreading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0000"/>
                </a:solidFill>
              </a:rPr>
              <a:t>The error from neglecting the heat spreading increases considerably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0000"/>
                </a:solidFill>
              </a:rPr>
              <a:t>The heat effectively spreads over a larger area (thus the increased error when considering 2 times chip area)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0000"/>
                </a:solidFill>
              </a:rPr>
              <a:t>A lower performing heat sink has the same effect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1026" name="Picture 2" descr="C:\Users\ueli.wendelspiess\Desktop\heatspreading\spreadingInfluenceThickTI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495" y="1394126"/>
            <a:ext cx="4364161" cy="3273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feld 10"/>
          <p:cNvSpPr txBox="1"/>
          <p:nvPr/>
        </p:nvSpPr>
        <p:spPr>
          <a:xfrm rot="16200000">
            <a:off x="1796273" y="3693015"/>
            <a:ext cx="805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 err="1" smtClean="0"/>
              <a:t>areaChip</a:t>
            </a:r>
            <a:endParaRPr lang="de-CH" sz="1200" dirty="0"/>
          </a:p>
        </p:txBody>
      </p:sp>
      <p:sp>
        <p:nvSpPr>
          <p:cNvPr id="12" name="Textfeld 11"/>
          <p:cNvSpPr txBox="1"/>
          <p:nvPr/>
        </p:nvSpPr>
        <p:spPr>
          <a:xfrm rot="16200000">
            <a:off x="2454570" y="3565908"/>
            <a:ext cx="10775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 smtClean="0"/>
              <a:t>areaCopper1</a:t>
            </a:r>
            <a:endParaRPr lang="de-CH" sz="1200" dirty="0"/>
          </a:p>
        </p:txBody>
      </p:sp>
      <p:sp>
        <p:nvSpPr>
          <p:cNvPr id="13" name="Textfeld 12"/>
          <p:cNvSpPr txBox="1"/>
          <p:nvPr/>
        </p:nvSpPr>
        <p:spPr>
          <a:xfrm rot="16200000">
            <a:off x="2992290" y="3579584"/>
            <a:ext cx="10102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 smtClean="0"/>
              <a:t>2x </a:t>
            </a:r>
            <a:r>
              <a:rPr lang="de-CH" sz="1200" dirty="0" err="1" smtClean="0"/>
              <a:t>areaChip</a:t>
            </a:r>
            <a:endParaRPr lang="de-CH" sz="1200" dirty="0"/>
          </a:p>
        </p:txBody>
      </p:sp>
    </p:spTree>
    <p:extLst>
      <p:ext uri="{BB962C8B-B14F-4D97-AF65-F5344CB8AC3E}">
        <p14:creationId xmlns:p14="http://schemas.microsoft.com/office/powerpoint/2010/main" val="1951041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FFFF"/>
                </a:solidFill>
              </a:rPr>
              <a:t>© BRUSA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en-US" smtClean="0">
                <a:solidFill>
                  <a:srgbClr val="FFFFFF"/>
                </a:solidFill>
              </a:rPr>
              <a:pPr/>
              <a:t>8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Titel 1"/>
          <p:cNvSpPr txBox="1">
            <a:spLocks/>
          </p:cNvSpPr>
          <p:nvPr/>
        </p:nvSpPr>
        <p:spPr>
          <a:xfrm>
            <a:off x="423863" y="332656"/>
            <a:ext cx="6594475" cy="83099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296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smtClean="0">
                <a:solidFill>
                  <a:srgbClr val="C00000"/>
                </a:solidFill>
              </a:rPr>
              <a:t>Things to consider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423863" y="1163649"/>
            <a:ext cx="76765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de-CH" sz="1600" dirty="0" smtClean="0"/>
              <a:t>The </a:t>
            </a:r>
            <a:r>
              <a:rPr lang="de-CH" sz="1600" dirty="0" err="1" smtClean="0"/>
              <a:t>influence</a:t>
            </a:r>
            <a:r>
              <a:rPr lang="de-CH" sz="1600" dirty="0" smtClean="0"/>
              <a:t> </a:t>
            </a:r>
            <a:r>
              <a:rPr lang="de-CH" sz="1600" dirty="0" err="1" smtClean="0"/>
              <a:t>of</a:t>
            </a:r>
            <a:r>
              <a:rPr lang="de-CH" sz="1600" dirty="0" smtClean="0"/>
              <a:t> </a:t>
            </a:r>
            <a:r>
              <a:rPr lang="de-CH" sz="1600" dirty="0" err="1" smtClean="0"/>
              <a:t>heat</a:t>
            </a:r>
            <a:r>
              <a:rPr lang="de-CH" sz="1600" dirty="0" smtClean="0"/>
              <a:t> </a:t>
            </a:r>
            <a:r>
              <a:rPr lang="de-CH" sz="1600" dirty="0" err="1" smtClean="0"/>
              <a:t>spreading</a:t>
            </a:r>
            <a:r>
              <a:rPr lang="de-CH" sz="1600" dirty="0" smtClean="0"/>
              <a:t> </a:t>
            </a:r>
            <a:r>
              <a:rPr lang="de-CH" sz="1600" dirty="0" err="1" smtClean="0"/>
              <a:t>becomes</a:t>
            </a:r>
            <a:r>
              <a:rPr lang="de-CH" sz="1600" dirty="0" smtClean="0"/>
              <a:t> </a:t>
            </a:r>
            <a:r>
              <a:rPr lang="de-CH" sz="1600" dirty="0" err="1" smtClean="0"/>
              <a:t>higher</a:t>
            </a:r>
            <a:r>
              <a:rPr lang="de-CH" sz="1600" dirty="0" smtClean="0"/>
              <a:t> </a:t>
            </a:r>
            <a:r>
              <a:rPr lang="de-CH" sz="1600" dirty="0" err="1" smtClean="0"/>
              <a:t>with</a:t>
            </a:r>
            <a:r>
              <a:rPr lang="de-CH" sz="1600" dirty="0" smtClean="0"/>
              <a:t> </a:t>
            </a:r>
            <a:r>
              <a:rPr lang="de-CH" sz="1600" dirty="0" err="1" smtClean="0"/>
              <a:t>decreasing</a:t>
            </a:r>
            <a:r>
              <a:rPr lang="de-CH" sz="1600" dirty="0" smtClean="0"/>
              <a:t> </a:t>
            </a:r>
            <a:r>
              <a:rPr lang="de-CH" sz="1600" dirty="0" err="1" smtClean="0"/>
              <a:t>chip</a:t>
            </a:r>
            <a:r>
              <a:rPr lang="de-CH" sz="1600" dirty="0" smtClean="0"/>
              <a:t> </a:t>
            </a:r>
            <a:r>
              <a:rPr lang="de-CH" sz="1600" dirty="0" err="1" smtClean="0"/>
              <a:t>area</a:t>
            </a:r>
            <a:endParaRPr lang="de-CH" sz="1600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de-CH" sz="1600" dirty="0" smtClean="0"/>
              <a:t>The </a:t>
            </a:r>
            <a:r>
              <a:rPr lang="de-CH" sz="1600" dirty="0" err="1" smtClean="0"/>
              <a:t>influence</a:t>
            </a:r>
            <a:r>
              <a:rPr lang="de-CH" sz="1600" dirty="0" smtClean="0"/>
              <a:t> </a:t>
            </a:r>
            <a:r>
              <a:rPr lang="de-CH" sz="1600" dirty="0" err="1" smtClean="0"/>
              <a:t>of</a:t>
            </a:r>
            <a:r>
              <a:rPr lang="de-CH" sz="1600" dirty="0" smtClean="0"/>
              <a:t> </a:t>
            </a:r>
            <a:r>
              <a:rPr lang="de-CH" sz="1600" dirty="0" err="1" smtClean="0"/>
              <a:t>heat</a:t>
            </a:r>
            <a:r>
              <a:rPr lang="de-CH" sz="1600" dirty="0" smtClean="0"/>
              <a:t> </a:t>
            </a:r>
            <a:r>
              <a:rPr lang="de-CH" sz="1600" dirty="0" err="1" smtClean="0"/>
              <a:t>spreading</a:t>
            </a:r>
            <a:r>
              <a:rPr lang="de-CH" sz="1600" dirty="0" smtClean="0"/>
              <a:t> </a:t>
            </a:r>
            <a:r>
              <a:rPr lang="de-CH" sz="1600" dirty="0" err="1" smtClean="0"/>
              <a:t>becomes</a:t>
            </a:r>
            <a:r>
              <a:rPr lang="de-CH" sz="1600" dirty="0" smtClean="0"/>
              <a:t> </a:t>
            </a:r>
            <a:r>
              <a:rPr lang="de-CH" sz="1600" dirty="0" err="1" smtClean="0"/>
              <a:t>higher</a:t>
            </a:r>
            <a:r>
              <a:rPr lang="de-CH" sz="1600" dirty="0" smtClean="0"/>
              <a:t> </a:t>
            </a:r>
            <a:r>
              <a:rPr lang="de-CH" sz="1600" dirty="0" err="1" smtClean="0"/>
              <a:t>with</a:t>
            </a:r>
            <a:r>
              <a:rPr lang="de-CH" sz="1600" dirty="0" smtClean="0"/>
              <a:t> </a:t>
            </a:r>
            <a:r>
              <a:rPr lang="de-CH" sz="1600" dirty="0" err="1" smtClean="0"/>
              <a:t>decreasing</a:t>
            </a:r>
            <a:r>
              <a:rPr lang="de-CH" sz="1600" dirty="0" smtClean="0"/>
              <a:t> </a:t>
            </a:r>
            <a:r>
              <a:rPr lang="de-CH" sz="1600" dirty="0" err="1" smtClean="0"/>
              <a:t>heat</a:t>
            </a:r>
            <a:r>
              <a:rPr lang="de-CH" sz="1600" dirty="0" smtClean="0"/>
              <a:t> </a:t>
            </a:r>
            <a:r>
              <a:rPr lang="de-CH" sz="1600" dirty="0" err="1" smtClean="0"/>
              <a:t>transfer</a:t>
            </a:r>
            <a:r>
              <a:rPr lang="de-CH" sz="1600" dirty="0" smtClean="0"/>
              <a:t> </a:t>
            </a:r>
            <a:r>
              <a:rPr lang="de-CH" sz="1600" dirty="0" err="1" smtClean="0"/>
              <a:t>coefficient</a:t>
            </a:r>
            <a:r>
              <a:rPr lang="de-CH" sz="1600" dirty="0" smtClean="0"/>
              <a:t> </a:t>
            </a:r>
            <a:r>
              <a:rPr lang="de-CH" sz="1600" dirty="0" err="1" smtClean="0"/>
              <a:t>of</a:t>
            </a:r>
            <a:r>
              <a:rPr lang="de-CH" sz="1600" dirty="0" smtClean="0"/>
              <a:t> </a:t>
            </a:r>
            <a:r>
              <a:rPr lang="de-CH" sz="1600" dirty="0" err="1" smtClean="0"/>
              <a:t>the</a:t>
            </a:r>
            <a:r>
              <a:rPr lang="de-CH" sz="1600" dirty="0" smtClean="0"/>
              <a:t> </a:t>
            </a:r>
            <a:r>
              <a:rPr lang="de-CH" sz="1600" dirty="0" err="1" smtClean="0"/>
              <a:t>heat</a:t>
            </a:r>
            <a:r>
              <a:rPr lang="de-CH" sz="1600" dirty="0" smtClean="0"/>
              <a:t> sink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de-CH" sz="1600" dirty="0" err="1" smtClean="0"/>
              <a:t>Heat</a:t>
            </a:r>
            <a:r>
              <a:rPr lang="de-CH" sz="1600" dirty="0" smtClean="0"/>
              <a:t> </a:t>
            </a:r>
            <a:r>
              <a:rPr lang="de-CH" sz="1600" dirty="0" err="1" smtClean="0"/>
              <a:t>spreading</a:t>
            </a:r>
            <a:r>
              <a:rPr lang="de-CH" sz="1600" dirty="0" smtClean="0"/>
              <a:t> </a:t>
            </a:r>
            <a:r>
              <a:rPr lang="de-CH" sz="1600" dirty="0" err="1" smtClean="0"/>
              <a:t>is</a:t>
            </a:r>
            <a:r>
              <a:rPr lang="de-CH" sz="1600" dirty="0" smtClean="0"/>
              <a:t> </a:t>
            </a:r>
            <a:r>
              <a:rPr lang="de-CH" sz="1600" dirty="0" err="1" smtClean="0"/>
              <a:t>most</a:t>
            </a:r>
            <a:r>
              <a:rPr lang="de-CH" sz="1600" dirty="0" smtClean="0"/>
              <a:t> </a:t>
            </a:r>
            <a:r>
              <a:rPr lang="de-CH" sz="1600" dirty="0" err="1" smtClean="0"/>
              <a:t>effective</a:t>
            </a:r>
            <a:r>
              <a:rPr lang="de-CH" sz="1600" dirty="0" smtClean="0"/>
              <a:t> </a:t>
            </a:r>
            <a:r>
              <a:rPr lang="de-CH" sz="1600" dirty="0" err="1" smtClean="0"/>
              <a:t>early</a:t>
            </a:r>
            <a:r>
              <a:rPr lang="de-CH" sz="1600" dirty="0" smtClean="0"/>
              <a:t> on in </a:t>
            </a:r>
            <a:r>
              <a:rPr lang="de-CH" sz="1600" dirty="0" err="1" smtClean="0"/>
              <a:t>the</a:t>
            </a:r>
            <a:r>
              <a:rPr lang="de-CH" sz="1600" dirty="0" smtClean="0"/>
              <a:t> </a:t>
            </a:r>
            <a:r>
              <a:rPr lang="de-CH" sz="1600" dirty="0" err="1" smtClean="0"/>
              <a:t>heat</a:t>
            </a:r>
            <a:r>
              <a:rPr lang="de-CH" sz="1600" dirty="0" smtClean="0"/>
              <a:t> </a:t>
            </a:r>
            <a:r>
              <a:rPr lang="de-CH" sz="1600" dirty="0" err="1" smtClean="0"/>
              <a:t>path</a:t>
            </a:r>
            <a:r>
              <a:rPr lang="de-CH" sz="1600" dirty="0" smtClean="0"/>
              <a:t> (</a:t>
            </a:r>
            <a:r>
              <a:rPr lang="de-CH" sz="1600" dirty="0" err="1" smtClean="0"/>
              <a:t>spreading</a:t>
            </a:r>
            <a:r>
              <a:rPr lang="de-CH" sz="1600" dirty="0" smtClean="0"/>
              <a:t> </a:t>
            </a:r>
            <a:r>
              <a:rPr lang="de-CH" sz="1600" dirty="0" err="1" smtClean="0"/>
              <a:t>layer</a:t>
            </a:r>
            <a:r>
              <a:rPr lang="de-CH" sz="1600" dirty="0" smtClean="0"/>
              <a:t> </a:t>
            </a:r>
            <a:r>
              <a:rPr lang="de-CH" sz="1600" dirty="0" err="1" smtClean="0"/>
              <a:t>as</a:t>
            </a:r>
            <a:r>
              <a:rPr lang="de-CH" sz="1600" dirty="0" smtClean="0"/>
              <a:t> </a:t>
            </a:r>
            <a:r>
              <a:rPr lang="de-CH" sz="1600" dirty="0" err="1" smtClean="0"/>
              <a:t>close</a:t>
            </a:r>
            <a:r>
              <a:rPr lang="de-CH" sz="1600" dirty="0" smtClean="0"/>
              <a:t> </a:t>
            </a:r>
            <a:r>
              <a:rPr lang="de-CH" sz="1600" dirty="0" err="1" smtClean="0"/>
              <a:t>to</a:t>
            </a:r>
            <a:r>
              <a:rPr lang="de-CH" sz="1600" dirty="0" smtClean="0"/>
              <a:t> </a:t>
            </a:r>
            <a:r>
              <a:rPr lang="de-CH" sz="1600" dirty="0" err="1" smtClean="0"/>
              <a:t>heat</a:t>
            </a:r>
            <a:r>
              <a:rPr lang="de-CH" sz="1600" dirty="0" smtClean="0"/>
              <a:t> </a:t>
            </a:r>
            <a:r>
              <a:rPr lang="de-CH" sz="1600" dirty="0" err="1" smtClean="0"/>
              <a:t>source</a:t>
            </a:r>
            <a:r>
              <a:rPr lang="de-CH" sz="1600" dirty="0" smtClean="0"/>
              <a:t> </a:t>
            </a:r>
            <a:r>
              <a:rPr lang="de-CH" sz="1600" dirty="0" err="1" smtClean="0"/>
              <a:t>as</a:t>
            </a:r>
            <a:r>
              <a:rPr lang="de-CH" sz="1600" dirty="0" smtClean="0"/>
              <a:t> </a:t>
            </a:r>
            <a:r>
              <a:rPr lang="de-CH" sz="1600" dirty="0" err="1" smtClean="0"/>
              <a:t>possible</a:t>
            </a:r>
            <a:r>
              <a:rPr lang="de-CH" sz="1600" dirty="0" smtClean="0"/>
              <a:t>), </a:t>
            </a:r>
            <a:r>
              <a:rPr lang="de-CH" sz="1600" dirty="0" err="1" smtClean="0"/>
              <a:t>this</a:t>
            </a:r>
            <a:r>
              <a:rPr lang="de-CH" sz="1600" dirty="0" smtClean="0"/>
              <a:t> </a:t>
            </a:r>
            <a:r>
              <a:rPr lang="de-CH" sz="1600" dirty="0" err="1" smtClean="0"/>
              <a:t>is</a:t>
            </a:r>
            <a:r>
              <a:rPr lang="de-CH" sz="1600" dirty="0" smtClean="0"/>
              <a:t> </a:t>
            </a:r>
            <a:r>
              <a:rPr lang="de-CH" sz="1600" dirty="0" err="1" smtClean="0"/>
              <a:t>particularly</a:t>
            </a:r>
            <a:r>
              <a:rPr lang="de-CH" sz="1600" dirty="0" smtClean="0"/>
              <a:t> </a:t>
            </a:r>
            <a:r>
              <a:rPr lang="de-CH" sz="1600" dirty="0" err="1" smtClean="0"/>
              <a:t>pronounced</a:t>
            </a:r>
            <a:r>
              <a:rPr lang="de-CH" sz="1600" dirty="0" smtClean="0"/>
              <a:t> </a:t>
            </a:r>
            <a:r>
              <a:rPr lang="de-CH" sz="1600" dirty="0" err="1" smtClean="0"/>
              <a:t>if</a:t>
            </a:r>
            <a:r>
              <a:rPr lang="de-CH" sz="1600" dirty="0" smtClean="0"/>
              <a:t> </a:t>
            </a:r>
            <a:r>
              <a:rPr lang="de-CH" sz="1600" dirty="0" err="1" smtClean="0"/>
              <a:t>insulating</a:t>
            </a:r>
            <a:r>
              <a:rPr lang="de-CH" sz="1600" dirty="0" smtClean="0"/>
              <a:t> </a:t>
            </a:r>
            <a:r>
              <a:rPr lang="de-CH" sz="1600" dirty="0" err="1" smtClean="0"/>
              <a:t>layers</a:t>
            </a:r>
            <a:r>
              <a:rPr lang="de-CH" sz="1600" dirty="0" smtClean="0"/>
              <a:t> </a:t>
            </a:r>
            <a:r>
              <a:rPr lang="de-CH" sz="1600" dirty="0" err="1" smtClean="0"/>
              <a:t>are</a:t>
            </a:r>
            <a:r>
              <a:rPr lang="de-CH" sz="1600" dirty="0" smtClean="0"/>
              <a:t> </a:t>
            </a:r>
            <a:r>
              <a:rPr lang="de-CH" sz="1600" dirty="0" err="1" smtClean="0"/>
              <a:t>present</a:t>
            </a:r>
            <a:r>
              <a:rPr lang="de-CH" sz="1600" dirty="0" smtClean="0"/>
              <a:t> (</a:t>
            </a:r>
            <a:r>
              <a:rPr lang="de-CH" sz="1600" dirty="0" err="1" smtClean="0"/>
              <a:t>eg</a:t>
            </a:r>
            <a:r>
              <a:rPr lang="de-CH" sz="1600" dirty="0" smtClean="0"/>
              <a:t>. </a:t>
            </a:r>
            <a:r>
              <a:rPr lang="de-CH" sz="1600" dirty="0" err="1" smtClean="0"/>
              <a:t>Isofoil</a:t>
            </a:r>
            <a:r>
              <a:rPr lang="de-CH" sz="1600" dirty="0" smtClean="0"/>
              <a:t> </a:t>
            </a:r>
            <a:r>
              <a:rPr lang="de-CH" sz="1600" dirty="0" err="1" smtClean="0"/>
              <a:t>or</a:t>
            </a:r>
            <a:r>
              <a:rPr lang="de-CH" sz="1600" dirty="0" smtClean="0"/>
              <a:t> fr4 </a:t>
            </a:r>
            <a:r>
              <a:rPr lang="de-CH" sz="1600" dirty="0" err="1" smtClean="0"/>
              <a:t>layers</a:t>
            </a:r>
            <a:r>
              <a:rPr lang="de-CH" sz="1600" dirty="0" smtClean="0"/>
              <a:t> in </a:t>
            </a:r>
            <a:r>
              <a:rPr lang="de-CH" sz="1600" dirty="0" err="1" smtClean="0"/>
              <a:t>pcbs</a:t>
            </a:r>
            <a:r>
              <a:rPr lang="de-CH" sz="1600" dirty="0" smtClean="0"/>
              <a:t>)</a:t>
            </a:r>
            <a:endParaRPr lang="de-CH" sz="1600" dirty="0"/>
          </a:p>
        </p:txBody>
      </p:sp>
    </p:spTree>
    <p:extLst>
      <p:ext uri="{BB962C8B-B14F-4D97-AF65-F5344CB8AC3E}">
        <p14:creationId xmlns:p14="http://schemas.microsoft.com/office/powerpoint/2010/main" val="3808031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FFFF"/>
                </a:solidFill>
              </a:rPr>
              <a:t>© BRUSA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en-US" smtClean="0">
                <a:solidFill>
                  <a:srgbClr val="FFFFFF"/>
                </a:solidFill>
              </a:rPr>
              <a:pPr/>
              <a:t>9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Titel 1"/>
          <p:cNvSpPr txBox="1">
            <a:spLocks/>
          </p:cNvSpPr>
          <p:nvPr/>
        </p:nvSpPr>
        <p:spPr>
          <a:xfrm>
            <a:off x="423863" y="332656"/>
            <a:ext cx="6594475" cy="83099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296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solidFill>
                  <a:srgbClr val="C00000"/>
                </a:solidFill>
              </a:rPr>
              <a:t>C</a:t>
            </a:r>
            <a:r>
              <a:rPr lang="en-US" sz="2400" dirty="0" err="1" smtClean="0">
                <a:solidFill>
                  <a:srgbClr val="C00000"/>
                </a:solidFill>
              </a:rPr>
              <a:t>onlcusions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423861" y="1149833"/>
            <a:ext cx="767652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de-CH" sz="1600" dirty="0" err="1" smtClean="0"/>
              <a:t>Heat</a:t>
            </a:r>
            <a:r>
              <a:rPr lang="de-CH" sz="1600" dirty="0" smtClean="0"/>
              <a:t> </a:t>
            </a:r>
            <a:r>
              <a:rPr lang="de-CH" sz="1600" dirty="0" err="1" smtClean="0"/>
              <a:t>spreading</a:t>
            </a:r>
            <a:r>
              <a:rPr lang="de-CH" sz="1600" dirty="0" smtClean="0"/>
              <a:t> </a:t>
            </a:r>
            <a:r>
              <a:rPr lang="de-CH" sz="1600" dirty="0" err="1" smtClean="0"/>
              <a:t>has</a:t>
            </a:r>
            <a:r>
              <a:rPr lang="de-CH" sz="1600" dirty="0" smtClean="0"/>
              <a:t> a </a:t>
            </a:r>
            <a:r>
              <a:rPr lang="de-CH" sz="1600" dirty="0" err="1" smtClean="0"/>
              <a:t>significant</a:t>
            </a:r>
            <a:r>
              <a:rPr lang="de-CH" sz="1600" dirty="0" smtClean="0"/>
              <a:t> </a:t>
            </a:r>
            <a:r>
              <a:rPr lang="de-CH" sz="1600" dirty="0" err="1" smtClean="0"/>
              <a:t>influence</a:t>
            </a:r>
            <a:r>
              <a:rPr lang="de-CH" sz="1600" dirty="0" smtClean="0"/>
              <a:t> </a:t>
            </a:r>
            <a:r>
              <a:rPr lang="de-CH" sz="1600" dirty="0" err="1" smtClean="0"/>
              <a:t>for</a:t>
            </a:r>
            <a:r>
              <a:rPr lang="de-CH" sz="1600" dirty="0" smtClean="0"/>
              <a:t> </a:t>
            </a:r>
            <a:r>
              <a:rPr lang="de-CH" sz="1600" dirty="0" err="1" smtClean="0"/>
              <a:t>components</a:t>
            </a:r>
            <a:r>
              <a:rPr lang="de-CH" sz="1600" dirty="0" smtClean="0"/>
              <a:t> </a:t>
            </a:r>
            <a:r>
              <a:rPr lang="de-CH" sz="1600" dirty="0" err="1" smtClean="0"/>
              <a:t>with</a:t>
            </a:r>
            <a:r>
              <a:rPr lang="de-CH" sz="1600" dirty="0" smtClean="0"/>
              <a:t> </a:t>
            </a:r>
            <a:r>
              <a:rPr lang="de-CH" sz="1600" dirty="0" err="1" smtClean="0"/>
              <a:t>small</a:t>
            </a:r>
            <a:r>
              <a:rPr lang="de-CH" sz="1600" dirty="0" smtClean="0"/>
              <a:t> </a:t>
            </a:r>
            <a:r>
              <a:rPr lang="de-CH" sz="1600" dirty="0" err="1" smtClean="0"/>
              <a:t>chip</a:t>
            </a:r>
            <a:r>
              <a:rPr lang="de-CH" sz="1600" dirty="0" smtClean="0"/>
              <a:t> </a:t>
            </a:r>
            <a:r>
              <a:rPr lang="de-CH" sz="1600" dirty="0" err="1" smtClean="0"/>
              <a:t>areas</a:t>
            </a:r>
            <a:r>
              <a:rPr lang="de-CH" sz="1600" dirty="0" smtClean="0"/>
              <a:t>, </a:t>
            </a:r>
            <a:r>
              <a:rPr lang="de-CH" sz="1600" dirty="0" err="1" smtClean="0"/>
              <a:t>as</a:t>
            </a:r>
            <a:r>
              <a:rPr lang="de-CH" sz="1600" dirty="0" smtClean="0"/>
              <a:t> </a:t>
            </a:r>
            <a:r>
              <a:rPr lang="de-CH" sz="1600" dirty="0" err="1" smtClean="0"/>
              <a:t>well</a:t>
            </a:r>
            <a:r>
              <a:rPr lang="de-CH" sz="1600" dirty="0" smtClean="0"/>
              <a:t> </a:t>
            </a:r>
            <a:r>
              <a:rPr lang="de-CH" sz="1600" dirty="0" err="1" smtClean="0"/>
              <a:t>as</a:t>
            </a:r>
            <a:r>
              <a:rPr lang="de-CH" sz="1600" dirty="0" smtClean="0"/>
              <a:t> </a:t>
            </a:r>
            <a:r>
              <a:rPr lang="de-CH" sz="1600" dirty="0" err="1" smtClean="0"/>
              <a:t>for</a:t>
            </a:r>
            <a:r>
              <a:rPr lang="de-CH" sz="1600" dirty="0" smtClean="0"/>
              <a:t> </a:t>
            </a:r>
            <a:r>
              <a:rPr lang="de-CH" sz="1600" dirty="0" err="1" smtClean="0"/>
              <a:t>low</a:t>
            </a:r>
            <a:r>
              <a:rPr lang="de-CH" sz="1600" dirty="0" smtClean="0"/>
              <a:t> </a:t>
            </a:r>
            <a:r>
              <a:rPr lang="de-CH" sz="1600" dirty="0" err="1" smtClean="0"/>
              <a:t>performing</a:t>
            </a:r>
            <a:r>
              <a:rPr lang="de-CH" sz="1600" dirty="0" smtClean="0"/>
              <a:t> </a:t>
            </a:r>
            <a:r>
              <a:rPr lang="de-CH" sz="1600" dirty="0" err="1" smtClean="0"/>
              <a:t>heatsinks</a:t>
            </a:r>
            <a:endParaRPr lang="de-CH" sz="1600" dirty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de-CH" sz="1600" dirty="0" err="1"/>
              <a:t>Effect</a:t>
            </a:r>
            <a:r>
              <a:rPr lang="de-CH" sz="1600" dirty="0"/>
              <a:t> </a:t>
            </a:r>
            <a:r>
              <a:rPr lang="de-CH" sz="1600" dirty="0" err="1"/>
              <a:t>has</a:t>
            </a:r>
            <a:r>
              <a:rPr lang="de-CH" sz="1600" dirty="0"/>
              <a:t> </a:t>
            </a:r>
            <a:r>
              <a:rPr lang="de-CH" sz="1600" dirty="0" err="1"/>
              <a:t>to</a:t>
            </a:r>
            <a:r>
              <a:rPr lang="de-CH" sz="1600" dirty="0"/>
              <a:t> </a:t>
            </a:r>
            <a:r>
              <a:rPr lang="de-CH" sz="1600" dirty="0" err="1"/>
              <a:t>be</a:t>
            </a:r>
            <a:r>
              <a:rPr lang="de-CH" sz="1600" dirty="0"/>
              <a:t> </a:t>
            </a:r>
            <a:r>
              <a:rPr lang="de-CH" sz="1600" dirty="0" err="1"/>
              <a:t>taken</a:t>
            </a:r>
            <a:r>
              <a:rPr lang="de-CH" sz="1600" dirty="0"/>
              <a:t> </a:t>
            </a:r>
            <a:r>
              <a:rPr lang="de-CH" sz="1600" dirty="0" err="1"/>
              <a:t>into</a:t>
            </a:r>
            <a:r>
              <a:rPr lang="de-CH" sz="1600" dirty="0"/>
              <a:t> </a:t>
            </a:r>
            <a:r>
              <a:rPr lang="de-CH" sz="1600" dirty="0" err="1"/>
              <a:t>account</a:t>
            </a:r>
            <a:r>
              <a:rPr lang="de-CH" sz="1600" dirty="0"/>
              <a:t> </a:t>
            </a:r>
            <a:r>
              <a:rPr lang="de-CH" sz="1600" dirty="0" err="1"/>
              <a:t>if</a:t>
            </a:r>
            <a:r>
              <a:rPr lang="de-CH" sz="1600" dirty="0"/>
              <a:t> </a:t>
            </a:r>
            <a:r>
              <a:rPr lang="de-CH" sz="1600" dirty="0" err="1"/>
              <a:t>meaurements</a:t>
            </a:r>
            <a:r>
              <a:rPr lang="de-CH" sz="1600" dirty="0"/>
              <a:t> </a:t>
            </a:r>
            <a:r>
              <a:rPr lang="de-CH" sz="1600" dirty="0" err="1"/>
              <a:t>or</a:t>
            </a:r>
            <a:r>
              <a:rPr lang="de-CH" sz="1600" dirty="0"/>
              <a:t> </a:t>
            </a:r>
            <a:r>
              <a:rPr lang="de-CH" sz="1600" dirty="0" err="1"/>
              <a:t>simulations</a:t>
            </a:r>
            <a:r>
              <a:rPr lang="de-CH" sz="1600" dirty="0"/>
              <a:t> </a:t>
            </a:r>
            <a:r>
              <a:rPr lang="de-CH" sz="1600" dirty="0" err="1"/>
              <a:t>are</a:t>
            </a:r>
            <a:r>
              <a:rPr lang="de-CH" sz="1600" dirty="0"/>
              <a:t> </a:t>
            </a:r>
            <a:r>
              <a:rPr lang="de-CH" sz="1600" dirty="0" err="1"/>
              <a:t>used</a:t>
            </a:r>
            <a:r>
              <a:rPr lang="de-CH" sz="1600" dirty="0"/>
              <a:t> </a:t>
            </a:r>
            <a:r>
              <a:rPr lang="de-CH" sz="1600" dirty="0" err="1"/>
              <a:t>to</a:t>
            </a:r>
            <a:r>
              <a:rPr lang="de-CH" sz="1600" dirty="0"/>
              <a:t> </a:t>
            </a:r>
            <a:r>
              <a:rPr lang="de-CH" sz="1600" dirty="0" err="1"/>
              <a:t>derive</a:t>
            </a:r>
            <a:r>
              <a:rPr lang="de-CH" sz="1600" dirty="0"/>
              <a:t> </a:t>
            </a:r>
            <a:r>
              <a:rPr lang="de-CH" sz="1600" dirty="0" err="1"/>
              <a:t>the</a:t>
            </a:r>
            <a:r>
              <a:rPr lang="de-CH" sz="1600" dirty="0"/>
              <a:t> </a:t>
            </a:r>
            <a:r>
              <a:rPr lang="de-CH" sz="1600" dirty="0" err="1"/>
              <a:t>heat</a:t>
            </a:r>
            <a:r>
              <a:rPr lang="de-CH" sz="1600" dirty="0"/>
              <a:t> </a:t>
            </a:r>
            <a:r>
              <a:rPr lang="de-CH" sz="1600" dirty="0" err="1"/>
              <a:t>transfer</a:t>
            </a:r>
            <a:r>
              <a:rPr lang="de-CH" sz="1600" dirty="0"/>
              <a:t> </a:t>
            </a:r>
            <a:r>
              <a:rPr lang="de-CH" sz="1600" dirty="0" err="1"/>
              <a:t>coefficient</a:t>
            </a:r>
            <a:r>
              <a:rPr lang="de-CH" sz="1600" dirty="0"/>
              <a:t> </a:t>
            </a:r>
            <a:r>
              <a:rPr lang="de-CH" sz="1600" dirty="0" err="1"/>
              <a:t>of</a:t>
            </a:r>
            <a:r>
              <a:rPr lang="de-CH" sz="1600" dirty="0"/>
              <a:t> </a:t>
            </a:r>
            <a:r>
              <a:rPr lang="de-CH" sz="1600" dirty="0" err="1"/>
              <a:t>heat</a:t>
            </a:r>
            <a:r>
              <a:rPr lang="de-CH" sz="1600" dirty="0"/>
              <a:t> </a:t>
            </a:r>
            <a:r>
              <a:rPr lang="de-CH" sz="1600" dirty="0" err="1"/>
              <a:t>sinks</a:t>
            </a:r>
            <a:r>
              <a:rPr lang="de-CH" sz="1600" dirty="0"/>
              <a:t>, </a:t>
            </a:r>
            <a:r>
              <a:rPr lang="de-CH" sz="1600" dirty="0" err="1"/>
              <a:t>otherwise</a:t>
            </a:r>
            <a:r>
              <a:rPr lang="de-CH" sz="1600" dirty="0"/>
              <a:t> </a:t>
            </a:r>
            <a:r>
              <a:rPr lang="de-CH" sz="1600" dirty="0" err="1"/>
              <a:t>the</a:t>
            </a:r>
            <a:r>
              <a:rPr lang="de-CH" sz="1600" dirty="0"/>
              <a:t> </a:t>
            </a:r>
            <a:r>
              <a:rPr lang="de-CH" sz="1600" dirty="0" err="1"/>
              <a:t>performance</a:t>
            </a:r>
            <a:r>
              <a:rPr lang="de-CH" sz="1600" dirty="0"/>
              <a:t> </a:t>
            </a:r>
            <a:r>
              <a:rPr lang="de-CH" sz="1600" dirty="0" err="1"/>
              <a:t>of</a:t>
            </a:r>
            <a:r>
              <a:rPr lang="de-CH" sz="1600" dirty="0"/>
              <a:t> a </a:t>
            </a:r>
            <a:r>
              <a:rPr lang="de-CH" sz="1600" dirty="0" err="1"/>
              <a:t>heat</a:t>
            </a:r>
            <a:r>
              <a:rPr lang="de-CH" sz="1600" dirty="0"/>
              <a:t> sink will </a:t>
            </a:r>
            <a:r>
              <a:rPr lang="de-CH" sz="1600" dirty="0" err="1"/>
              <a:t>get</a:t>
            </a:r>
            <a:r>
              <a:rPr lang="de-CH" sz="1600" dirty="0"/>
              <a:t> </a:t>
            </a:r>
            <a:r>
              <a:rPr lang="de-CH" sz="1600" dirty="0" err="1"/>
              <a:t>overestimated</a:t>
            </a:r>
            <a:r>
              <a:rPr lang="de-CH" sz="1600" dirty="0"/>
              <a:t> </a:t>
            </a:r>
            <a:r>
              <a:rPr lang="de-CH" sz="1600" dirty="0" err="1"/>
              <a:t>for</a:t>
            </a:r>
            <a:r>
              <a:rPr lang="de-CH" sz="1600" dirty="0"/>
              <a:t> larger </a:t>
            </a:r>
            <a:r>
              <a:rPr lang="de-CH" sz="1600" dirty="0" err="1"/>
              <a:t>chips</a:t>
            </a:r>
            <a:r>
              <a:rPr lang="de-CH" sz="1600" dirty="0"/>
              <a:t> </a:t>
            </a:r>
            <a:r>
              <a:rPr lang="de-CH" sz="1600" dirty="0" err="1"/>
              <a:t>and</a:t>
            </a:r>
            <a:r>
              <a:rPr lang="de-CH" sz="1600" dirty="0"/>
              <a:t> </a:t>
            </a:r>
            <a:r>
              <a:rPr lang="de-CH" sz="1600" dirty="0" err="1"/>
              <a:t>denser</a:t>
            </a:r>
            <a:r>
              <a:rPr lang="de-CH" sz="1600" dirty="0"/>
              <a:t> </a:t>
            </a:r>
            <a:r>
              <a:rPr lang="de-CH" sz="1600" dirty="0" err="1"/>
              <a:t>arrangements</a:t>
            </a:r>
            <a:r>
              <a:rPr lang="de-CH" sz="1600" dirty="0"/>
              <a:t> </a:t>
            </a:r>
            <a:r>
              <a:rPr lang="de-CH" sz="1600" dirty="0" err="1"/>
              <a:t>of</a:t>
            </a:r>
            <a:r>
              <a:rPr lang="de-CH" sz="1600" dirty="0"/>
              <a:t> </a:t>
            </a:r>
            <a:r>
              <a:rPr lang="de-CH" sz="1600" dirty="0" err="1"/>
              <a:t>components</a:t>
            </a:r>
            <a:r>
              <a:rPr lang="de-CH" sz="1600" dirty="0"/>
              <a:t> on </a:t>
            </a:r>
            <a:r>
              <a:rPr lang="de-CH" sz="1600" dirty="0" err="1"/>
              <a:t>the</a:t>
            </a:r>
            <a:r>
              <a:rPr lang="de-CH" sz="1600" dirty="0"/>
              <a:t> </a:t>
            </a:r>
            <a:r>
              <a:rPr lang="de-CH" sz="1600" dirty="0" err="1"/>
              <a:t>heat</a:t>
            </a:r>
            <a:r>
              <a:rPr lang="de-CH" sz="1600" dirty="0"/>
              <a:t> sink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de-CH" sz="1600" dirty="0" err="1" smtClean="0"/>
              <a:t>If</a:t>
            </a:r>
            <a:r>
              <a:rPr lang="de-CH" sz="1600" dirty="0" smtClean="0"/>
              <a:t> </a:t>
            </a:r>
            <a:r>
              <a:rPr lang="de-CH" sz="1600" dirty="0" err="1" smtClean="0"/>
              <a:t>the</a:t>
            </a:r>
            <a:r>
              <a:rPr lang="de-CH" sz="1600" dirty="0" smtClean="0"/>
              <a:t> </a:t>
            </a:r>
            <a:r>
              <a:rPr lang="de-CH" sz="1600" dirty="0" err="1" smtClean="0"/>
              <a:t>heat</a:t>
            </a:r>
            <a:r>
              <a:rPr lang="de-CH" sz="1600" dirty="0" smtClean="0"/>
              <a:t> </a:t>
            </a:r>
            <a:r>
              <a:rPr lang="de-CH" sz="1600" dirty="0" err="1" smtClean="0"/>
              <a:t>transfer</a:t>
            </a:r>
            <a:r>
              <a:rPr lang="de-CH" sz="1600" dirty="0" smtClean="0"/>
              <a:t> </a:t>
            </a:r>
            <a:r>
              <a:rPr lang="de-CH" sz="1600" dirty="0" err="1" smtClean="0"/>
              <a:t>coefficient</a:t>
            </a:r>
            <a:r>
              <a:rPr lang="de-CH" sz="1600" dirty="0" smtClean="0"/>
              <a:t> </a:t>
            </a:r>
            <a:r>
              <a:rPr lang="de-CH" sz="1600" dirty="0" err="1" smtClean="0"/>
              <a:t>of</a:t>
            </a:r>
            <a:r>
              <a:rPr lang="de-CH" sz="1600" dirty="0" smtClean="0"/>
              <a:t> </a:t>
            </a:r>
            <a:r>
              <a:rPr lang="de-CH" sz="1600" dirty="0" err="1" smtClean="0"/>
              <a:t>the</a:t>
            </a:r>
            <a:r>
              <a:rPr lang="de-CH" sz="1600" dirty="0" smtClean="0"/>
              <a:t> sink </a:t>
            </a:r>
            <a:r>
              <a:rPr lang="de-CH" sz="1600" dirty="0" err="1" smtClean="0"/>
              <a:t>is</a:t>
            </a:r>
            <a:r>
              <a:rPr lang="de-CH" sz="1600" dirty="0" smtClean="0"/>
              <a:t> </a:t>
            </a:r>
            <a:r>
              <a:rPr lang="de-CH" sz="1600" dirty="0" err="1" smtClean="0"/>
              <a:t>known</a:t>
            </a:r>
            <a:r>
              <a:rPr lang="de-CH" sz="1600" dirty="0" smtClean="0"/>
              <a:t> (</a:t>
            </a:r>
            <a:r>
              <a:rPr lang="de-CH" sz="1600" dirty="0" err="1" smtClean="0"/>
              <a:t>with</a:t>
            </a:r>
            <a:r>
              <a:rPr lang="de-CH" sz="1600" dirty="0" smtClean="0"/>
              <a:t> </a:t>
            </a:r>
            <a:r>
              <a:rPr lang="de-CH" sz="1600" dirty="0" err="1" smtClean="0"/>
              <a:t>regards</a:t>
            </a:r>
            <a:r>
              <a:rPr lang="de-CH" sz="1600" dirty="0" smtClean="0"/>
              <a:t> </a:t>
            </a:r>
            <a:r>
              <a:rPr lang="de-CH" sz="1600" dirty="0" err="1" smtClean="0"/>
              <a:t>to</a:t>
            </a:r>
            <a:r>
              <a:rPr lang="de-CH" sz="1600" dirty="0" smtClean="0"/>
              <a:t> an infinite </a:t>
            </a:r>
            <a:r>
              <a:rPr lang="de-CH" sz="1600" dirty="0" err="1" smtClean="0"/>
              <a:t>area</a:t>
            </a:r>
            <a:r>
              <a:rPr lang="de-CH" sz="1600" dirty="0" smtClean="0"/>
              <a:t>), </a:t>
            </a:r>
            <a:r>
              <a:rPr lang="de-CH" sz="1600" dirty="0" err="1" smtClean="0"/>
              <a:t>neglecting</a:t>
            </a:r>
            <a:r>
              <a:rPr lang="de-CH" sz="1600" dirty="0" smtClean="0"/>
              <a:t> </a:t>
            </a:r>
            <a:r>
              <a:rPr lang="de-CH" sz="1600" dirty="0" err="1" smtClean="0"/>
              <a:t>the</a:t>
            </a:r>
            <a:r>
              <a:rPr lang="de-CH" sz="1600" dirty="0" smtClean="0"/>
              <a:t> </a:t>
            </a:r>
            <a:r>
              <a:rPr lang="de-CH" sz="1600" dirty="0" err="1" smtClean="0"/>
              <a:t>heat</a:t>
            </a:r>
            <a:r>
              <a:rPr lang="de-CH" sz="1600" dirty="0" smtClean="0"/>
              <a:t> </a:t>
            </a:r>
            <a:r>
              <a:rPr lang="de-CH" sz="1600" dirty="0" err="1" smtClean="0"/>
              <a:t>spreading</a:t>
            </a:r>
            <a:r>
              <a:rPr lang="de-CH" sz="1600" dirty="0" smtClean="0"/>
              <a:t> </a:t>
            </a:r>
            <a:r>
              <a:rPr lang="de-CH" sz="1600" dirty="0" err="1" smtClean="0"/>
              <a:t>influence</a:t>
            </a:r>
            <a:r>
              <a:rPr lang="de-CH" sz="1600" dirty="0" smtClean="0"/>
              <a:t> in </a:t>
            </a:r>
            <a:r>
              <a:rPr lang="de-CH" sz="1600" dirty="0" err="1" smtClean="0"/>
              <a:t>calculations</a:t>
            </a:r>
            <a:r>
              <a:rPr lang="de-CH" sz="1600" dirty="0" smtClean="0"/>
              <a:t> </a:t>
            </a:r>
            <a:r>
              <a:rPr lang="de-CH" sz="1600" dirty="0" err="1" smtClean="0"/>
              <a:t>can</a:t>
            </a:r>
            <a:r>
              <a:rPr lang="de-CH" sz="1600" dirty="0" smtClean="0"/>
              <a:t> </a:t>
            </a:r>
            <a:r>
              <a:rPr lang="de-CH" sz="1600" dirty="0" err="1" smtClean="0"/>
              <a:t>lead</a:t>
            </a:r>
            <a:r>
              <a:rPr lang="de-CH" sz="1600" dirty="0" smtClean="0"/>
              <a:t> </a:t>
            </a:r>
            <a:r>
              <a:rPr lang="de-CH" sz="1600" dirty="0" err="1" smtClean="0"/>
              <a:t>to</a:t>
            </a:r>
            <a:r>
              <a:rPr lang="de-CH" sz="1600" dirty="0" smtClean="0"/>
              <a:t> a </a:t>
            </a:r>
            <a:r>
              <a:rPr lang="de-CH" sz="1600" dirty="0" err="1" smtClean="0"/>
              <a:t>significant</a:t>
            </a:r>
            <a:r>
              <a:rPr lang="de-CH" sz="1600" dirty="0" smtClean="0"/>
              <a:t> </a:t>
            </a:r>
            <a:r>
              <a:rPr lang="de-CH" sz="1600" dirty="0" err="1" smtClean="0"/>
              <a:t>overestimation</a:t>
            </a:r>
            <a:r>
              <a:rPr lang="de-CH" sz="1600" dirty="0" smtClean="0"/>
              <a:t> </a:t>
            </a:r>
            <a:r>
              <a:rPr lang="de-CH" sz="1600" dirty="0" err="1" smtClean="0"/>
              <a:t>of</a:t>
            </a:r>
            <a:r>
              <a:rPr lang="de-CH" sz="1600" dirty="0" smtClean="0"/>
              <a:t> </a:t>
            </a:r>
            <a:r>
              <a:rPr lang="de-CH" sz="1600" dirty="0" err="1" smtClean="0"/>
              <a:t>the</a:t>
            </a:r>
            <a:r>
              <a:rPr lang="de-CH" sz="1600" dirty="0" smtClean="0"/>
              <a:t> </a:t>
            </a:r>
            <a:r>
              <a:rPr lang="de-CH" sz="1600" dirty="0" err="1" smtClean="0"/>
              <a:t>junction</a:t>
            </a:r>
            <a:r>
              <a:rPr lang="de-CH" sz="1600" dirty="0" smtClean="0"/>
              <a:t> </a:t>
            </a:r>
            <a:r>
              <a:rPr lang="de-CH" sz="1600" dirty="0" err="1" smtClean="0"/>
              <a:t>temperature</a:t>
            </a:r>
            <a:endParaRPr lang="de-CH" sz="1600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endParaRPr lang="de-CH" sz="1600" dirty="0"/>
          </a:p>
        </p:txBody>
      </p:sp>
    </p:spTree>
    <p:extLst>
      <p:ext uri="{BB962C8B-B14F-4D97-AF65-F5344CB8AC3E}">
        <p14:creationId xmlns:p14="http://schemas.microsoft.com/office/powerpoint/2010/main" val="3224204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L_010_Vorlage_PP_brusa">
  <a:themeElements>
    <a:clrScheme name="BRUSA">
      <a:dk1>
        <a:srgbClr val="000000"/>
      </a:dk1>
      <a:lt1>
        <a:srgbClr val="FFFFFF"/>
      </a:lt1>
      <a:dk2>
        <a:srgbClr val="ED4747"/>
      </a:dk2>
      <a:lt2>
        <a:srgbClr val="EBEBEB"/>
      </a:lt2>
      <a:accent1>
        <a:srgbClr val="BE0000"/>
      </a:accent1>
      <a:accent2>
        <a:srgbClr val="144BBE"/>
      </a:accent2>
      <a:accent3>
        <a:srgbClr val="00AA14"/>
      </a:accent3>
      <a:accent4>
        <a:srgbClr val="E19100"/>
      </a:accent4>
      <a:accent5>
        <a:srgbClr val="F0DC00"/>
      </a:accent5>
      <a:accent6>
        <a:srgbClr val="69467D"/>
      </a:accent6>
      <a:hlink>
        <a:srgbClr val="BE0000"/>
      </a:hlink>
      <a:folHlink>
        <a:srgbClr val="ED4747"/>
      </a:folHlink>
    </a:clrScheme>
    <a:fontScheme name="BRUS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 | Inhalt 5-spaltig">
  <a:themeElements>
    <a:clrScheme name="BRUSA">
      <a:dk1>
        <a:srgbClr val="000000"/>
      </a:dk1>
      <a:lt1>
        <a:srgbClr val="FFFFFF"/>
      </a:lt1>
      <a:dk2>
        <a:srgbClr val="ED4747"/>
      </a:dk2>
      <a:lt2>
        <a:srgbClr val="EBEBEB"/>
      </a:lt2>
      <a:accent1>
        <a:srgbClr val="BE0000"/>
      </a:accent1>
      <a:accent2>
        <a:srgbClr val="144BBE"/>
      </a:accent2>
      <a:accent3>
        <a:srgbClr val="00AA14"/>
      </a:accent3>
      <a:accent4>
        <a:srgbClr val="E19100"/>
      </a:accent4>
      <a:accent5>
        <a:srgbClr val="F0DC00"/>
      </a:accent5>
      <a:accent6>
        <a:srgbClr val="69467D"/>
      </a:accent6>
      <a:hlink>
        <a:srgbClr val="BE0000"/>
      </a:hlink>
      <a:folHlink>
        <a:srgbClr val="ED4747"/>
      </a:folHlink>
    </a:clrScheme>
    <a:fontScheme name="BRUS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 | Weitere Layouts">
  <a:themeElements>
    <a:clrScheme name="BRUSA">
      <a:dk1>
        <a:srgbClr val="000000"/>
      </a:dk1>
      <a:lt1>
        <a:srgbClr val="FFFFFF"/>
      </a:lt1>
      <a:dk2>
        <a:srgbClr val="5A5A5A"/>
      </a:dk2>
      <a:lt2>
        <a:srgbClr val="EBEBEB"/>
      </a:lt2>
      <a:accent1>
        <a:srgbClr val="BE0000"/>
      </a:accent1>
      <a:accent2>
        <a:srgbClr val="144BBE"/>
      </a:accent2>
      <a:accent3>
        <a:srgbClr val="00AA14"/>
      </a:accent3>
      <a:accent4>
        <a:srgbClr val="E19100"/>
      </a:accent4>
      <a:accent5>
        <a:srgbClr val="F0DC00"/>
      </a:accent5>
      <a:accent6>
        <a:srgbClr val="ED4747"/>
      </a:accent6>
      <a:hlink>
        <a:srgbClr val="BE0000"/>
      </a:hlink>
      <a:folHlink>
        <a:srgbClr val="ED4747"/>
      </a:folHlink>
    </a:clrScheme>
    <a:fontScheme name="BRUS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 | Titel- und Abschlussfolie">
  <a:themeElements>
    <a:clrScheme name="BRUSA">
      <a:dk1>
        <a:srgbClr val="000000"/>
      </a:dk1>
      <a:lt1>
        <a:srgbClr val="FFFFFF"/>
      </a:lt1>
      <a:dk2>
        <a:srgbClr val="ED4747"/>
      </a:dk2>
      <a:lt2>
        <a:srgbClr val="EBEBEB"/>
      </a:lt2>
      <a:accent1>
        <a:srgbClr val="BE0000"/>
      </a:accent1>
      <a:accent2>
        <a:srgbClr val="144BBE"/>
      </a:accent2>
      <a:accent3>
        <a:srgbClr val="00AA14"/>
      </a:accent3>
      <a:accent4>
        <a:srgbClr val="E19100"/>
      </a:accent4>
      <a:accent5>
        <a:srgbClr val="F0DC00"/>
      </a:accent5>
      <a:accent6>
        <a:srgbClr val="69467D"/>
      </a:accent6>
      <a:hlink>
        <a:srgbClr val="BE0000"/>
      </a:hlink>
      <a:folHlink>
        <a:srgbClr val="ED4747"/>
      </a:folHlink>
    </a:clrScheme>
    <a:fontScheme name="BRUS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VL_010_Vorlage_PP_brusa">
  <a:themeElements>
    <a:clrScheme name="BRUSA">
      <a:dk1>
        <a:srgbClr val="000000"/>
      </a:dk1>
      <a:lt1>
        <a:srgbClr val="FFFFFF"/>
      </a:lt1>
      <a:dk2>
        <a:srgbClr val="ED4747"/>
      </a:dk2>
      <a:lt2>
        <a:srgbClr val="EBEBEB"/>
      </a:lt2>
      <a:accent1>
        <a:srgbClr val="BE0000"/>
      </a:accent1>
      <a:accent2>
        <a:srgbClr val="144BBE"/>
      </a:accent2>
      <a:accent3>
        <a:srgbClr val="00AA14"/>
      </a:accent3>
      <a:accent4>
        <a:srgbClr val="E19100"/>
      </a:accent4>
      <a:accent5>
        <a:srgbClr val="F0DC00"/>
      </a:accent5>
      <a:accent6>
        <a:srgbClr val="69467D"/>
      </a:accent6>
      <a:hlink>
        <a:srgbClr val="BE0000"/>
      </a:hlink>
      <a:folHlink>
        <a:srgbClr val="ED4747"/>
      </a:folHlink>
    </a:clrScheme>
    <a:fontScheme name="BRUS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VL_010_Vorlage_PP_brusa</Template>
  <TotalTime>0</TotalTime>
  <Words>573</Words>
  <Application>Microsoft Office PowerPoint</Application>
  <PresentationFormat>Bildschirmpräsentation (4:3)</PresentationFormat>
  <Paragraphs>99</Paragraphs>
  <Slides>9</Slides>
  <Notes>1</Notes>
  <HiddenSlides>0</HiddenSlides>
  <MMClips>0</MMClips>
  <ScaleCrop>false</ScaleCrop>
  <HeadingPairs>
    <vt:vector size="4" baseType="variant">
      <vt:variant>
        <vt:lpstr>Design</vt:lpstr>
      </vt:variant>
      <vt:variant>
        <vt:i4>5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VL_010_Vorlage_PP_brusa</vt:lpstr>
      <vt:lpstr>2 | Inhalt 5-spaltig</vt:lpstr>
      <vt:lpstr>3 | Weitere Layouts</vt:lpstr>
      <vt:lpstr>4 | Titel- und Abschlussfolie</vt:lpstr>
      <vt:lpstr>1_VL_010_Vorlage_PP_brusa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Brusa Elektronik AG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Fabio Mani</dc:creator>
  <cp:lastModifiedBy>Ueli Wendelspiess</cp:lastModifiedBy>
  <cp:revision>295</cp:revision>
  <cp:lastPrinted>2016-05-30T10:18:49Z</cp:lastPrinted>
  <dcterms:created xsi:type="dcterms:W3CDTF">2017-03-07T14:58:51Z</dcterms:created>
  <dcterms:modified xsi:type="dcterms:W3CDTF">2017-11-13T13:45:51Z</dcterms:modified>
</cp:coreProperties>
</file>